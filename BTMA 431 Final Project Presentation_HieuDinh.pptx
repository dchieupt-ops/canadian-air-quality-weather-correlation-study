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6"/>
  </p:notesMasterIdLst>
  <p:sldIdLst>
    <p:sldId id="256" r:id="rId2"/>
    <p:sldId id="280" r:id="rId3"/>
    <p:sldId id="259" r:id="rId4"/>
    <p:sldId id="262" r:id="rId5"/>
    <p:sldId id="270" r:id="rId6"/>
    <p:sldId id="261" r:id="rId7"/>
    <p:sldId id="281" r:id="rId8"/>
    <p:sldId id="265" r:id="rId9"/>
    <p:sldId id="263" r:id="rId10"/>
    <p:sldId id="284" r:id="rId11"/>
    <p:sldId id="285" r:id="rId12"/>
    <p:sldId id="267" r:id="rId13"/>
    <p:sldId id="288" r:id="rId14"/>
    <p:sldId id="300" r:id="rId15"/>
    <p:sldId id="258" r:id="rId16"/>
    <p:sldId id="287" r:id="rId17"/>
    <p:sldId id="289" r:id="rId18"/>
    <p:sldId id="290" r:id="rId19"/>
    <p:sldId id="293" r:id="rId20"/>
    <p:sldId id="268" r:id="rId21"/>
    <p:sldId id="301" r:id="rId22"/>
    <p:sldId id="291" r:id="rId23"/>
    <p:sldId id="292" r:id="rId24"/>
    <p:sldId id="294" r:id="rId25"/>
    <p:sldId id="297" r:id="rId26"/>
    <p:sldId id="275" r:id="rId27"/>
    <p:sldId id="298" r:id="rId28"/>
    <p:sldId id="299" r:id="rId29"/>
    <p:sldId id="302" r:id="rId30"/>
    <p:sldId id="303" r:id="rId31"/>
    <p:sldId id="304" r:id="rId32"/>
    <p:sldId id="305" r:id="rId33"/>
    <p:sldId id="271" r:id="rId34"/>
    <p:sldId id="279" r:id="rId35"/>
  </p:sldIdLst>
  <p:sldSz cx="18288000" cy="10287000"/>
  <p:notesSz cx="6858000" cy="9144000"/>
  <p:embeddedFontLst>
    <p:embeddedFont>
      <p:font typeface="Source Sans Pro" panose="020B0503030403020204" pitchFamily="34" charset="0"/>
      <p:regular r:id="rId37"/>
      <p:bold r:id="rId38"/>
      <p:italic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7F4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FC2D61F-A503-4127-A33E-5B924C992E9B}">
  <a:tblStyle styleId="{5FC2D61F-A503-4127-A33E-5B924C992E9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52" autoAdjust="0"/>
    <p:restoredTop sz="94660"/>
  </p:normalViewPr>
  <p:slideViewPr>
    <p:cSldViewPr snapToGrid="0">
      <p:cViewPr varScale="1">
        <p:scale>
          <a:sx n="52" d="100"/>
          <a:sy n="52" d="100"/>
        </p:scale>
        <p:origin x="874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3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1.fntdata"/><Relationship Id="rId40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2189a503d4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g2189a503d4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8">
          <a:extLst>
            <a:ext uri="{FF2B5EF4-FFF2-40B4-BE49-F238E27FC236}">
              <a16:creationId xmlns:a16="http://schemas.microsoft.com/office/drawing/2014/main" id="{66AEDDDA-314F-59A7-FCDC-CF023C08A5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15:notes">
            <a:extLst>
              <a:ext uri="{FF2B5EF4-FFF2-40B4-BE49-F238E27FC236}">
                <a16:creationId xmlns:a16="http://schemas.microsoft.com/office/drawing/2014/main" id="{515911F7-2635-4B4E-DB81-0225374CDD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70" name="Google Shape;470;p15:notes">
            <a:extLst>
              <a:ext uri="{FF2B5EF4-FFF2-40B4-BE49-F238E27FC236}">
                <a16:creationId xmlns:a16="http://schemas.microsoft.com/office/drawing/2014/main" id="{9519B70B-F6C1-FFDD-064E-CDBF448904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846279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189a503d4b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6" name="Google Shape;186;g2189a503d4b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0" name="Google Shape;47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>
          <a:extLst>
            <a:ext uri="{FF2B5EF4-FFF2-40B4-BE49-F238E27FC236}">
              <a16:creationId xmlns:a16="http://schemas.microsoft.com/office/drawing/2014/main" id="{0C7E34DB-5B20-F55E-ECA0-4660CA984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6:notes">
            <a:extLst>
              <a:ext uri="{FF2B5EF4-FFF2-40B4-BE49-F238E27FC236}">
                <a16:creationId xmlns:a16="http://schemas.microsoft.com/office/drawing/2014/main" id="{04326973-69B3-BF7D-9D83-01BA7B4140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5" name="Google Shape;235;p6:notes">
            <a:extLst>
              <a:ext uri="{FF2B5EF4-FFF2-40B4-BE49-F238E27FC236}">
                <a16:creationId xmlns:a16="http://schemas.microsoft.com/office/drawing/2014/main" id="{A4A566C0-A972-4B2A-2D8E-2E52049BCDB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047651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2189a503d4b_0_1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g2189a503d4b_0_1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>
          <a:extLst>
            <a:ext uri="{FF2B5EF4-FFF2-40B4-BE49-F238E27FC236}">
              <a16:creationId xmlns:a16="http://schemas.microsoft.com/office/drawing/2014/main" id="{AF7658A1-6CC0-C355-0906-188625F6E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5:notes">
            <a:extLst>
              <a:ext uri="{FF2B5EF4-FFF2-40B4-BE49-F238E27FC236}">
                <a16:creationId xmlns:a16="http://schemas.microsoft.com/office/drawing/2014/main" id="{F9014558-7166-FCC6-D6F2-30854542DD3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5:notes">
            <a:extLst>
              <a:ext uri="{FF2B5EF4-FFF2-40B4-BE49-F238E27FC236}">
                <a16:creationId xmlns:a16="http://schemas.microsoft.com/office/drawing/2014/main" id="{A91E14C1-6063-E77C-1E65-DDCFDB6F75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260439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>
          <a:extLst>
            <a:ext uri="{FF2B5EF4-FFF2-40B4-BE49-F238E27FC236}">
              <a16:creationId xmlns:a16="http://schemas.microsoft.com/office/drawing/2014/main" id="{7379AF13-47B7-1EDA-0DAC-9110BEF26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5:notes">
            <a:extLst>
              <a:ext uri="{FF2B5EF4-FFF2-40B4-BE49-F238E27FC236}">
                <a16:creationId xmlns:a16="http://schemas.microsoft.com/office/drawing/2014/main" id="{FCE8450A-7EB5-0154-F714-B7C779F5BB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5:notes">
            <a:extLst>
              <a:ext uri="{FF2B5EF4-FFF2-40B4-BE49-F238E27FC236}">
                <a16:creationId xmlns:a16="http://schemas.microsoft.com/office/drawing/2014/main" id="{8F7DD8BB-3A78-92AF-72B1-47A67A12AA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778125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" name="Google Shape;40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>
          <a:extLst>
            <a:ext uri="{FF2B5EF4-FFF2-40B4-BE49-F238E27FC236}">
              <a16:creationId xmlns:a16="http://schemas.microsoft.com/office/drawing/2014/main" id="{C9D90BA1-6966-4378-3233-AE6CCC4225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:notes">
            <a:extLst>
              <a:ext uri="{FF2B5EF4-FFF2-40B4-BE49-F238E27FC236}">
                <a16:creationId xmlns:a16="http://schemas.microsoft.com/office/drawing/2014/main" id="{5C544A39-D70A-42C3-7777-5E7D3A8DC7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3:notes">
            <a:extLst>
              <a:ext uri="{FF2B5EF4-FFF2-40B4-BE49-F238E27FC236}">
                <a16:creationId xmlns:a16="http://schemas.microsoft.com/office/drawing/2014/main" id="{A3A89367-49C3-8688-3669-86E50E5DDB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7835785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>
          <a:extLst>
            <a:ext uri="{FF2B5EF4-FFF2-40B4-BE49-F238E27FC236}">
              <a16:creationId xmlns:a16="http://schemas.microsoft.com/office/drawing/2014/main" id="{041ADF96-97A7-EE07-3BD1-8F4193A5D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:notes">
            <a:extLst>
              <a:ext uri="{FF2B5EF4-FFF2-40B4-BE49-F238E27FC236}">
                <a16:creationId xmlns:a16="http://schemas.microsoft.com/office/drawing/2014/main" id="{35C9D4D6-5A75-7999-F69A-E55C6096E38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3:notes">
            <a:extLst>
              <a:ext uri="{FF2B5EF4-FFF2-40B4-BE49-F238E27FC236}">
                <a16:creationId xmlns:a16="http://schemas.microsoft.com/office/drawing/2014/main" id="{744AE93C-6CF8-C92A-D384-96E6C17345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4886533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>
          <a:extLst>
            <a:ext uri="{FF2B5EF4-FFF2-40B4-BE49-F238E27FC236}">
              <a16:creationId xmlns:a16="http://schemas.microsoft.com/office/drawing/2014/main" id="{CC8F2C5C-747C-F3AE-3F39-ACEFAE6A1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:notes">
            <a:extLst>
              <a:ext uri="{FF2B5EF4-FFF2-40B4-BE49-F238E27FC236}">
                <a16:creationId xmlns:a16="http://schemas.microsoft.com/office/drawing/2014/main" id="{6C2015F0-C31A-67E6-7575-B6B73702CA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3:notes">
            <a:extLst>
              <a:ext uri="{FF2B5EF4-FFF2-40B4-BE49-F238E27FC236}">
                <a16:creationId xmlns:a16="http://schemas.microsoft.com/office/drawing/2014/main" id="{D27F5895-CC5E-0EB1-133D-2A9373A834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1679005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>
          <a:extLst>
            <a:ext uri="{FF2B5EF4-FFF2-40B4-BE49-F238E27FC236}">
              <a16:creationId xmlns:a16="http://schemas.microsoft.com/office/drawing/2014/main" id="{B5F6B7AC-17B1-ED1F-17CE-4FE06FFEB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:notes">
            <a:extLst>
              <a:ext uri="{FF2B5EF4-FFF2-40B4-BE49-F238E27FC236}">
                <a16:creationId xmlns:a16="http://schemas.microsoft.com/office/drawing/2014/main" id="{1C64F527-1352-7F36-E15E-01C7FA2F8B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3:notes">
            <a:extLst>
              <a:ext uri="{FF2B5EF4-FFF2-40B4-BE49-F238E27FC236}">
                <a16:creationId xmlns:a16="http://schemas.microsoft.com/office/drawing/2014/main" id="{F73C27C4-E753-6CF9-8298-0C4D882507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6826231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>
          <a:extLst>
            <a:ext uri="{FF2B5EF4-FFF2-40B4-BE49-F238E27FC236}">
              <a16:creationId xmlns:a16="http://schemas.microsoft.com/office/drawing/2014/main" id="{0C24B38E-F597-F21A-1554-904606185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:notes">
            <a:extLst>
              <a:ext uri="{FF2B5EF4-FFF2-40B4-BE49-F238E27FC236}">
                <a16:creationId xmlns:a16="http://schemas.microsoft.com/office/drawing/2014/main" id="{55604FAD-E1F8-36F7-3663-3E5FA0FA2E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3:notes">
            <a:extLst>
              <a:ext uri="{FF2B5EF4-FFF2-40B4-BE49-F238E27FC236}">
                <a16:creationId xmlns:a16="http://schemas.microsoft.com/office/drawing/2014/main" id="{640E7546-757E-10DF-6F2B-C68ED21978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463736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8">
          <a:extLst>
            <a:ext uri="{FF2B5EF4-FFF2-40B4-BE49-F238E27FC236}">
              <a16:creationId xmlns:a16="http://schemas.microsoft.com/office/drawing/2014/main" id="{5A45268E-4C13-9BAA-58A5-AD3F88A17F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12:notes">
            <a:extLst>
              <a:ext uri="{FF2B5EF4-FFF2-40B4-BE49-F238E27FC236}">
                <a16:creationId xmlns:a16="http://schemas.microsoft.com/office/drawing/2014/main" id="{7EB75385-F565-65AA-2762-97AB160454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" name="Google Shape;400;p12:notes">
            <a:extLst>
              <a:ext uri="{FF2B5EF4-FFF2-40B4-BE49-F238E27FC236}">
                <a16:creationId xmlns:a16="http://schemas.microsoft.com/office/drawing/2014/main" id="{DE578C96-5AB9-776C-15DB-1EBB43FDBC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5368025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5" name="Google Shape;41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3">
          <a:extLst>
            <a:ext uri="{FF2B5EF4-FFF2-40B4-BE49-F238E27FC236}">
              <a16:creationId xmlns:a16="http://schemas.microsoft.com/office/drawing/2014/main" id="{9B15317E-568C-6414-C20B-58ABC4C0F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13:notes">
            <a:extLst>
              <a:ext uri="{FF2B5EF4-FFF2-40B4-BE49-F238E27FC236}">
                <a16:creationId xmlns:a16="http://schemas.microsoft.com/office/drawing/2014/main" id="{83462D60-8893-823C-DDFD-8ED4CDD107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5" name="Google Shape;415;p13:notes">
            <a:extLst>
              <a:ext uri="{FF2B5EF4-FFF2-40B4-BE49-F238E27FC236}">
                <a16:creationId xmlns:a16="http://schemas.microsoft.com/office/drawing/2014/main" id="{A4F454E1-046C-223C-9F11-2F5773C4C2F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5925201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3">
          <a:extLst>
            <a:ext uri="{FF2B5EF4-FFF2-40B4-BE49-F238E27FC236}">
              <a16:creationId xmlns:a16="http://schemas.microsoft.com/office/drawing/2014/main" id="{609DB449-D90E-0275-094F-91602D66B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13:notes">
            <a:extLst>
              <a:ext uri="{FF2B5EF4-FFF2-40B4-BE49-F238E27FC236}">
                <a16:creationId xmlns:a16="http://schemas.microsoft.com/office/drawing/2014/main" id="{56AC4A92-47FF-B154-200B-AA1E0155AB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5" name="Google Shape;415;p13:notes">
            <a:extLst>
              <a:ext uri="{FF2B5EF4-FFF2-40B4-BE49-F238E27FC236}">
                <a16:creationId xmlns:a16="http://schemas.microsoft.com/office/drawing/2014/main" id="{979F8554-B968-3E2D-875C-F767B15AFA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7106297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3">
          <a:extLst>
            <a:ext uri="{FF2B5EF4-FFF2-40B4-BE49-F238E27FC236}">
              <a16:creationId xmlns:a16="http://schemas.microsoft.com/office/drawing/2014/main" id="{0D38F640-A01A-D166-49ED-2A62FBCD0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13:notes">
            <a:extLst>
              <a:ext uri="{FF2B5EF4-FFF2-40B4-BE49-F238E27FC236}">
                <a16:creationId xmlns:a16="http://schemas.microsoft.com/office/drawing/2014/main" id="{AC534EB1-9D70-5B0F-8231-585FA65C92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5" name="Google Shape;415;p13:notes">
            <a:extLst>
              <a:ext uri="{FF2B5EF4-FFF2-40B4-BE49-F238E27FC236}">
                <a16:creationId xmlns:a16="http://schemas.microsoft.com/office/drawing/2014/main" id="{7C3327D3-32EB-A91A-DA98-BB03F009E2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9594736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8">
          <a:extLst>
            <a:ext uri="{FF2B5EF4-FFF2-40B4-BE49-F238E27FC236}">
              <a16:creationId xmlns:a16="http://schemas.microsoft.com/office/drawing/2014/main" id="{F8EAFD48-1677-907C-94F4-3BE36FF49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12:notes">
            <a:extLst>
              <a:ext uri="{FF2B5EF4-FFF2-40B4-BE49-F238E27FC236}">
                <a16:creationId xmlns:a16="http://schemas.microsoft.com/office/drawing/2014/main" id="{77C29208-EBBC-EA8D-9A3D-814F92422E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" name="Google Shape;400;p12:notes">
            <a:extLst>
              <a:ext uri="{FF2B5EF4-FFF2-40B4-BE49-F238E27FC236}">
                <a16:creationId xmlns:a16="http://schemas.microsoft.com/office/drawing/2014/main" id="{8B588456-120F-836C-8E5D-9FB656C5FD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5483260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4">
          <a:extLst>
            <a:ext uri="{FF2B5EF4-FFF2-40B4-BE49-F238E27FC236}">
              <a16:creationId xmlns:a16="http://schemas.microsoft.com/office/drawing/2014/main" id="{311F69DB-DBF8-569F-8068-0D87AEE6A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20:notes">
            <a:extLst>
              <a:ext uri="{FF2B5EF4-FFF2-40B4-BE49-F238E27FC236}">
                <a16:creationId xmlns:a16="http://schemas.microsoft.com/office/drawing/2014/main" id="{B4C6BCF8-662C-DF07-A0C5-CDC28CD3AC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6" name="Google Shape;626;p20:notes">
            <a:extLst>
              <a:ext uri="{FF2B5EF4-FFF2-40B4-BE49-F238E27FC236}">
                <a16:creationId xmlns:a16="http://schemas.microsoft.com/office/drawing/2014/main" id="{03C928F4-4DD5-65D7-C0EB-4D25322D99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8619979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6" name="Google Shape;626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4">
          <a:extLst>
            <a:ext uri="{FF2B5EF4-FFF2-40B4-BE49-F238E27FC236}">
              <a16:creationId xmlns:a16="http://schemas.microsoft.com/office/drawing/2014/main" id="{C889BFCC-10D0-010B-CC2F-0B9DF5BDF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20:notes">
            <a:extLst>
              <a:ext uri="{FF2B5EF4-FFF2-40B4-BE49-F238E27FC236}">
                <a16:creationId xmlns:a16="http://schemas.microsoft.com/office/drawing/2014/main" id="{BAE68EED-A92E-97DF-3023-0B3E0005931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6" name="Google Shape;626;p20:notes">
            <a:extLst>
              <a:ext uri="{FF2B5EF4-FFF2-40B4-BE49-F238E27FC236}">
                <a16:creationId xmlns:a16="http://schemas.microsoft.com/office/drawing/2014/main" id="{9E6AB6CE-94C2-CB9B-DBA8-78EA7D9EBB8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8582670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4">
          <a:extLst>
            <a:ext uri="{FF2B5EF4-FFF2-40B4-BE49-F238E27FC236}">
              <a16:creationId xmlns:a16="http://schemas.microsoft.com/office/drawing/2014/main" id="{7307EBF8-0F8A-5625-7673-AF5E538E35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20:notes">
            <a:extLst>
              <a:ext uri="{FF2B5EF4-FFF2-40B4-BE49-F238E27FC236}">
                <a16:creationId xmlns:a16="http://schemas.microsoft.com/office/drawing/2014/main" id="{77AD8ADD-81E9-CAC9-3CB2-8F663C49D8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6" name="Google Shape;626;p20:notes">
            <a:extLst>
              <a:ext uri="{FF2B5EF4-FFF2-40B4-BE49-F238E27FC236}">
                <a16:creationId xmlns:a16="http://schemas.microsoft.com/office/drawing/2014/main" id="{DC36F5C0-E587-873A-0D50-EC7A56E836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5180125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4">
          <a:extLst>
            <a:ext uri="{FF2B5EF4-FFF2-40B4-BE49-F238E27FC236}">
              <a16:creationId xmlns:a16="http://schemas.microsoft.com/office/drawing/2014/main" id="{C105FF01-A71B-4DA8-1398-802175F4EB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20:notes">
            <a:extLst>
              <a:ext uri="{FF2B5EF4-FFF2-40B4-BE49-F238E27FC236}">
                <a16:creationId xmlns:a16="http://schemas.microsoft.com/office/drawing/2014/main" id="{E5BB7DC2-D33D-46C2-3F76-6F6D0CDBFDF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6" name="Google Shape;626;p20:notes">
            <a:extLst>
              <a:ext uri="{FF2B5EF4-FFF2-40B4-BE49-F238E27FC236}">
                <a16:creationId xmlns:a16="http://schemas.microsoft.com/office/drawing/2014/main" id="{D7616E43-45A5-4FBF-BF9B-CFFC86F395E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5676706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>
          <a:extLst>
            <a:ext uri="{FF2B5EF4-FFF2-40B4-BE49-F238E27FC236}">
              <a16:creationId xmlns:a16="http://schemas.microsoft.com/office/drawing/2014/main" id="{5001D80D-C851-324C-849C-F9AA38AEB2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7:notes">
            <a:extLst>
              <a:ext uri="{FF2B5EF4-FFF2-40B4-BE49-F238E27FC236}">
                <a16:creationId xmlns:a16="http://schemas.microsoft.com/office/drawing/2014/main" id="{90D68036-9602-D7AE-72D8-22366E148A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7:notes">
            <a:extLst>
              <a:ext uri="{FF2B5EF4-FFF2-40B4-BE49-F238E27FC236}">
                <a16:creationId xmlns:a16="http://schemas.microsoft.com/office/drawing/2014/main" id="{0A5467D5-CCFA-352B-0290-8AE062ACEA0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2722591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>
          <a:extLst>
            <a:ext uri="{FF2B5EF4-FFF2-40B4-BE49-F238E27FC236}">
              <a16:creationId xmlns:a16="http://schemas.microsoft.com/office/drawing/2014/main" id="{28DB53BE-4090-4033-BE72-1C4DAD240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7:notes">
            <a:extLst>
              <a:ext uri="{FF2B5EF4-FFF2-40B4-BE49-F238E27FC236}">
                <a16:creationId xmlns:a16="http://schemas.microsoft.com/office/drawing/2014/main" id="{EB703CDC-B23B-0577-D16B-AAA2FC22789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7:notes">
            <a:extLst>
              <a:ext uri="{FF2B5EF4-FFF2-40B4-BE49-F238E27FC236}">
                <a16:creationId xmlns:a16="http://schemas.microsoft.com/office/drawing/2014/main" id="{3FB2D16E-48B3-E04D-E587-7EB45362DC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3307882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>
          <a:extLst>
            <a:ext uri="{FF2B5EF4-FFF2-40B4-BE49-F238E27FC236}">
              <a16:creationId xmlns:a16="http://schemas.microsoft.com/office/drawing/2014/main" id="{2464F5A2-645D-56F7-0F67-882D01AF6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7:notes">
            <a:extLst>
              <a:ext uri="{FF2B5EF4-FFF2-40B4-BE49-F238E27FC236}">
                <a16:creationId xmlns:a16="http://schemas.microsoft.com/office/drawing/2014/main" id="{88F5820A-F397-1F75-86FA-55BD7D7CF9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7:notes">
            <a:extLst>
              <a:ext uri="{FF2B5EF4-FFF2-40B4-BE49-F238E27FC236}">
                <a16:creationId xmlns:a16="http://schemas.microsoft.com/office/drawing/2014/main" id="{5F11C390-F02A-454F-04EC-4B6CEE746AC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1693863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8" name="Google Shape;508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0" name="Google Shape;830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16.jpg"/><Relationship Id="rId7" Type="http://schemas.openxmlformats.org/officeDocument/2006/relationships/image" Target="../media/image20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jpg"/><Relationship Id="rId4" Type="http://schemas.openxmlformats.org/officeDocument/2006/relationships/image" Target="../media/image17.jpg"/><Relationship Id="rId9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9.png"/><Relationship Id="rId4" Type="http://schemas.openxmlformats.org/officeDocument/2006/relationships/image" Target="../media/image3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jp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6.png"/><Relationship Id="rId4" Type="http://schemas.openxmlformats.org/officeDocument/2006/relationships/image" Target="../media/image21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3" Type="http://schemas.openxmlformats.org/officeDocument/2006/relationships/image" Target="../media/image67.png"/><Relationship Id="rId7" Type="http://schemas.openxmlformats.org/officeDocument/2006/relationships/image" Target="../media/image7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DB898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3"/>
          <p:cNvGrpSpPr/>
          <p:nvPr/>
        </p:nvGrpSpPr>
        <p:grpSpPr>
          <a:xfrm>
            <a:off x="421501" y="284296"/>
            <a:ext cx="17445111" cy="9573807"/>
            <a:chOff x="0" y="-38100"/>
            <a:chExt cx="4594567" cy="2521480"/>
          </a:xfrm>
        </p:grpSpPr>
        <p:sp>
          <p:nvSpPr>
            <p:cNvPr id="85" name="Google Shape;85;p13"/>
            <p:cNvSpPr/>
            <p:nvPr/>
          </p:nvSpPr>
          <p:spPr>
            <a:xfrm>
              <a:off x="0" y="0"/>
              <a:ext cx="4594567" cy="2483380"/>
            </a:xfrm>
            <a:custGeom>
              <a:avLst/>
              <a:gdLst/>
              <a:ahLst/>
              <a:cxnLst/>
              <a:rect l="l" t="t" r="r" b="b"/>
              <a:pathLst>
                <a:path w="4594567" h="2483380" extrusionOk="0">
                  <a:moveTo>
                    <a:pt x="4515149" y="0"/>
                  </a:moveTo>
                  <a:lnTo>
                    <a:pt x="79418" y="0"/>
                  </a:lnTo>
                  <a:cubicBezTo>
                    <a:pt x="79418" y="43699"/>
                    <a:pt x="44079" y="79418"/>
                    <a:pt x="0" y="79418"/>
                  </a:cubicBezTo>
                  <a:lnTo>
                    <a:pt x="0" y="2403962"/>
                  </a:lnTo>
                  <a:cubicBezTo>
                    <a:pt x="43699" y="2403962"/>
                    <a:pt x="79418" y="2439301"/>
                    <a:pt x="79418" y="2483380"/>
                  </a:cubicBezTo>
                  <a:lnTo>
                    <a:pt x="4515149" y="2483380"/>
                  </a:lnTo>
                  <a:cubicBezTo>
                    <a:pt x="4515149" y="2439681"/>
                    <a:pt x="4550488" y="2403962"/>
                    <a:pt x="4594567" y="2403962"/>
                  </a:cubicBezTo>
                  <a:lnTo>
                    <a:pt x="4594567" y="79418"/>
                  </a:lnTo>
                  <a:cubicBezTo>
                    <a:pt x="4550868" y="79418"/>
                    <a:pt x="4515149" y="44079"/>
                    <a:pt x="4515149" y="0"/>
                  </a:cubicBezTo>
                  <a:close/>
                </a:path>
              </a:pathLst>
            </a:custGeom>
            <a:solidFill>
              <a:srgbClr val="EBEAE6"/>
            </a:solidFill>
            <a:ln w="104775" cap="flat" cmpd="sng">
              <a:solidFill>
                <a:srgbClr val="3A7D4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13"/>
            <p:cNvSpPr txBox="1"/>
            <p:nvPr/>
          </p:nvSpPr>
          <p:spPr>
            <a:xfrm>
              <a:off x="38100" y="-38100"/>
              <a:ext cx="736500" cy="81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6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87" name="Google Shape;87;p13"/>
          <p:cNvPicPr preferRelativeResize="0"/>
          <p:nvPr/>
        </p:nvPicPr>
        <p:blipFill rotWithShape="1">
          <a:blip r:embed="rId3">
            <a:alphaModFix/>
          </a:blip>
          <a:srcRect r="79605" b="62946"/>
          <a:stretch/>
        </p:blipFill>
        <p:spPr>
          <a:xfrm>
            <a:off x="2589192" y="3748948"/>
            <a:ext cx="5229000" cy="53437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8" name="Google Shape;88;p13"/>
          <p:cNvCxnSpPr/>
          <p:nvPr/>
        </p:nvCxnSpPr>
        <p:spPr>
          <a:xfrm rot="-3816260">
            <a:off x="1431601" y="8320405"/>
            <a:ext cx="544574" cy="0"/>
          </a:xfrm>
          <a:prstGeom prst="straightConnector1">
            <a:avLst/>
          </a:prstGeom>
          <a:noFill/>
          <a:ln w="104775" cap="rnd" cmpd="sng">
            <a:solidFill>
              <a:srgbClr val="7DB89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9" name="Google Shape;89;p13"/>
          <p:cNvCxnSpPr/>
          <p:nvPr/>
        </p:nvCxnSpPr>
        <p:spPr>
          <a:xfrm rot="-3816260">
            <a:off x="1588248" y="8973959"/>
            <a:ext cx="544574" cy="0"/>
          </a:xfrm>
          <a:prstGeom prst="straightConnector1">
            <a:avLst/>
          </a:prstGeom>
          <a:noFill/>
          <a:ln w="104775" cap="rnd" cmpd="sng">
            <a:solidFill>
              <a:srgbClr val="7DB89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0" name="Google Shape;90;p13"/>
          <p:cNvCxnSpPr/>
          <p:nvPr/>
        </p:nvCxnSpPr>
        <p:spPr>
          <a:xfrm rot="-3816260">
            <a:off x="2214944" y="8338071"/>
            <a:ext cx="544574" cy="0"/>
          </a:xfrm>
          <a:prstGeom prst="straightConnector1">
            <a:avLst/>
          </a:prstGeom>
          <a:noFill/>
          <a:ln w="104775" cap="rnd" cmpd="sng">
            <a:solidFill>
              <a:srgbClr val="7DB89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1" name="Google Shape;91;p13"/>
          <p:cNvCxnSpPr/>
          <p:nvPr/>
        </p:nvCxnSpPr>
        <p:spPr>
          <a:xfrm rot="-3816260">
            <a:off x="2052183" y="9346948"/>
            <a:ext cx="544574" cy="0"/>
          </a:xfrm>
          <a:prstGeom prst="straightConnector1">
            <a:avLst/>
          </a:prstGeom>
          <a:noFill/>
          <a:ln w="104775" cap="rnd" cmpd="sng">
            <a:solidFill>
              <a:srgbClr val="7DB89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2" name="Google Shape;92;p13"/>
          <p:cNvCxnSpPr/>
          <p:nvPr/>
        </p:nvCxnSpPr>
        <p:spPr>
          <a:xfrm rot="-3816260">
            <a:off x="2528238" y="8727383"/>
            <a:ext cx="544574" cy="0"/>
          </a:xfrm>
          <a:prstGeom prst="straightConnector1">
            <a:avLst/>
          </a:prstGeom>
          <a:noFill/>
          <a:ln w="104775" cap="rnd" cmpd="sng">
            <a:solidFill>
              <a:srgbClr val="7DB89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3" name="Google Shape;93;p13"/>
          <p:cNvCxnSpPr/>
          <p:nvPr/>
        </p:nvCxnSpPr>
        <p:spPr>
          <a:xfrm rot="-3816260">
            <a:off x="2684886" y="9250596"/>
            <a:ext cx="544574" cy="0"/>
          </a:xfrm>
          <a:prstGeom prst="straightConnector1">
            <a:avLst/>
          </a:prstGeom>
          <a:noFill/>
          <a:ln w="104775" cap="rnd" cmpd="sng">
            <a:solidFill>
              <a:srgbClr val="7DB89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4" name="Google Shape;94;p13"/>
          <p:cNvCxnSpPr/>
          <p:nvPr/>
        </p:nvCxnSpPr>
        <p:spPr>
          <a:xfrm rot="-3816260">
            <a:off x="3190745" y="8450746"/>
            <a:ext cx="544574" cy="0"/>
          </a:xfrm>
          <a:prstGeom prst="straightConnector1">
            <a:avLst/>
          </a:prstGeom>
          <a:noFill/>
          <a:ln w="104775" cap="rnd" cmpd="sng">
            <a:solidFill>
              <a:srgbClr val="7DB89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5" name="Google Shape;95;p13"/>
          <p:cNvCxnSpPr/>
          <p:nvPr/>
        </p:nvCxnSpPr>
        <p:spPr>
          <a:xfrm rot="-3816260">
            <a:off x="2058297" y="7797192"/>
            <a:ext cx="544574" cy="0"/>
          </a:xfrm>
          <a:prstGeom prst="straightConnector1">
            <a:avLst/>
          </a:prstGeom>
          <a:noFill/>
          <a:ln w="104775" cap="rnd" cmpd="sng">
            <a:solidFill>
              <a:srgbClr val="7DB89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6" name="Google Shape;96;p13"/>
          <p:cNvCxnSpPr/>
          <p:nvPr/>
        </p:nvCxnSpPr>
        <p:spPr>
          <a:xfrm rot="-3816260">
            <a:off x="2998180" y="7830919"/>
            <a:ext cx="544574" cy="0"/>
          </a:xfrm>
          <a:prstGeom prst="straightConnector1">
            <a:avLst/>
          </a:prstGeom>
          <a:noFill/>
          <a:ln w="104775" cap="rnd" cmpd="sng">
            <a:solidFill>
              <a:srgbClr val="7DB89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7" name="Google Shape;97;p13"/>
          <p:cNvCxnSpPr/>
          <p:nvPr/>
        </p:nvCxnSpPr>
        <p:spPr>
          <a:xfrm rot="-3816260">
            <a:off x="3347392" y="9085342"/>
            <a:ext cx="544574" cy="0"/>
          </a:xfrm>
          <a:prstGeom prst="straightConnector1">
            <a:avLst/>
          </a:prstGeom>
          <a:noFill/>
          <a:ln w="104775" cap="rnd" cmpd="sng">
            <a:solidFill>
              <a:srgbClr val="7DB898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98" name="Google Shape;98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flipH="1">
            <a:off x="12315014" y="5429250"/>
            <a:ext cx="3453336" cy="14817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9" name="Google Shape;99;p13"/>
          <p:cNvGrpSpPr/>
          <p:nvPr/>
        </p:nvGrpSpPr>
        <p:grpSpPr>
          <a:xfrm>
            <a:off x="1703884" y="1115856"/>
            <a:ext cx="15832800" cy="3397115"/>
            <a:chOff x="0" y="-9525"/>
            <a:chExt cx="21110400" cy="4529485"/>
          </a:xfrm>
        </p:grpSpPr>
        <p:sp>
          <p:nvSpPr>
            <p:cNvPr id="100" name="Google Shape;100;p13"/>
            <p:cNvSpPr txBox="1"/>
            <p:nvPr/>
          </p:nvSpPr>
          <p:spPr>
            <a:xfrm>
              <a:off x="0" y="472016"/>
              <a:ext cx="21110400" cy="40479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3699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200" b="1" dirty="0">
                  <a:solidFill>
                    <a:srgbClr val="3A7D4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Sriracha"/>
                </a:rPr>
                <a:t>Air quality</a:t>
              </a:r>
              <a:r>
                <a:rPr lang="en-US" sz="7200" b="1" i="0" u="none" strike="noStrike" cap="none" dirty="0">
                  <a:solidFill>
                    <a:srgbClr val="3A7D4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Sriracha"/>
                </a:rPr>
                <a:t> &amp; Weather Analytics </a:t>
              </a:r>
            </a:p>
            <a:p>
              <a:pPr marL="0" marR="0" lvl="0" indent="0" algn="ctr" rtl="0">
                <a:lnSpc>
                  <a:spcPct val="13699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200" b="1" i="0" u="none" strike="noStrike" cap="none" dirty="0">
                  <a:solidFill>
                    <a:srgbClr val="3A7D4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Sriracha"/>
                </a:rPr>
                <a:t>Across Canadian Cities</a:t>
              </a:r>
              <a:endParaRPr sz="7200" dirty="0"/>
            </a:p>
          </p:txBody>
        </p:sp>
        <p:sp>
          <p:nvSpPr>
            <p:cNvPr id="101" name="Google Shape;101;p13"/>
            <p:cNvSpPr txBox="1"/>
            <p:nvPr/>
          </p:nvSpPr>
          <p:spPr>
            <a:xfrm>
              <a:off x="2312736" y="-9525"/>
              <a:ext cx="16484700" cy="901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 b="1" i="0" u="none" strike="noStrike" cap="none" dirty="0">
                  <a:solidFill>
                    <a:srgbClr val="3A7D4D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BTMA 431 FINAL PROJECT</a:t>
              </a:r>
              <a:endParaRPr dirty="0"/>
            </a:p>
          </p:txBody>
        </p:sp>
      </p:grpSp>
      <p:grpSp>
        <p:nvGrpSpPr>
          <p:cNvPr id="102" name="Google Shape;102;p13"/>
          <p:cNvGrpSpPr/>
          <p:nvPr/>
        </p:nvGrpSpPr>
        <p:grpSpPr>
          <a:xfrm>
            <a:off x="835451" y="2033702"/>
            <a:ext cx="643050" cy="6219592"/>
            <a:chOff x="1921" y="0"/>
            <a:chExt cx="857400" cy="8292790"/>
          </a:xfrm>
        </p:grpSpPr>
        <p:grpSp>
          <p:nvGrpSpPr>
            <p:cNvPr id="103" name="Google Shape;103;p13"/>
            <p:cNvGrpSpPr/>
            <p:nvPr/>
          </p:nvGrpSpPr>
          <p:grpSpPr>
            <a:xfrm>
              <a:off x="1921" y="0"/>
              <a:ext cx="857400" cy="861243"/>
              <a:chOff x="1813" y="0"/>
              <a:chExt cx="809173" cy="812800"/>
            </a:xfrm>
          </p:grpSpPr>
          <p:sp>
            <p:nvSpPr>
              <p:cNvPr id="104" name="Google Shape;104;p13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7DB898"/>
              </a:solidFill>
              <a:ln w="104775" cap="flat" cmpd="sng">
                <a:solidFill>
                  <a:srgbClr val="3A7D4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Google Shape;105;p13"/>
              <p:cNvSpPr txBox="1"/>
              <p:nvPr/>
            </p:nvSpPr>
            <p:spPr>
              <a:xfrm>
                <a:off x="76200" y="0"/>
                <a:ext cx="660300" cy="736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96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6" name="Google Shape;106;p13"/>
            <p:cNvGrpSpPr/>
            <p:nvPr/>
          </p:nvGrpSpPr>
          <p:grpSpPr>
            <a:xfrm>
              <a:off x="1921" y="4954365"/>
              <a:ext cx="857400" cy="861243"/>
              <a:chOff x="1813" y="0"/>
              <a:chExt cx="809173" cy="812800"/>
            </a:xfrm>
          </p:grpSpPr>
          <p:sp>
            <p:nvSpPr>
              <p:cNvPr id="107" name="Google Shape;107;p13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7DB898"/>
              </a:solidFill>
              <a:ln w="104775" cap="flat" cmpd="sng">
                <a:solidFill>
                  <a:srgbClr val="3A7D4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Google Shape;108;p13"/>
              <p:cNvSpPr txBox="1"/>
              <p:nvPr/>
            </p:nvSpPr>
            <p:spPr>
              <a:xfrm>
                <a:off x="76200" y="0"/>
                <a:ext cx="660300" cy="736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96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9" name="Google Shape;109;p13"/>
            <p:cNvGrpSpPr/>
            <p:nvPr/>
          </p:nvGrpSpPr>
          <p:grpSpPr>
            <a:xfrm>
              <a:off x="1921" y="2477182"/>
              <a:ext cx="857400" cy="861243"/>
              <a:chOff x="1813" y="0"/>
              <a:chExt cx="809173" cy="812800"/>
            </a:xfrm>
          </p:grpSpPr>
          <p:sp>
            <p:nvSpPr>
              <p:cNvPr id="110" name="Google Shape;110;p13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7DB898"/>
              </a:solidFill>
              <a:ln w="104775" cap="flat" cmpd="sng">
                <a:solidFill>
                  <a:srgbClr val="3A7D4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Google Shape;111;p13"/>
              <p:cNvSpPr txBox="1"/>
              <p:nvPr/>
            </p:nvSpPr>
            <p:spPr>
              <a:xfrm>
                <a:off x="76200" y="0"/>
                <a:ext cx="660300" cy="736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96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2" name="Google Shape;112;p13"/>
            <p:cNvGrpSpPr/>
            <p:nvPr/>
          </p:nvGrpSpPr>
          <p:grpSpPr>
            <a:xfrm>
              <a:off x="1921" y="7431547"/>
              <a:ext cx="857400" cy="861243"/>
              <a:chOff x="1813" y="0"/>
              <a:chExt cx="809173" cy="812800"/>
            </a:xfrm>
          </p:grpSpPr>
          <p:sp>
            <p:nvSpPr>
              <p:cNvPr id="113" name="Google Shape;113;p13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7DB898"/>
              </a:solidFill>
              <a:ln w="104775" cap="flat" cmpd="sng">
                <a:solidFill>
                  <a:srgbClr val="3A7D4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" name="Google Shape;114;p13"/>
              <p:cNvSpPr txBox="1"/>
              <p:nvPr/>
            </p:nvSpPr>
            <p:spPr>
              <a:xfrm>
                <a:off x="76200" y="0"/>
                <a:ext cx="660300" cy="736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96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id="115" name="Google Shape;115;p13"/>
          <p:cNvPicPr preferRelativeResize="0"/>
          <p:nvPr/>
        </p:nvPicPr>
        <p:blipFill rotWithShape="1">
          <a:blip r:embed="rId3">
            <a:alphaModFix/>
          </a:blip>
          <a:srcRect l="22831" r="34074" b="51259"/>
          <a:stretch/>
        </p:blipFill>
        <p:spPr>
          <a:xfrm>
            <a:off x="3562325" y="6043500"/>
            <a:ext cx="11049000" cy="702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3"/>
          <p:cNvPicPr preferRelativeResize="0"/>
          <p:nvPr/>
        </p:nvPicPr>
        <p:blipFill rotWithShape="1">
          <a:blip r:embed="rId3">
            <a:alphaModFix/>
          </a:blip>
          <a:srcRect l="64510" t="55315" r="1013" b="3074"/>
          <a:stretch/>
        </p:blipFill>
        <p:spPr>
          <a:xfrm>
            <a:off x="11810675" y="4498613"/>
            <a:ext cx="8839200" cy="6000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DB898"/>
        </a:solidFill>
        <a:effectLst/>
      </p:bgPr>
    </p:bg>
    <p:spTree>
      <p:nvGrpSpPr>
        <p:cNvPr id="1" name="Shape 471">
          <a:extLst>
            <a:ext uri="{FF2B5EF4-FFF2-40B4-BE49-F238E27FC236}">
              <a16:creationId xmlns:a16="http://schemas.microsoft.com/office/drawing/2014/main" id="{8C6752AE-449C-A8CC-FC2E-A42782CEA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2" name="Google Shape;472;p27">
            <a:extLst>
              <a:ext uri="{FF2B5EF4-FFF2-40B4-BE49-F238E27FC236}">
                <a16:creationId xmlns:a16="http://schemas.microsoft.com/office/drawing/2014/main" id="{4AE1D84C-80BB-E1FD-AC5C-A86C834EBAA0}"/>
              </a:ext>
            </a:extLst>
          </p:cNvPr>
          <p:cNvGrpSpPr/>
          <p:nvPr/>
        </p:nvGrpSpPr>
        <p:grpSpPr>
          <a:xfrm>
            <a:off x="446588" y="210555"/>
            <a:ext cx="17444998" cy="9573746"/>
            <a:chOff x="0" y="-38100"/>
            <a:chExt cx="4594567" cy="2521480"/>
          </a:xfrm>
        </p:grpSpPr>
        <p:sp>
          <p:nvSpPr>
            <p:cNvPr id="473" name="Google Shape;473;p27">
              <a:extLst>
                <a:ext uri="{FF2B5EF4-FFF2-40B4-BE49-F238E27FC236}">
                  <a16:creationId xmlns:a16="http://schemas.microsoft.com/office/drawing/2014/main" id="{B53E6967-FC98-50DF-7AEE-C43028C65748}"/>
                </a:ext>
              </a:extLst>
            </p:cNvPr>
            <p:cNvSpPr/>
            <p:nvPr/>
          </p:nvSpPr>
          <p:spPr>
            <a:xfrm>
              <a:off x="0" y="0"/>
              <a:ext cx="4594567" cy="2483380"/>
            </a:xfrm>
            <a:custGeom>
              <a:avLst/>
              <a:gdLst/>
              <a:ahLst/>
              <a:cxnLst/>
              <a:rect l="l" t="t" r="r" b="b"/>
              <a:pathLst>
                <a:path w="4594567" h="2483380" extrusionOk="0">
                  <a:moveTo>
                    <a:pt x="4515149" y="0"/>
                  </a:moveTo>
                  <a:lnTo>
                    <a:pt x="79418" y="0"/>
                  </a:lnTo>
                  <a:cubicBezTo>
                    <a:pt x="79418" y="43699"/>
                    <a:pt x="44079" y="79418"/>
                    <a:pt x="0" y="79418"/>
                  </a:cubicBezTo>
                  <a:lnTo>
                    <a:pt x="0" y="2403962"/>
                  </a:lnTo>
                  <a:cubicBezTo>
                    <a:pt x="43699" y="2403962"/>
                    <a:pt x="79418" y="2439301"/>
                    <a:pt x="79418" y="2483380"/>
                  </a:cubicBezTo>
                  <a:lnTo>
                    <a:pt x="4515149" y="2483380"/>
                  </a:lnTo>
                  <a:cubicBezTo>
                    <a:pt x="4515149" y="2439681"/>
                    <a:pt x="4550488" y="2403962"/>
                    <a:pt x="4594567" y="2403962"/>
                  </a:cubicBezTo>
                  <a:lnTo>
                    <a:pt x="4594567" y="79418"/>
                  </a:lnTo>
                  <a:cubicBezTo>
                    <a:pt x="4550868" y="79418"/>
                    <a:pt x="4515149" y="44079"/>
                    <a:pt x="4515149" y="0"/>
                  </a:cubicBezTo>
                  <a:close/>
                </a:path>
              </a:pathLst>
            </a:custGeom>
            <a:solidFill>
              <a:srgbClr val="EBEAE6"/>
            </a:solidFill>
            <a:ln w="104775" cap="flat" cmpd="sng">
              <a:solidFill>
                <a:srgbClr val="3A7D4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74" name="Google Shape;474;p27">
              <a:extLst>
                <a:ext uri="{FF2B5EF4-FFF2-40B4-BE49-F238E27FC236}">
                  <a16:creationId xmlns:a16="http://schemas.microsoft.com/office/drawing/2014/main" id="{44D05225-D1B1-7FC5-D125-BCF4CA978A3F}"/>
                </a:ext>
              </a:extLst>
            </p:cNvPr>
            <p:cNvSpPr txBox="1"/>
            <p:nvPr/>
          </p:nvSpPr>
          <p:spPr>
            <a:xfrm>
              <a:off x="38100" y="-38100"/>
              <a:ext cx="736600" cy="81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6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475" name="Google Shape;475;p27">
            <a:extLst>
              <a:ext uri="{FF2B5EF4-FFF2-40B4-BE49-F238E27FC236}">
                <a16:creationId xmlns:a16="http://schemas.microsoft.com/office/drawing/2014/main" id="{71644850-589C-18D9-6B37-5D9A155A4ED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43907" t="38149" r="43909" b="43247"/>
          <a:stretch/>
        </p:blipFill>
        <p:spPr>
          <a:xfrm>
            <a:off x="1323207" y="1028700"/>
            <a:ext cx="2227999" cy="19137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76" name="Google Shape;476;p27">
            <a:extLst>
              <a:ext uri="{FF2B5EF4-FFF2-40B4-BE49-F238E27FC236}">
                <a16:creationId xmlns:a16="http://schemas.microsoft.com/office/drawing/2014/main" id="{3483501D-BDBA-9E3A-6645-9EECA24B60CD}"/>
              </a:ext>
            </a:extLst>
          </p:cNvPr>
          <p:cNvCxnSpPr/>
          <p:nvPr/>
        </p:nvCxnSpPr>
        <p:spPr>
          <a:xfrm>
            <a:off x="421501" y="3513494"/>
            <a:ext cx="17444925" cy="0"/>
          </a:xfrm>
          <a:prstGeom prst="straightConnector1">
            <a:avLst/>
          </a:prstGeom>
          <a:noFill/>
          <a:ln w="139700" cap="flat" cmpd="sng">
            <a:solidFill>
              <a:srgbClr val="3A7D4D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77" name="Google Shape;477;p27">
            <a:extLst>
              <a:ext uri="{FF2B5EF4-FFF2-40B4-BE49-F238E27FC236}">
                <a16:creationId xmlns:a16="http://schemas.microsoft.com/office/drawing/2014/main" id="{E63C7F4F-9FD0-D7E4-8380-E151AF78FEA4}"/>
              </a:ext>
            </a:extLst>
          </p:cNvPr>
          <p:cNvCxnSpPr/>
          <p:nvPr/>
        </p:nvCxnSpPr>
        <p:spPr>
          <a:xfrm rot="-5400000">
            <a:off x="-828209" y="5568986"/>
            <a:ext cx="4202360" cy="0"/>
          </a:xfrm>
          <a:prstGeom prst="straightConnector1">
            <a:avLst/>
          </a:prstGeom>
          <a:noFill/>
          <a:ln w="139700" cap="flat" cmpd="sng">
            <a:solidFill>
              <a:srgbClr val="3A7D4D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78" name="Google Shape;478;p27">
            <a:extLst>
              <a:ext uri="{FF2B5EF4-FFF2-40B4-BE49-F238E27FC236}">
                <a16:creationId xmlns:a16="http://schemas.microsoft.com/office/drawing/2014/main" id="{FD9974F4-4E92-CBBE-66FB-57F7287DFF23}"/>
              </a:ext>
            </a:extLst>
          </p:cNvPr>
          <p:cNvCxnSpPr/>
          <p:nvPr/>
        </p:nvCxnSpPr>
        <p:spPr>
          <a:xfrm rot="-5400000">
            <a:off x="3124284" y="5568986"/>
            <a:ext cx="4202360" cy="0"/>
          </a:xfrm>
          <a:prstGeom prst="straightConnector1">
            <a:avLst/>
          </a:prstGeom>
          <a:noFill/>
          <a:ln w="139700" cap="flat" cmpd="sng">
            <a:solidFill>
              <a:srgbClr val="3A7D4D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79" name="Google Shape;479;p27">
            <a:extLst>
              <a:ext uri="{FF2B5EF4-FFF2-40B4-BE49-F238E27FC236}">
                <a16:creationId xmlns:a16="http://schemas.microsoft.com/office/drawing/2014/main" id="{7A230E72-AF66-D253-E3F8-1C7A7EA13F17}"/>
              </a:ext>
            </a:extLst>
          </p:cNvPr>
          <p:cNvCxnSpPr/>
          <p:nvPr/>
        </p:nvCxnSpPr>
        <p:spPr>
          <a:xfrm rot="-5400000">
            <a:off x="7222962" y="5568986"/>
            <a:ext cx="4202360" cy="0"/>
          </a:xfrm>
          <a:prstGeom prst="straightConnector1">
            <a:avLst/>
          </a:prstGeom>
          <a:noFill/>
          <a:ln w="139700" cap="flat" cmpd="sng">
            <a:solidFill>
              <a:srgbClr val="3A7D4D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80" name="Google Shape;480;p27">
            <a:extLst>
              <a:ext uri="{FF2B5EF4-FFF2-40B4-BE49-F238E27FC236}">
                <a16:creationId xmlns:a16="http://schemas.microsoft.com/office/drawing/2014/main" id="{1A7C5B55-D339-8404-232C-22831A1F8160}"/>
              </a:ext>
            </a:extLst>
          </p:cNvPr>
          <p:cNvCxnSpPr/>
          <p:nvPr/>
        </p:nvCxnSpPr>
        <p:spPr>
          <a:xfrm rot="-5400000">
            <a:off x="11321640" y="5568986"/>
            <a:ext cx="4202360" cy="0"/>
          </a:xfrm>
          <a:prstGeom prst="straightConnector1">
            <a:avLst/>
          </a:prstGeom>
          <a:noFill/>
          <a:ln w="139700" cap="flat" cmpd="sng">
            <a:solidFill>
              <a:srgbClr val="3A7D4D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81" name="Google Shape;481;p27">
            <a:extLst>
              <a:ext uri="{FF2B5EF4-FFF2-40B4-BE49-F238E27FC236}">
                <a16:creationId xmlns:a16="http://schemas.microsoft.com/office/drawing/2014/main" id="{313D46CA-5E9B-F2FF-63F3-403E74BCF058}"/>
              </a:ext>
            </a:extLst>
          </p:cNvPr>
          <p:cNvCxnSpPr/>
          <p:nvPr/>
        </p:nvCxnSpPr>
        <p:spPr>
          <a:xfrm rot="-5400000">
            <a:off x="2108630" y="5568986"/>
            <a:ext cx="4202360" cy="0"/>
          </a:xfrm>
          <a:prstGeom prst="straightConnector1">
            <a:avLst/>
          </a:prstGeom>
          <a:noFill/>
          <a:ln w="139700" cap="flat" cmpd="sng">
            <a:solidFill>
              <a:srgbClr val="3A7D4D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82" name="Google Shape;482;p27">
            <a:extLst>
              <a:ext uri="{FF2B5EF4-FFF2-40B4-BE49-F238E27FC236}">
                <a16:creationId xmlns:a16="http://schemas.microsoft.com/office/drawing/2014/main" id="{153CC697-6104-690C-E648-2E3E6A38C7BE}"/>
              </a:ext>
            </a:extLst>
          </p:cNvPr>
          <p:cNvCxnSpPr/>
          <p:nvPr/>
        </p:nvCxnSpPr>
        <p:spPr>
          <a:xfrm rot="-5400000">
            <a:off x="6527235" y="5568986"/>
            <a:ext cx="4202360" cy="0"/>
          </a:xfrm>
          <a:prstGeom prst="straightConnector1">
            <a:avLst/>
          </a:prstGeom>
          <a:noFill/>
          <a:ln w="139700" cap="flat" cmpd="sng">
            <a:solidFill>
              <a:srgbClr val="3A7D4D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83" name="Google Shape;483;p27">
            <a:extLst>
              <a:ext uri="{FF2B5EF4-FFF2-40B4-BE49-F238E27FC236}">
                <a16:creationId xmlns:a16="http://schemas.microsoft.com/office/drawing/2014/main" id="{1EDAF738-F924-95D5-29D8-32DF51E07DFF}"/>
              </a:ext>
            </a:extLst>
          </p:cNvPr>
          <p:cNvCxnSpPr/>
          <p:nvPr/>
        </p:nvCxnSpPr>
        <p:spPr>
          <a:xfrm rot="-5400000">
            <a:off x="10625913" y="5568986"/>
            <a:ext cx="4202360" cy="0"/>
          </a:xfrm>
          <a:prstGeom prst="straightConnector1">
            <a:avLst/>
          </a:prstGeom>
          <a:noFill/>
          <a:ln w="139700" cap="flat" cmpd="sng">
            <a:solidFill>
              <a:srgbClr val="3A7D4D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84" name="Google Shape;484;p27">
            <a:extLst>
              <a:ext uri="{FF2B5EF4-FFF2-40B4-BE49-F238E27FC236}">
                <a16:creationId xmlns:a16="http://schemas.microsoft.com/office/drawing/2014/main" id="{24010DB0-1BC7-4335-3648-CA0F2F59BA8C}"/>
              </a:ext>
            </a:extLst>
          </p:cNvPr>
          <p:cNvCxnSpPr/>
          <p:nvPr/>
        </p:nvCxnSpPr>
        <p:spPr>
          <a:xfrm rot="-5400000">
            <a:off x="15763107" y="5568986"/>
            <a:ext cx="4202360" cy="0"/>
          </a:xfrm>
          <a:prstGeom prst="straightConnector1">
            <a:avLst/>
          </a:prstGeom>
          <a:noFill/>
          <a:ln w="139700" cap="flat" cmpd="sng">
            <a:solidFill>
              <a:srgbClr val="3A7D4D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489" name="Google Shape;489;p27">
            <a:extLst>
              <a:ext uri="{FF2B5EF4-FFF2-40B4-BE49-F238E27FC236}">
                <a16:creationId xmlns:a16="http://schemas.microsoft.com/office/drawing/2014/main" id="{4977D9CD-BEE8-E883-32CE-E196BCF3925C}"/>
              </a:ext>
            </a:extLst>
          </p:cNvPr>
          <p:cNvGrpSpPr/>
          <p:nvPr/>
        </p:nvGrpSpPr>
        <p:grpSpPr>
          <a:xfrm>
            <a:off x="3363167" y="1315180"/>
            <a:ext cx="11561666" cy="1389974"/>
            <a:chOff x="0" y="-9525"/>
            <a:chExt cx="15415554" cy="1853298"/>
          </a:xfrm>
        </p:grpSpPr>
        <p:sp>
          <p:nvSpPr>
            <p:cNvPr id="490" name="Google Shape;490;p27">
              <a:extLst>
                <a:ext uri="{FF2B5EF4-FFF2-40B4-BE49-F238E27FC236}">
                  <a16:creationId xmlns:a16="http://schemas.microsoft.com/office/drawing/2014/main" id="{CC54B9D2-6BEB-5841-C396-6E174F972829}"/>
                </a:ext>
              </a:extLst>
            </p:cNvPr>
            <p:cNvSpPr txBox="1"/>
            <p:nvPr/>
          </p:nvSpPr>
          <p:spPr>
            <a:xfrm>
              <a:off x="0" y="-9525"/>
              <a:ext cx="15415554" cy="13517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200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400" b="1" i="0" u="none" strike="noStrike" cap="none" dirty="0">
                  <a:solidFill>
                    <a:srgbClr val="3A7D4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Sriracha"/>
                </a:rPr>
                <a:t>About me – Why </a:t>
              </a:r>
              <a:r>
                <a:rPr lang="en-US" sz="5400" b="1" dirty="0">
                  <a:solidFill>
                    <a:srgbClr val="3A7D4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Sriracha"/>
                </a:rPr>
                <a:t>I choose this topic</a:t>
              </a:r>
              <a:endParaRPr sz="5400" dirty="0"/>
            </a:p>
          </p:txBody>
        </p:sp>
        <p:sp>
          <p:nvSpPr>
            <p:cNvPr id="491" name="Google Shape;491;p27">
              <a:extLst>
                <a:ext uri="{FF2B5EF4-FFF2-40B4-BE49-F238E27FC236}">
                  <a16:creationId xmlns:a16="http://schemas.microsoft.com/office/drawing/2014/main" id="{B21D1BA0-B59D-BD82-5480-313094980ADB}"/>
                </a:ext>
              </a:extLst>
            </p:cNvPr>
            <p:cNvSpPr txBox="1"/>
            <p:nvPr/>
          </p:nvSpPr>
          <p:spPr>
            <a:xfrm>
              <a:off x="0" y="1421520"/>
              <a:ext cx="15415554" cy="42225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1" indent="0" algn="ctr" rtl="0">
                <a:lnSpc>
                  <a:spcPct val="14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492" name="Google Shape;492;p27">
            <a:extLst>
              <a:ext uri="{FF2B5EF4-FFF2-40B4-BE49-F238E27FC236}">
                <a16:creationId xmlns:a16="http://schemas.microsoft.com/office/drawing/2014/main" id="{BDF927E2-4E0A-EE8E-E2EE-3D6935DEFB99}"/>
              </a:ext>
            </a:extLst>
          </p:cNvPr>
          <p:cNvGrpSpPr/>
          <p:nvPr/>
        </p:nvGrpSpPr>
        <p:grpSpPr>
          <a:xfrm>
            <a:off x="1536502" y="7941810"/>
            <a:ext cx="2444528" cy="1607036"/>
            <a:chOff x="-297440" y="-49795"/>
            <a:chExt cx="3259371" cy="2142716"/>
          </a:xfrm>
        </p:grpSpPr>
        <p:sp>
          <p:nvSpPr>
            <p:cNvPr id="493" name="Google Shape;493;p27">
              <a:extLst>
                <a:ext uri="{FF2B5EF4-FFF2-40B4-BE49-F238E27FC236}">
                  <a16:creationId xmlns:a16="http://schemas.microsoft.com/office/drawing/2014/main" id="{DABD42E0-EFE4-495B-2D0D-9FC2D2122500}"/>
                </a:ext>
              </a:extLst>
            </p:cNvPr>
            <p:cNvSpPr txBox="1"/>
            <p:nvPr/>
          </p:nvSpPr>
          <p:spPr>
            <a:xfrm>
              <a:off x="-277705" y="-49795"/>
              <a:ext cx="3239636" cy="8260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300" b="1" i="0" u="none" strike="noStrike" cap="none" dirty="0">
                  <a:solidFill>
                    <a:srgbClr val="3A7D4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Sriracha"/>
                </a:rPr>
                <a:t>Hieu Dinh	</a:t>
              </a:r>
              <a:endParaRPr dirty="0"/>
            </a:p>
          </p:txBody>
        </p:sp>
        <p:sp>
          <p:nvSpPr>
            <p:cNvPr id="494" name="Google Shape;494;p27">
              <a:extLst>
                <a:ext uri="{FF2B5EF4-FFF2-40B4-BE49-F238E27FC236}">
                  <a16:creationId xmlns:a16="http://schemas.microsoft.com/office/drawing/2014/main" id="{8864C020-69A0-BEDF-2E2E-26D87965ECF8}"/>
                </a:ext>
              </a:extLst>
            </p:cNvPr>
            <p:cNvSpPr txBox="1"/>
            <p:nvPr/>
          </p:nvSpPr>
          <p:spPr>
            <a:xfrm>
              <a:off x="-297440" y="705532"/>
              <a:ext cx="3239636" cy="13873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1" indent="0" algn="ctr" rtl="0">
                <a:lnSpc>
                  <a:spcPct val="14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00" b="1" i="0" u="none" strike="noStrike" cap="none" dirty="0">
                  <a:solidFill>
                    <a:srgbClr val="3A7D4D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3</a:t>
              </a:r>
              <a:r>
                <a:rPr lang="en-US" sz="2300" b="1" i="0" u="none" strike="noStrike" cap="none" baseline="30000" dirty="0">
                  <a:solidFill>
                    <a:srgbClr val="3A7D4D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rd</a:t>
              </a:r>
              <a:r>
                <a:rPr lang="en-US" sz="2300" b="1" i="0" u="none" strike="noStrike" cap="none" dirty="0">
                  <a:solidFill>
                    <a:srgbClr val="3A7D4D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 Year Business Analytics</a:t>
              </a:r>
              <a:endParaRPr dirty="0"/>
            </a:p>
          </p:txBody>
        </p:sp>
      </p:grpSp>
      <p:grpSp>
        <p:nvGrpSpPr>
          <p:cNvPr id="495" name="Google Shape;495;p27">
            <a:extLst>
              <a:ext uri="{FF2B5EF4-FFF2-40B4-BE49-F238E27FC236}">
                <a16:creationId xmlns:a16="http://schemas.microsoft.com/office/drawing/2014/main" id="{0E78C468-B4CA-B4E1-073E-2042D576D896}"/>
              </a:ext>
            </a:extLst>
          </p:cNvPr>
          <p:cNvGrpSpPr/>
          <p:nvPr/>
        </p:nvGrpSpPr>
        <p:grpSpPr>
          <a:xfrm>
            <a:off x="5425188" y="8110570"/>
            <a:ext cx="10913971" cy="681718"/>
            <a:chOff x="-36079" y="0"/>
            <a:chExt cx="3275715" cy="908959"/>
          </a:xfrm>
        </p:grpSpPr>
        <p:sp>
          <p:nvSpPr>
            <p:cNvPr id="496" name="Google Shape;496;p27">
              <a:extLst>
                <a:ext uri="{FF2B5EF4-FFF2-40B4-BE49-F238E27FC236}">
                  <a16:creationId xmlns:a16="http://schemas.microsoft.com/office/drawing/2014/main" id="{F130483C-1C84-D8C5-8037-F9D3174141EF}"/>
                </a:ext>
              </a:extLst>
            </p:cNvPr>
            <p:cNvSpPr txBox="1"/>
            <p:nvPr/>
          </p:nvSpPr>
          <p:spPr>
            <a:xfrm>
              <a:off x="0" y="0"/>
              <a:ext cx="3239636" cy="3504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97" name="Google Shape;497;p27">
              <a:extLst>
                <a:ext uri="{FF2B5EF4-FFF2-40B4-BE49-F238E27FC236}">
                  <a16:creationId xmlns:a16="http://schemas.microsoft.com/office/drawing/2014/main" id="{EFC00012-04AD-9B92-296F-A7C53E2AFD77}"/>
                </a:ext>
              </a:extLst>
            </p:cNvPr>
            <p:cNvSpPr txBox="1"/>
            <p:nvPr/>
          </p:nvSpPr>
          <p:spPr>
            <a:xfrm>
              <a:off x="-36079" y="64452"/>
              <a:ext cx="3239636" cy="84450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1" algn="ctr">
                <a:lnSpc>
                  <a:spcPct val="147000"/>
                </a:lnSpc>
              </a:pPr>
              <a:r>
                <a:rPr lang="en-US" sz="2800" b="1" dirty="0">
                  <a:solidFill>
                    <a:srgbClr val="3A7D4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Sriracha"/>
                </a:rPr>
                <a:t>FROM VIETNAM’S TROPICAL CLIMATE TO CANADA‘S AQHI SYSTEM</a:t>
              </a:r>
              <a:endParaRPr lang="en-US" sz="2800" dirty="0"/>
            </a:p>
          </p:txBody>
        </p:sp>
      </p:grpSp>
      <p:grpSp>
        <p:nvGrpSpPr>
          <p:cNvPr id="498" name="Google Shape;498;p27">
            <a:extLst>
              <a:ext uri="{FF2B5EF4-FFF2-40B4-BE49-F238E27FC236}">
                <a16:creationId xmlns:a16="http://schemas.microsoft.com/office/drawing/2014/main" id="{28B14B46-20FF-C0D3-EE3A-C5396C532C5A}"/>
              </a:ext>
            </a:extLst>
          </p:cNvPr>
          <p:cNvGrpSpPr/>
          <p:nvPr/>
        </p:nvGrpSpPr>
        <p:grpSpPr>
          <a:xfrm>
            <a:off x="9810753" y="7979156"/>
            <a:ext cx="4098676" cy="813133"/>
            <a:chOff x="0" y="0"/>
            <a:chExt cx="5464901" cy="1084177"/>
          </a:xfrm>
        </p:grpSpPr>
        <p:sp>
          <p:nvSpPr>
            <p:cNvPr id="499" name="Google Shape;499;p27">
              <a:extLst>
                <a:ext uri="{FF2B5EF4-FFF2-40B4-BE49-F238E27FC236}">
                  <a16:creationId xmlns:a16="http://schemas.microsoft.com/office/drawing/2014/main" id="{B81F508D-E083-25BD-A9F5-0CA3F4A2B37E}"/>
                </a:ext>
              </a:extLst>
            </p:cNvPr>
            <p:cNvSpPr txBox="1"/>
            <p:nvPr/>
          </p:nvSpPr>
          <p:spPr>
            <a:xfrm>
              <a:off x="0" y="0"/>
              <a:ext cx="3239636" cy="3504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0" name="Google Shape;500;p27">
              <a:extLst>
                <a:ext uri="{FF2B5EF4-FFF2-40B4-BE49-F238E27FC236}">
                  <a16:creationId xmlns:a16="http://schemas.microsoft.com/office/drawing/2014/main" id="{2B3F4EFA-D2F9-38D8-79BC-986BE630803B}"/>
                </a:ext>
              </a:extLst>
            </p:cNvPr>
            <p:cNvSpPr txBox="1"/>
            <p:nvPr/>
          </p:nvSpPr>
          <p:spPr>
            <a:xfrm>
              <a:off x="2225265" y="661924"/>
              <a:ext cx="3239636" cy="42225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1" indent="0" algn="ctr" rtl="0">
                <a:lnSpc>
                  <a:spcPct val="14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501" name="Google Shape;501;p27">
            <a:extLst>
              <a:ext uri="{FF2B5EF4-FFF2-40B4-BE49-F238E27FC236}">
                <a16:creationId xmlns:a16="http://schemas.microsoft.com/office/drawing/2014/main" id="{75B5393D-48D1-81E5-F150-A8E78E4336A9}"/>
              </a:ext>
            </a:extLst>
          </p:cNvPr>
          <p:cNvGrpSpPr/>
          <p:nvPr/>
        </p:nvGrpSpPr>
        <p:grpSpPr>
          <a:xfrm>
            <a:off x="13909431" y="7979156"/>
            <a:ext cx="2429727" cy="846596"/>
            <a:chOff x="0" y="0"/>
            <a:chExt cx="3239636" cy="1128795"/>
          </a:xfrm>
        </p:grpSpPr>
        <p:sp>
          <p:nvSpPr>
            <p:cNvPr id="502" name="Google Shape;502;p27">
              <a:extLst>
                <a:ext uri="{FF2B5EF4-FFF2-40B4-BE49-F238E27FC236}">
                  <a16:creationId xmlns:a16="http://schemas.microsoft.com/office/drawing/2014/main" id="{9A5694DD-511C-91AE-66DE-C688E8E7B776}"/>
                </a:ext>
              </a:extLst>
            </p:cNvPr>
            <p:cNvSpPr txBox="1"/>
            <p:nvPr/>
          </p:nvSpPr>
          <p:spPr>
            <a:xfrm>
              <a:off x="0" y="0"/>
              <a:ext cx="3239636" cy="3504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3" name="Google Shape;503;p27">
              <a:extLst>
                <a:ext uri="{FF2B5EF4-FFF2-40B4-BE49-F238E27FC236}">
                  <a16:creationId xmlns:a16="http://schemas.microsoft.com/office/drawing/2014/main" id="{9C6A4305-44B9-A355-68BC-9CB0435E82F8}"/>
                </a:ext>
              </a:extLst>
            </p:cNvPr>
            <p:cNvSpPr txBox="1"/>
            <p:nvPr/>
          </p:nvSpPr>
          <p:spPr>
            <a:xfrm>
              <a:off x="0" y="706542"/>
              <a:ext cx="3239636" cy="42225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1" indent="0" algn="ctr" rtl="0">
                <a:lnSpc>
                  <a:spcPct val="14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cxnSp>
        <p:nvCxnSpPr>
          <p:cNvPr id="504" name="Google Shape;504;p27">
            <a:extLst>
              <a:ext uri="{FF2B5EF4-FFF2-40B4-BE49-F238E27FC236}">
                <a16:creationId xmlns:a16="http://schemas.microsoft.com/office/drawing/2014/main" id="{4452DE1E-832D-C664-F526-190B68ACC932}"/>
              </a:ext>
            </a:extLst>
          </p:cNvPr>
          <p:cNvCxnSpPr/>
          <p:nvPr/>
        </p:nvCxnSpPr>
        <p:spPr>
          <a:xfrm>
            <a:off x="421501" y="7729128"/>
            <a:ext cx="17445000" cy="0"/>
          </a:xfrm>
          <a:prstGeom prst="straightConnector1">
            <a:avLst/>
          </a:prstGeom>
          <a:noFill/>
          <a:ln w="139700" cap="flat" cmpd="sng">
            <a:solidFill>
              <a:srgbClr val="3A7D4D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505" name="Google Shape;505;p27">
            <a:extLst>
              <a:ext uri="{FF2B5EF4-FFF2-40B4-BE49-F238E27FC236}">
                <a16:creationId xmlns:a16="http://schemas.microsoft.com/office/drawing/2014/main" id="{78B8002A-3D4D-0762-07FD-DE5B5340C4A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43907" t="38149" r="43909" b="43247"/>
          <a:stretch/>
        </p:blipFill>
        <p:spPr>
          <a:xfrm>
            <a:off x="14736732" y="1028700"/>
            <a:ext cx="2227999" cy="1913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872D1BE-91B8-CCF0-2A3F-8DBE80EA8C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5463" y="3575770"/>
            <a:ext cx="3402945" cy="409439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833F2A9-375E-9888-00DD-034B2DC2BE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3207" y="3548098"/>
            <a:ext cx="2885921" cy="414756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F3D306A-F7A0-A75C-7C06-165D750CE87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4134" y="3572458"/>
            <a:ext cx="3402957" cy="4123206"/>
          </a:xfrm>
          <a:prstGeom prst="rect">
            <a:avLst/>
          </a:prstGeom>
        </p:spPr>
      </p:pic>
      <p:pic>
        <p:nvPicPr>
          <p:cNvPr id="9" name="Picture 8" descr="A map of canada with different countries/regions&#10;&#10;AI-generated content may be incorrect.">
            <a:extLst>
              <a:ext uri="{FF2B5EF4-FFF2-40B4-BE49-F238E27FC236}">
                <a16:creationId xmlns:a16="http://schemas.microsoft.com/office/drawing/2014/main" id="{26D9C4C6-C88D-0DEA-872A-33A46E26C1E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422809" y="3542167"/>
            <a:ext cx="4418603" cy="4153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8888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DB898"/>
        </a:solidFill>
        <a:effectLst/>
      </p:bgPr>
    </p:bg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8" name="Google Shape;188;p16"/>
          <p:cNvGrpSpPr/>
          <p:nvPr/>
        </p:nvGrpSpPr>
        <p:grpSpPr>
          <a:xfrm>
            <a:off x="421501" y="284296"/>
            <a:ext cx="17445111" cy="9573807"/>
            <a:chOff x="0" y="-38100"/>
            <a:chExt cx="4594567" cy="2521480"/>
          </a:xfrm>
        </p:grpSpPr>
        <p:sp>
          <p:nvSpPr>
            <p:cNvPr id="189" name="Google Shape;189;p16"/>
            <p:cNvSpPr/>
            <p:nvPr/>
          </p:nvSpPr>
          <p:spPr>
            <a:xfrm>
              <a:off x="0" y="0"/>
              <a:ext cx="4594567" cy="2483380"/>
            </a:xfrm>
            <a:custGeom>
              <a:avLst/>
              <a:gdLst/>
              <a:ahLst/>
              <a:cxnLst/>
              <a:rect l="l" t="t" r="r" b="b"/>
              <a:pathLst>
                <a:path w="4594567" h="2483380" extrusionOk="0">
                  <a:moveTo>
                    <a:pt x="4515149" y="0"/>
                  </a:moveTo>
                  <a:lnTo>
                    <a:pt x="79418" y="0"/>
                  </a:lnTo>
                  <a:cubicBezTo>
                    <a:pt x="79418" y="43699"/>
                    <a:pt x="44079" y="79418"/>
                    <a:pt x="0" y="79418"/>
                  </a:cubicBezTo>
                  <a:lnTo>
                    <a:pt x="0" y="2403962"/>
                  </a:lnTo>
                  <a:cubicBezTo>
                    <a:pt x="43699" y="2403962"/>
                    <a:pt x="79418" y="2439301"/>
                    <a:pt x="79418" y="2483380"/>
                  </a:cubicBezTo>
                  <a:lnTo>
                    <a:pt x="4515149" y="2483380"/>
                  </a:lnTo>
                  <a:cubicBezTo>
                    <a:pt x="4515149" y="2439681"/>
                    <a:pt x="4550488" y="2403962"/>
                    <a:pt x="4594567" y="2403962"/>
                  </a:cubicBezTo>
                  <a:lnTo>
                    <a:pt x="4594567" y="79418"/>
                  </a:lnTo>
                  <a:cubicBezTo>
                    <a:pt x="4550868" y="79418"/>
                    <a:pt x="4515149" y="44079"/>
                    <a:pt x="4515149" y="0"/>
                  </a:cubicBezTo>
                  <a:close/>
                </a:path>
              </a:pathLst>
            </a:custGeom>
            <a:solidFill>
              <a:srgbClr val="EBEAE6"/>
            </a:solidFill>
            <a:ln w="104775" cap="flat" cmpd="sng">
              <a:solidFill>
                <a:srgbClr val="3A7D4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16"/>
            <p:cNvSpPr txBox="1"/>
            <p:nvPr/>
          </p:nvSpPr>
          <p:spPr>
            <a:xfrm>
              <a:off x="38100" y="-38100"/>
              <a:ext cx="736500" cy="81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6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91" name="Google Shape;191;p16"/>
          <p:cNvPicPr preferRelativeResize="0"/>
          <p:nvPr/>
        </p:nvPicPr>
        <p:blipFill rotWithShape="1">
          <a:blip r:embed="rId3">
            <a:alphaModFix/>
          </a:blip>
          <a:srcRect l="33364" t="29868" r="33367" b="26137"/>
          <a:stretch/>
        </p:blipFill>
        <p:spPr>
          <a:xfrm>
            <a:off x="12455532" y="5851736"/>
            <a:ext cx="6084048" cy="452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4" name="Google Shape;194;p16"/>
          <p:cNvGrpSpPr/>
          <p:nvPr/>
        </p:nvGrpSpPr>
        <p:grpSpPr>
          <a:xfrm>
            <a:off x="835451" y="2033702"/>
            <a:ext cx="643050" cy="6219592"/>
            <a:chOff x="1921" y="0"/>
            <a:chExt cx="857400" cy="8292790"/>
          </a:xfrm>
        </p:grpSpPr>
        <p:grpSp>
          <p:nvGrpSpPr>
            <p:cNvPr id="195" name="Google Shape;195;p16"/>
            <p:cNvGrpSpPr/>
            <p:nvPr/>
          </p:nvGrpSpPr>
          <p:grpSpPr>
            <a:xfrm>
              <a:off x="1921" y="0"/>
              <a:ext cx="857400" cy="861243"/>
              <a:chOff x="1813" y="0"/>
              <a:chExt cx="809173" cy="812800"/>
            </a:xfrm>
          </p:grpSpPr>
          <p:sp>
            <p:nvSpPr>
              <p:cNvPr id="196" name="Google Shape;196;p16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7DB898"/>
              </a:solidFill>
              <a:ln w="104775" cap="flat" cmpd="sng">
                <a:solidFill>
                  <a:srgbClr val="3A7D4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Google Shape;197;p16"/>
              <p:cNvSpPr txBox="1"/>
              <p:nvPr/>
            </p:nvSpPr>
            <p:spPr>
              <a:xfrm>
                <a:off x="76200" y="0"/>
                <a:ext cx="660300" cy="736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96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8" name="Google Shape;198;p16"/>
            <p:cNvGrpSpPr/>
            <p:nvPr/>
          </p:nvGrpSpPr>
          <p:grpSpPr>
            <a:xfrm>
              <a:off x="1921" y="4954365"/>
              <a:ext cx="857400" cy="861243"/>
              <a:chOff x="1813" y="0"/>
              <a:chExt cx="809173" cy="812800"/>
            </a:xfrm>
          </p:grpSpPr>
          <p:sp>
            <p:nvSpPr>
              <p:cNvPr id="199" name="Google Shape;199;p16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7DB898"/>
              </a:solidFill>
              <a:ln w="104775" cap="flat" cmpd="sng">
                <a:solidFill>
                  <a:srgbClr val="3A7D4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Google Shape;200;p16"/>
              <p:cNvSpPr txBox="1"/>
              <p:nvPr/>
            </p:nvSpPr>
            <p:spPr>
              <a:xfrm>
                <a:off x="76200" y="0"/>
                <a:ext cx="660300" cy="736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96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1" name="Google Shape;201;p16"/>
            <p:cNvGrpSpPr/>
            <p:nvPr/>
          </p:nvGrpSpPr>
          <p:grpSpPr>
            <a:xfrm>
              <a:off x="1921" y="2477182"/>
              <a:ext cx="857400" cy="861243"/>
              <a:chOff x="1813" y="0"/>
              <a:chExt cx="809173" cy="812800"/>
            </a:xfrm>
          </p:grpSpPr>
          <p:sp>
            <p:nvSpPr>
              <p:cNvPr id="202" name="Google Shape;202;p16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7DB898"/>
              </a:solidFill>
              <a:ln w="104775" cap="flat" cmpd="sng">
                <a:solidFill>
                  <a:srgbClr val="3A7D4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" name="Google Shape;203;p16"/>
              <p:cNvSpPr txBox="1"/>
              <p:nvPr/>
            </p:nvSpPr>
            <p:spPr>
              <a:xfrm>
                <a:off x="76200" y="0"/>
                <a:ext cx="660300" cy="736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96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4" name="Google Shape;204;p16"/>
            <p:cNvGrpSpPr/>
            <p:nvPr/>
          </p:nvGrpSpPr>
          <p:grpSpPr>
            <a:xfrm>
              <a:off x="1921" y="7431547"/>
              <a:ext cx="857400" cy="861243"/>
              <a:chOff x="1813" y="0"/>
              <a:chExt cx="809173" cy="812800"/>
            </a:xfrm>
          </p:grpSpPr>
          <p:sp>
            <p:nvSpPr>
              <p:cNvPr id="205" name="Google Shape;205;p16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7DB898"/>
              </a:solidFill>
              <a:ln w="104775" cap="flat" cmpd="sng">
                <a:solidFill>
                  <a:srgbClr val="3A7D4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Google Shape;206;p16"/>
              <p:cNvSpPr txBox="1"/>
              <p:nvPr/>
            </p:nvSpPr>
            <p:spPr>
              <a:xfrm>
                <a:off x="76200" y="0"/>
                <a:ext cx="660300" cy="736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96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07" name="Google Shape;207;p16"/>
          <p:cNvSpPr txBox="1"/>
          <p:nvPr/>
        </p:nvSpPr>
        <p:spPr>
          <a:xfrm>
            <a:off x="10884646" y="2711651"/>
            <a:ext cx="6753300" cy="2849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1">
              <a:lnSpc>
                <a:spcPct val="161000"/>
              </a:lnSpc>
            </a:pPr>
            <a:r>
              <a:rPr lang="en-US" sz="2300" b="1" dirty="0">
                <a:solidFill>
                  <a:srgbClr val="3A7D4D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AQHI is Canada’s air quality health index.</a:t>
            </a:r>
          </a:p>
          <a:p>
            <a:pPr lvl="1">
              <a:lnSpc>
                <a:spcPct val="161000"/>
              </a:lnSpc>
            </a:pPr>
            <a:r>
              <a:rPr lang="en-US" sz="2300" b="1" dirty="0">
                <a:solidFill>
                  <a:srgbClr val="3A7D4D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It measures short-term health risks based on:</a:t>
            </a:r>
          </a:p>
          <a:p>
            <a:pPr lvl="1">
              <a:lnSpc>
                <a:spcPct val="161000"/>
              </a:lnSpc>
            </a:pPr>
            <a:r>
              <a:rPr lang="en-US" sz="2300" b="1" dirty="0">
                <a:solidFill>
                  <a:srgbClr val="3A7D4D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• Ozone (O₃)</a:t>
            </a:r>
          </a:p>
          <a:p>
            <a:pPr lvl="1">
              <a:lnSpc>
                <a:spcPct val="161000"/>
              </a:lnSpc>
            </a:pPr>
            <a:r>
              <a:rPr lang="en-US" sz="2300" b="1" dirty="0">
                <a:solidFill>
                  <a:srgbClr val="3A7D4D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• Fine Particulate Matter (PM2.5)</a:t>
            </a:r>
          </a:p>
          <a:p>
            <a:pPr lvl="1">
              <a:lnSpc>
                <a:spcPct val="161000"/>
              </a:lnSpc>
            </a:pPr>
            <a:r>
              <a:rPr lang="en-US" sz="2300" b="1" dirty="0">
                <a:solidFill>
                  <a:srgbClr val="3A7D4D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• Nitrogen Dioxide (NO₂)</a:t>
            </a:r>
            <a:endParaRPr dirty="0"/>
          </a:p>
        </p:txBody>
      </p:sp>
      <p:sp>
        <p:nvSpPr>
          <p:cNvPr id="208" name="Google Shape;208;p16"/>
          <p:cNvSpPr txBox="1"/>
          <p:nvPr/>
        </p:nvSpPr>
        <p:spPr>
          <a:xfrm>
            <a:off x="10762696" y="1475887"/>
            <a:ext cx="6997200" cy="1314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2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99" b="1" dirty="0">
                <a:solidFill>
                  <a:srgbClr val="3A7D4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Sriracha"/>
              </a:rPr>
              <a:t>What is AQHI ?</a:t>
            </a:r>
            <a:endParaRPr dirty="0"/>
          </a:p>
        </p:txBody>
      </p:sp>
      <p:sp>
        <p:nvSpPr>
          <p:cNvPr id="5" name="Google Shape;164;p15">
            <a:extLst>
              <a:ext uri="{FF2B5EF4-FFF2-40B4-BE49-F238E27FC236}">
                <a16:creationId xmlns:a16="http://schemas.microsoft.com/office/drawing/2014/main" id="{EA47A9F0-407A-E91D-B9CF-B77225960E57}"/>
              </a:ext>
            </a:extLst>
          </p:cNvPr>
          <p:cNvSpPr txBox="1"/>
          <p:nvPr/>
        </p:nvSpPr>
        <p:spPr>
          <a:xfrm>
            <a:off x="2003120" y="532835"/>
            <a:ext cx="3539101" cy="331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96777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Picture 6" descr="A chart with text on it&#10;&#10;AI-generated content may be incorrect.">
            <a:extLst>
              <a:ext uri="{FF2B5EF4-FFF2-40B4-BE49-F238E27FC236}">
                <a16:creationId xmlns:a16="http://schemas.microsoft.com/office/drawing/2014/main" id="{2F1BF36A-28C7-8818-B4B7-133308BABA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4840" y="800657"/>
            <a:ext cx="8494274" cy="840233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DB898"/>
        </a:solidFill>
        <a:effectLst/>
      </p:bgPr>
    </p:bg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3" name="Google Shape;273;p19"/>
          <p:cNvGrpSpPr/>
          <p:nvPr/>
        </p:nvGrpSpPr>
        <p:grpSpPr>
          <a:xfrm>
            <a:off x="421501" y="319064"/>
            <a:ext cx="17444998" cy="9429085"/>
            <a:chOff x="0" y="-339405"/>
            <a:chExt cx="23259997" cy="12572113"/>
          </a:xfrm>
        </p:grpSpPr>
        <p:grpSp>
          <p:nvGrpSpPr>
            <p:cNvPr id="274" name="Google Shape;274;p19"/>
            <p:cNvGrpSpPr/>
            <p:nvPr/>
          </p:nvGrpSpPr>
          <p:grpSpPr>
            <a:xfrm>
              <a:off x="0" y="-339405"/>
              <a:ext cx="23259997" cy="12572113"/>
              <a:chOff x="0" y="-67043"/>
              <a:chExt cx="4594567" cy="2483380"/>
            </a:xfrm>
          </p:grpSpPr>
          <p:sp>
            <p:nvSpPr>
              <p:cNvPr id="275" name="Google Shape;275;p19"/>
              <p:cNvSpPr/>
              <p:nvPr/>
            </p:nvSpPr>
            <p:spPr>
              <a:xfrm>
                <a:off x="0" y="-67043"/>
                <a:ext cx="4594567" cy="2483380"/>
              </a:xfrm>
              <a:custGeom>
                <a:avLst/>
                <a:gdLst/>
                <a:ahLst/>
                <a:cxnLst/>
                <a:rect l="l" t="t" r="r" b="b"/>
                <a:pathLst>
                  <a:path w="4594567" h="2483380" extrusionOk="0">
                    <a:moveTo>
                      <a:pt x="4515149" y="0"/>
                    </a:moveTo>
                    <a:lnTo>
                      <a:pt x="79418" y="0"/>
                    </a:lnTo>
                    <a:cubicBezTo>
                      <a:pt x="79418" y="43699"/>
                      <a:pt x="44079" y="79418"/>
                      <a:pt x="0" y="79418"/>
                    </a:cubicBezTo>
                    <a:lnTo>
                      <a:pt x="0" y="2403962"/>
                    </a:lnTo>
                    <a:cubicBezTo>
                      <a:pt x="43699" y="2403962"/>
                      <a:pt x="79418" y="2439301"/>
                      <a:pt x="79418" y="2483380"/>
                    </a:cubicBezTo>
                    <a:lnTo>
                      <a:pt x="4515149" y="2483380"/>
                    </a:lnTo>
                    <a:cubicBezTo>
                      <a:pt x="4515149" y="2439681"/>
                      <a:pt x="4550488" y="2403962"/>
                      <a:pt x="4594567" y="2403962"/>
                    </a:cubicBezTo>
                    <a:lnTo>
                      <a:pt x="4594567" y="79418"/>
                    </a:lnTo>
                    <a:cubicBezTo>
                      <a:pt x="4550868" y="79418"/>
                      <a:pt x="4515149" y="44079"/>
                      <a:pt x="4515149" y="0"/>
                    </a:cubicBezTo>
                    <a:close/>
                  </a:path>
                </a:pathLst>
              </a:custGeom>
              <a:solidFill>
                <a:srgbClr val="EBEAE6"/>
              </a:solidFill>
              <a:ln w="104775" cap="flat" cmpd="sng">
                <a:solidFill>
                  <a:srgbClr val="3A7D4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76" name="Google Shape;276;p19"/>
              <p:cNvSpPr txBox="1"/>
              <p:nvPr/>
            </p:nvSpPr>
            <p:spPr>
              <a:xfrm>
                <a:off x="38100" y="-38100"/>
                <a:ext cx="736600" cy="81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96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77" name="Google Shape;277;p19"/>
            <p:cNvGrpSpPr/>
            <p:nvPr/>
          </p:nvGrpSpPr>
          <p:grpSpPr>
            <a:xfrm>
              <a:off x="551933" y="2139659"/>
              <a:ext cx="857404" cy="861247"/>
              <a:chOff x="1813" y="0"/>
              <a:chExt cx="809173" cy="812800"/>
            </a:xfrm>
          </p:grpSpPr>
          <p:sp>
            <p:nvSpPr>
              <p:cNvPr id="278" name="Google Shape;278;p19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7DB898"/>
              </a:solidFill>
              <a:ln w="104775" cap="flat" cmpd="sng">
                <a:solidFill>
                  <a:srgbClr val="3A7D4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Google Shape;279;p19"/>
              <p:cNvSpPr txBox="1"/>
              <p:nvPr/>
            </p:nvSpPr>
            <p:spPr>
              <a:xfrm>
                <a:off x="76200" y="0"/>
                <a:ext cx="660400" cy="736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96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80" name="Google Shape;280;p19"/>
            <p:cNvGrpSpPr/>
            <p:nvPr/>
          </p:nvGrpSpPr>
          <p:grpSpPr>
            <a:xfrm>
              <a:off x="551933" y="7094024"/>
              <a:ext cx="857404" cy="861247"/>
              <a:chOff x="1813" y="0"/>
              <a:chExt cx="809173" cy="812800"/>
            </a:xfrm>
          </p:grpSpPr>
          <p:sp>
            <p:nvSpPr>
              <p:cNvPr id="281" name="Google Shape;281;p19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7DB898"/>
              </a:solidFill>
              <a:ln w="104775" cap="flat" cmpd="sng">
                <a:solidFill>
                  <a:srgbClr val="3A7D4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Google Shape;282;p19"/>
              <p:cNvSpPr txBox="1"/>
              <p:nvPr/>
            </p:nvSpPr>
            <p:spPr>
              <a:xfrm>
                <a:off x="76200" y="0"/>
                <a:ext cx="660400" cy="736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96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83" name="Google Shape;283;p19"/>
            <p:cNvGrpSpPr/>
            <p:nvPr/>
          </p:nvGrpSpPr>
          <p:grpSpPr>
            <a:xfrm>
              <a:off x="551933" y="4616842"/>
              <a:ext cx="857404" cy="861247"/>
              <a:chOff x="1813" y="0"/>
              <a:chExt cx="809173" cy="812800"/>
            </a:xfrm>
          </p:grpSpPr>
          <p:sp>
            <p:nvSpPr>
              <p:cNvPr id="284" name="Google Shape;284;p19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7DB898"/>
              </a:solidFill>
              <a:ln w="104775" cap="flat" cmpd="sng">
                <a:solidFill>
                  <a:srgbClr val="3A7D4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Google Shape;285;p19"/>
              <p:cNvSpPr txBox="1"/>
              <p:nvPr/>
            </p:nvSpPr>
            <p:spPr>
              <a:xfrm>
                <a:off x="76200" y="0"/>
                <a:ext cx="660400" cy="736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96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86" name="Google Shape;286;p19"/>
            <p:cNvGrpSpPr/>
            <p:nvPr/>
          </p:nvGrpSpPr>
          <p:grpSpPr>
            <a:xfrm>
              <a:off x="551933" y="9571206"/>
              <a:ext cx="857404" cy="861247"/>
              <a:chOff x="1813" y="0"/>
              <a:chExt cx="809173" cy="812800"/>
            </a:xfrm>
          </p:grpSpPr>
          <p:sp>
            <p:nvSpPr>
              <p:cNvPr id="287" name="Google Shape;287;p19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7DB898"/>
              </a:solidFill>
              <a:ln w="104775" cap="flat" cmpd="sng">
                <a:solidFill>
                  <a:srgbClr val="3A7D4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Google Shape;288;p19"/>
              <p:cNvSpPr txBox="1"/>
              <p:nvPr/>
            </p:nvSpPr>
            <p:spPr>
              <a:xfrm>
                <a:off x="76200" y="0"/>
                <a:ext cx="660400" cy="736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96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id="289" name="Google Shape;289;p19" descr="Partial sun with solid fill"/>
          <p:cNvPicPr preferRelativeResize="0"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133018" y="3714239"/>
            <a:ext cx="2361702" cy="236170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19" descr="Marker with solid fill"/>
          <p:cNvPicPr preferRelativeResize="0"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8405572" y="3818971"/>
            <a:ext cx="2361702" cy="236170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19" descr="Alarm clock with solid fill"/>
          <p:cNvPicPr preferRelativeResize="0"/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13678127" y="3818972"/>
            <a:ext cx="2412363" cy="225697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19"/>
          <p:cNvSpPr txBox="1"/>
          <p:nvPr/>
        </p:nvSpPr>
        <p:spPr>
          <a:xfrm>
            <a:off x="2729511" y="1449353"/>
            <a:ext cx="13781478" cy="1163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22003"/>
              </a:lnSpc>
            </a:pPr>
            <a:r>
              <a:rPr lang="en-US" sz="6199" b="1" i="0" u="none" strike="noStrike" cap="none" dirty="0">
                <a:solidFill>
                  <a:srgbClr val="3A7D4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Sriracha"/>
              </a:rPr>
              <a:t> </a:t>
            </a:r>
            <a:r>
              <a:rPr lang="en-US" sz="6199" b="1" dirty="0">
                <a:solidFill>
                  <a:srgbClr val="3A7D4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Sriracha"/>
              </a:rPr>
              <a:t>Factors That Affect AQHI Levels</a:t>
            </a:r>
            <a:endParaRPr dirty="0"/>
          </a:p>
        </p:txBody>
      </p:sp>
      <p:grpSp>
        <p:nvGrpSpPr>
          <p:cNvPr id="293" name="Google Shape;293;p19"/>
          <p:cNvGrpSpPr/>
          <p:nvPr/>
        </p:nvGrpSpPr>
        <p:grpSpPr>
          <a:xfrm>
            <a:off x="2021807" y="6493047"/>
            <a:ext cx="4584151" cy="935080"/>
            <a:chOff x="0" y="0"/>
            <a:chExt cx="6112200" cy="1246773"/>
          </a:xfrm>
        </p:grpSpPr>
        <p:sp>
          <p:nvSpPr>
            <p:cNvPr id="294" name="Google Shape;294;p19"/>
            <p:cNvSpPr txBox="1"/>
            <p:nvPr/>
          </p:nvSpPr>
          <p:spPr>
            <a:xfrm>
              <a:off x="0" y="0"/>
              <a:ext cx="6112165" cy="8260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 algn="ctr">
                <a:lnSpc>
                  <a:spcPct val="122000"/>
                </a:lnSpc>
              </a:pPr>
              <a:r>
                <a:rPr lang="en-US" sz="3300" b="1" dirty="0">
                  <a:solidFill>
                    <a:srgbClr val="3A7D4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Sriracha"/>
                </a:rPr>
                <a:t>Weather Conditions</a:t>
              </a:r>
              <a:endParaRPr dirty="0"/>
            </a:p>
          </p:txBody>
        </p:sp>
        <p:sp>
          <p:nvSpPr>
            <p:cNvPr id="295" name="Google Shape;295;p19"/>
            <p:cNvSpPr txBox="1"/>
            <p:nvPr/>
          </p:nvSpPr>
          <p:spPr>
            <a:xfrm>
              <a:off x="0" y="902064"/>
              <a:ext cx="6112200" cy="3447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1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296" name="Google Shape;296;p19"/>
          <p:cNvGrpSpPr/>
          <p:nvPr/>
        </p:nvGrpSpPr>
        <p:grpSpPr>
          <a:xfrm>
            <a:off x="7328188" y="6493047"/>
            <a:ext cx="4584151" cy="935080"/>
            <a:chOff x="0" y="0"/>
            <a:chExt cx="6112200" cy="1246773"/>
          </a:xfrm>
        </p:grpSpPr>
        <p:sp>
          <p:nvSpPr>
            <p:cNvPr id="297" name="Google Shape;297;p19"/>
            <p:cNvSpPr txBox="1"/>
            <p:nvPr/>
          </p:nvSpPr>
          <p:spPr>
            <a:xfrm>
              <a:off x="0" y="0"/>
              <a:ext cx="6112165" cy="8260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 algn="ctr">
                <a:lnSpc>
                  <a:spcPct val="122000"/>
                </a:lnSpc>
              </a:pPr>
              <a:r>
                <a:rPr lang="en-US" sz="3300" b="1" dirty="0">
                  <a:solidFill>
                    <a:srgbClr val="3A7D4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Sriracha"/>
                </a:rPr>
                <a:t>Geographic Location</a:t>
              </a:r>
              <a:endParaRPr dirty="0"/>
            </a:p>
          </p:txBody>
        </p:sp>
        <p:sp>
          <p:nvSpPr>
            <p:cNvPr id="298" name="Google Shape;298;p19"/>
            <p:cNvSpPr txBox="1"/>
            <p:nvPr/>
          </p:nvSpPr>
          <p:spPr>
            <a:xfrm>
              <a:off x="0" y="902064"/>
              <a:ext cx="6112200" cy="3447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1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299" name="Google Shape;299;p19"/>
          <p:cNvGrpSpPr/>
          <p:nvPr/>
        </p:nvGrpSpPr>
        <p:grpSpPr>
          <a:xfrm>
            <a:off x="12634569" y="6493047"/>
            <a:ext cx="4584151" cy="1101280"/>
            <a:chOff x="0" y="0"/>
            <a:chExt cx="6112200" cy="1468373"/>
          </a:xfrm>
        </p:grpSpPr>
        <p:sp>
          <p:nvSpPr>
            <p:cNvPr id="300" name="Google Shape;300;p19"/>
            <p:cNvSpPr txBox="1"/>
            <p:nvPr/>
          </p:nvSpPr>
          <p:spPr>
            <a:xfrm>
              <a:off x="0" y="0"/>
              <a:ext cx="6112165" cy="8260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 algn="ctr">
                <a:lnSpc>
                  <a:spcPct val="122000"/>
                </a:lnSpc>
              </a:pPr>
              <a:r>
                <a:rPr lang="en-US" sz="3300" b="1" i="0" u="none" strike="noStrike" cap="none" dirty="0">
                  <a:solidFill>
                    <a:srgbClr val="3A7D4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Sriracha"/>
                </a:rPr>
                <a:t> </a:t>
              </a:r>
              <a:r>
                <a:rPr lang="en-US" sz="3300" b="1" dirty="0">
                  <a:solidFill>
                    <a:srgbClr val="3A7D4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Sriracha"/>
                </a:rPr>
                <a:t>Time</a:t>
              </a:r>
              <a:endParaRPr dirty="0"/>
            </a:p>
          </p:txBody>
        </p:sp>
        <p:sp>
          <p:nvSpPr>
            <p:cNvPr id="301" name="Google Shape;301;p19"/>
            <p:cNvSpPr txBox="1"/>
            <p:nvPr/>
          </p:nvSpPr>
          <p:spPr>
            <a:xfrm>
              <a:off x="0" y="902064"/>
              <a:ext cx="6112200" cy="5663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1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00" b="1" i="0" u="none" strike="noStrike" cap="none" dirty="0">
                  <a:solidFill>
                    <a:srgbClr val="3A7D4D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 </a:t>
              </a:r>
              <a:endParaRPr dirty="0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DB898"/>
        </a:solidFill>
        <a:effectLst/>
      </p:bgPr>
    </p:bg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2" name="Google Shape;472;p27"/>
          <p:cNvGrpSpPr/>
          <p:nvPr/>
        </p:nvGrpSpPr>
        <p:grpSpPr>
          <a:xfrm>
            <a:off x="421501" y="284297"/>
            <a:ext cx="17444998" cy="9573746"/>
            <a:chOff x="0" y="-38100"/>
            <a:chExt cx="4594567" cy="2521480"/>
          </a:xfrm>
        </p:grpSpPr>
        <p:sp>
          <p:nvSpPr>
            <p:cNvPr id="473" name="Google Shape;473;p27"/>
            <p:cNvSpPr/>
            <p:nvPr/>
          </p:nvSpPr>
          <p:spPr>
            <a:xfrm>
              <a:off x="0" y="0"/>
              <a:ext cx="4594567" cy="2483380"/>
            </a:xfrm>
            <a:custGeom>
              <a:avLst/>
              <a:gdLst/>
              <a:ahLst/>
              <a:cxnLst/>
              <a:rect l="l" t="t" r="r" b="b"/>
              <a:pathLst>
                <a:path w="4594567" h="2483380" extrusionOk="0">
                  <a:moveTo>
                    <a:pt x="4515149" y="0"/>
                  </a:moveTo>
                  <a:lnTo>
                    <a:pt x="79418" y="0"/>
                  </a:lnTo>
                  <a:cubicBezTo>
                    <a:pt x="79418" y="43699"/>
                    <a:pt x="44079" y="79418"/>
                    <a:pt x="0" y="79418"/>
                  </a:cubicBezTo>
                  <a:lnTo>
                    <a:pt x="0" y="2403962"/>
                  </a:lnTo>
                  <a:cubicBezTo>
                    <a:pt x="43699" y="2403962"/>
                    <a:pt x="79418" y="2439301"/>
                    <a:pt x="79418" y="2483380"/>
                  </a:cubicBezTo>
                  <a:lnTo>
                    <a:pt x="4515149" y="2483380"/>
                  </a:lnTo>
                  <a:cubicBezTo>
                    <a:pt x="4515149" y="2439681"/>
                    <a:pt x="4550488" y="2403962"/>
                    <a:pt x="4594567" y="2403962"/>
                  </a:cubicBezTo>
                  <a:lnTo>
                    <a:pt x="4594567" y="79418"/>
                  </a:lnTo>
                  <a:cubicBezTo>
                    <a:pt x="4550868" y="79418"/>
                    <a:pt x="4515149" y="44079"/>
                    <a:pt x="4515149" y="0"/>
                  </a:cubicBezTo>
                  <a:close/>
                </a:path>
              </a:pathLst>
            </a:custGeom>
            <a:solidFill>
              <a:srgbClr val="EBEAE6"/>
            </a:solidFill>
            <a:ln w="104775" cap="flat" cmpd="sng">
              <a:solidFill>
                <a:srgbClr val="3A7D4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27"/>
            <p:cNvSpPr txBox="1"/>
            <p:nvPr/>
          </p:nvSpPr>
          <p:spPr>
            <a:xfrm>
              <a:off x="38100" y="-38100"/>
              <a:ext cx="736600" cy="81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6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476" name="Google Shape;476;p27"/>
          <p:cNvCxnSpPr/>
          <p:nvPr/>
        </p:nvCxnSpPr>
        <p:spPr>
          <a:xfrm>
            <a:off x="421501" y="3513494"/>
            <a:ext cx="17444925" cy="0"/>
          </a:xfrm>
          <a:prstGeom prst="straightConnector1">
            <a:avLst/>
          </a:prstGeom>
          <a:noFill/>
          <a:ln w="139700" cap="flat" cmpd="sng">
            <a:solidFill>
              <a:srgbClr val="3A7D4D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80" name="Google Shape;480;p27"/>
          <p:cNvCxnSpPr/>
          <p:nvPr/>
        </p:nvCxnSpPr>
        <p:spPr>
          <a:xfrm rot="-5400000">
            <a:off x="9107095" y="5661417"/>
            <a:ext cx="4202360" cy="0"/>
          </a:xfrm>
          <a:prstGeom prst="straightConnector1">
            <a:avLst/>
          </a:prstGeom>
          <a:noFill/>
          <a:ln w="139700" cap="flat" cmpd="sng">
            <a:solidFill>
              <a:srgbClr val="3A7D4D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81" name="Google Shape;481;p27"/>
          <p:cNvCxnSpPr/>
          <p:nvPr/>
        </p:nvCxnSpPr>
        <p:spPr>
          <a:xfrm rot="-5400000">
            <a:off x="1759408" y="5580700"/>
            <a:ext cx="4202360" cy="0"/>
          </a:xfrm>
          <a:prstGeom prst="straightConnector1">
            <a:avLst/>
          </a:prstGeom>
          <a:noFill/>
          <a:ln w="139700" cap="flat" cmpd="sng">
            <a:solidFill>
              <a:srgbClr val="3A7D4D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82" name="Google Shape;482;p27"/>
          <p:cNvCxnSpPr/>
          <p:nvPr/>
        </p:nvCxnSpPr>
        <p:spPr>
          <a:xfrm rot="-5400000">
            <a:off x="5408392" y="5614674"/>
            <a:ext cx="4202360" cy="0"/>
          </a:xfrm>
          <a:prstGeom prst="straightConnector1">
            <a:avLst/>
          </a:prstGeom>
          <a:noFill/>
          <a:ln w="139700" cap="flat" cmpd="sng">
            <a:solidFill>
              <a:srgbClr val="3A7D4D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489" name="Google Shape;489;p27"/>
          <p:cNvGrpSpPr/>
          <p:nvPr/>
        </p:nvGrpSpPr>
        <p:grpSpPr>
          <a:xfrm>
            <a:off x="3363167" y="1315180"/>
            <a:ext cx="11561666" cy="1389974"/>
            <a:chOff x="0" y="-9525"/>
            <a:chExt cx="15415554" cy="1853298"/>
          </a:xfrm>
        </p:grpSpPr>
        <p:sp>
          <p:nvSpPr>
            <p:cNvPr id="490" name="Google Shape;490;p27"/>
            <p:cNvSpPr txBox="1"/>
            <p:nvPr/>
          </p:nvSpPr>
          <p:spPr>
            <a:xfrm>
              <a:off x="0" y="-9525"/>
              <a:ext cx="15415554" cy="15517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 algn="ctr">
                <a:lnSpc>
                  <a:spcPct val="122003"/>
                </a:lnSpc>
              </a:pPr>
              <a:r>
                <a:rPr lang="en-US" sz="6199" b="1" i="0" u="none" strike="noStrike" cap="none" dirty="0">
                  <a:solidFill>
                    <a:srgbClr val="3A7D4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Sriracha"/>
                </a:rPr>
                <a:t> </a:t>
              </a:r>
              <a:r>
                <a:rPr lang="en-US" sz="6199" b="1" dirty="0">
                  <a:solidFill>
                    <a:srgbClr val="3A7D4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Sriracha"/>
                </a:rPr>
                <a:t>Five Canadian Cities Analyzed</a:t>
              </a:r>
              <a:endParaRPr dirty="0"/>
            </a:p>
          </p:txBody>
        </p:sp>
        <p:sp>
          <p:nvSpPr>
            <p:cNvPr id="491" name="Google Shape;491;p27"/>
            <p:cNvSpPr txBox="1"/>
            <p:nvPr/>
          </p:nvSpPr>
          <p:spPr>
            <a:xfrm>
              <a:off x="0" y="1421520"/>
              <a:ext cx="15415554" cy="42225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1" indent="0" algn="ctr" rtl="0">
                <a:lnSpc>
                  <a:spcPct val="14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492" name="Google Shape;492;p27"/>
          <p:cNvGrpSpPr/>
          <p:nvPr/>
        </p:nvGrpSpPr>
        <p:grpSpPr>
          <a:xfrm>
            <a:off x="749687" y="7970352"/>
            <a:ext cx="3439622" cy="855400"/>
            <a:chOff x="-1346527" y="-11739"/>
            <a:chExt cx="4586163" cy="1140534"/>
          </a:xfrm>
        </p:grpSpPr>
        <p:sp>
          <p:nvSpPr>
            <p:cNvPr id="493" name="Google Shape;493;p27"/>
            <p:cNvSpPr txBox="1"/>
            <p:nvPr/>
          </p:nvSpPr>
          <p:spPr>
            <a:xfrm>
              <a:off x="-1346527" y="-11739"/>
              <a:ext cx="3239636" cy="8260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300" b="1" i="0" u="none" strike="noStrike" cap="none" dirty="0">
                  <a:solidFill>
                    <a:srgbClr val="3A7D4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Sriracha"/>
                </a:rPr>
                <a:t>Calgary</a:t>
              </a:r>
              <a:endParaRPr dirty="0"/>
            </a:p>
          </p:txBody>
        </p:sp>
        <p:sp>
          <p:nvSpPr>
            <p:cNvPr id="494" name="Google Shape;494;p27"/>
            <p:cNvSpPr txBox="1"/>
            <p:nvPr/>
          </p:nvSpPr>
          <p:spPr>
            <a:xfrm>
              <a:off x="0" y="706542"/>
              <a:ext cx="3239636" cy="42225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1" indent="0" algn="ctr" rtl="0">
                <a:lnSpc>
                  <a:spcPct val="14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495" name="Google Shape;495;p27"/>
          <p:cNvGrpSpPr/>
          <p:nvPr/>
        </p:nvGrpSpPr>
        <p:grpSpPr>
          <a:xfrm>
            <a:off x="4466377" y="7970351"/>
            <a:ext cx="3675426" cy="855974"/>
            <a:chOff x="-1660932" y="-6321"/>
            <a:chExt cx="4900568" cy="1141299"/>
          </a:xfrm>
        </p:grpSpPr>
        <p:sp>
          <p:nvSpPr>
            <p:cNvPr id="496" name="Google Shape;496;p27"/>
            <p:cNvSpPr txBox="1"/>
            <p:nvPr/>
          </p:nvSpPr>
          <p:spPr>
            <a:xfrm>
              <a:off x="-1660932" y="-6321"/>
              <a:ext cx="3239636" cy="8260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300" b="1" i="0" u="none" strike="noStrike" cap="none" dirty="0">
                  <a:solidFill>
                    <a:srgbClr val="3A7D4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Sriracha"/>
                </a:rPr>
                <a:t>Vancouver</a:t>
              </a:r>
              <a:endParaRPr dirty="0"/>
            </a:p>
          </p:txBody>
        </p:sp>
        <p:sp>
          <p:nvSpPr>
            <p:cNvPr id="497" name="Google Shape;497;p27"/>
            <p:cNvSpPr txBox="1"/>
            <p:nvPr/>
          </p:nvSpPr>
          <p:spPr>
            <a:xfrm>
              <a:off x="0" y="712724"/>
              <a:ext cx="3239636" cy="4222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1" indent="0" algn="ctr" rtl="0">
                <a:lnSpc>
                  <a:spcPct val="14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498" name="Google Shape;498;p27"/>
          <p:cNvGrpSpPr/>
          <p:nvPr/>
        </p:nvGrpSpPr>
        <p:grpSpPr>
          <a:xfrm>
            <a:off x="8153324" y="7929935"/>
            <a:ext cx="4087156" cy="895817"/>
            <a:chOff x="-2209905" y="-65628"/>
            <a:chExt cx="5449541" cy="1194423"/>
          </a:xfrm>
        </p:grpSpPr>
        <p:sp>
          <p:nvSpPr>
            <p:cNvPr id="499" name="Google Shape;499;p27"/>
            <p:cNvSpPr txBox="1"/>
            <p:nvPr/>
          </p:nvSpPr>
          <p:spPr>
            <a:xfrm>
              <a:off x="-2209905" y="-65628"/>
              <a:ext cx="3239636" cy="8260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300" b="1" i="0" u="none" strike="noStrike" cap="none" dirty="0">
                  <a:solidFill>
                    <a:srgbClr val="3A7D4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Sriracha"/>
                </a:rPr>
                <a:t>Victoria</a:t>
              </a:r>
              <a:endParaRPr dirty="0"/>
            </a:p>
          </p:txBody>
        </p:sp>
        <p:sp>
          <p:nvSpPr>
            <p:cNvPr id="500" name="Google Shape;500;p27"/>
            <p:cNvSpPr txBox="1"/>
            <p:nvPr/>
          </p:nvSpPr>
          <p:spPr>
            <a:xfrm>
              <a:off x="0" y="706542"/>
              <a:ext cx="3239636" cy="42225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1" indent="0" algn="ctr" rtl="0">
                <a:lnSpc>
                  <a:spcPct val="14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501" name="Google Shape;501;p27"/>
          <p:cNvGrpSpPr/>
          <p:nvPr/>
        </p:nvGrpSpPr>
        <p:grpSpPr>
          <a:xfrm>
            <a:off x="11538161" y="7961825"/>
            <a:ext cx="4800997" cy="863927"/>
            <a:chOff x="-3161693" y="-23108"/>
            <a:chExt cx="6401329" cy="1151903"/>
          </a:xfrm>
        </p:grpSpPr>
        <p:sp>
          <p:nvSpPr>
            <p:cNvPr id="502" name="Google Shape;502;p27"/>
            <p:cNvSpPr txBox="1"/>
            <p:nvPr/>
          </p:nvSpPr>
          <p:spPr>
            <a:xfrm>
              <a:off x="-3161693" y="-23108"/>
              <a:ext cx="3239636" cy="8260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300" b="1" i="0" u="none" strike="noStrike" cap="none" dirty="0">
                  <a:solidFill>
                    <a:srgbClr val="3A7D4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Sriracha"/>
                </a:rPr>
                <a:t>Toronto</a:t>
              </a:r>
              <a:endParaRPr dirty="0"/>
            </a:p>
          </p:txBody>
        </p:sp>
        <p:sp>
          <p:nvSpPr>
            <p:cNvPr id="503" name="Google Shape;503;p27"/>
            <p:cNvSpPr txBox="1"/>
            <p:nvPr/>
          </p:nvSpPr>
          <p:spPr>
            <a:xfrm>
              <a:off x="0" y="706542"/>
              <a:ext cx="3239636" cy="42225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1" indent="0" algn="ctr" rtl="0">
                <a:lnSpc>
                  <a:spcPct val="14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cxnSp>
        <p:nvCxnSpPr>
          <p:cNvPr id="504" name="Google Shape;504;p27"/>
          <p:cNvCxnSpPr/>
          <p:nvPr/>
        </p:nvCxnSpPr>
        <p:spPr>
          <a:xfrm>
            <a:off x="421501" y="7729128"/>
            <a:ext cx="17445000" cy="0"/>
          </a:xfrm>
          <a:prstGeom prst="straightConnector1">
            <a:avLst/>
          </a:prstGeom>
          <a:noFill/>
          <a:ln w="139700" cap="flat" cmpd="sng">
            <a:solidFill>
              <a:srgbClr val="3A7D4D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3" name="Picture 2" descr="A city skyline with a bridge and trees&#10;&#10;AI-generated content may be incorrect.">
            <a:extLst>
              <a:ext uri="{FF2B5EF4-FFF2-40B4-BE49-F238E27FC236}">
                <a16:creationId xmlns:a16="http://schemas.microsoft.com/office/drawing/2014/main" id="{8B8D2266-E305-DD97-D090-EE2080850B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500" y="3513494"/>
            <a:ext cx="3439088" cy="4202360"/>
          </a:xfrm>
          <a:prstGeom prst="rect">
            <a:avLst/>
          </a:prstGeom>
        </p:spPr>
      </p:pic>
      <p:pic>
        <p:nvPicPr>
          <p:cNvPr id="5" name="Picture 4" descr="A city with many tall buildings and boats in the water&#10;&#10;AI-generated content may be incorrect.">
            <a:extLst>
              <a:ext uri="{FF2B5EF4-FFF2-40B4-BE49-F238E27FC236}">
                <a16:creationId xmlns:a16="http://schemas.microsoft.com/office/drawing/2014/main" id="{35544CC9-7CEF-8FF9-0D92-52109145AD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9665" y="3560237"/>
            <a:ext cx="3563153" cy="4153965"/>
          </a:xfrm>
          <a:prstGeom prst="rect">
            <a:avLst/>
          </a:prstGeom>
        </p:spPr>
      </p:pic>
      <p:pic>
        <p:nvPicPr>
          <p:cNvPr id="7" name="Picture 6" descr="A large building with many boats in the water with The Empress in the background&#10;&#10;AI-generated content may be incorrect.">
            <a:extLst>
              <a:ext uri="{FF2B5EF4-FFF2-40B4-BE49-F238E27FC236}">
                <a16:creationId xmlns:a16="http://schemas.microsoft.com/office/drawing/2014/main" id="{C4F03FC1-B5E5-F038-4412-58FA12D90A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77934" y="3566733"/>
            <a:ext cx="3580509" cy="4115147"/>
          </a:xfrm>
          <a:prstGeom prst="rect">
            <a:avLst/>
          </a:prstGeom>
        </p:spPr>
      </p:pic>
      <p:pic>
        <p:nvPicPr>
          <p:cNvPr id="9" name="Picture 8" descr="A large sign over a body of water&#10;&#10;AI-generated content may be incorrect.">
            <a:extLst>
              <a:ext uri="{FF2B5EF4-FFF2-40B4-BE49-F238E27FC236}">
                <a16:creationId xmlns:a16="http://schemas.microsoft.com/office/drawing/2014/main" id="{DE63D233-D215-B505-ED9B-040EA02454E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85262" y="3585369"/>
            <a:ext cx="3256645" cy="4103700"/>
          </a:xfrm>
          <a:prstGeom prst="rect">
            <a:avLst/>
          </a:prstGeom>
        </p:spPr>
      </p:pic>
      <p:cxnSp>
        <p:nvCxnSpPr>
          <p:cNvPr id="10" name="Google Shape;480;p27">
            <a:extLst>
              <a:ext uri="{FF2B5EF4-FFF2-40B4-BE49-F238E27FC236}">
                <a16:creationId xmlns:a16="http://schemas.microsoft.com/office/drawing/2014/main" id="{D2934C33-8D42-3590-A098-891C3B9D37AF}"/>
              </a:ext>
            </a:extLst>
          </p:cNvPr>
          <p:cNvCxnSpPr/>
          <p:nvPr/>
        </p:nvCxnSpPr>
        <p:spPr>
          <a:xfrm rot="-5400000">
            <a:off x="12445144" y="5627948"/>
            <a:ext cx="4202360" cy="0"/>
          </a:xfrm>
          <a:prstGeom prst="straightConnector1">
            <a:avLst/>
          </a:prstGeom>
          <a:noFill/>
          <a:ln w="139700" cap="flat" cmpd="sng">
            <a:solidFill>
              <a:srgbClr val="3A7D4D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2" name="Picture 11" descr="A city with many buildings and a road&#10;&#10;AI-generated content may be incorrect.">
            <a:extLst>
              <a:ext uri="{FF2B5EF4-FFF2-40B4-BE49-F238E27FC236}">
                <a16:creationId xmlns:a16="http://schemas.microsoft.com/office/drawing/2014/main" id="{5A902860-6E87-A09A-C419-8D527E7CD31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609782" y="3566732"/>
            <a:ext cx="3256644" cy="4147469"/>
          </a:xfrm>
          <a:prstGeom prst="rect">
            <a:avLst/>
          </a:prstGeom>
        </p:spPr>
      </p:pic>
      <p:sp>
        <p:nvSpPr>
          <p:cNvPr id="15" name="Google Shape;499;p27">
            <a:extLst>
              <a:ext uri="{FF2B5EF4-FFF2-40B4-BE49-F238E27FC236}">
                <a16:creationId xmlns:a16="http://schemas.microsoft.com/office/drawing/2014/main" id="{D7F52A7F-26A2-2E52-F99C-0F3FA90162F6}"/>
              </a:ext>
            </a:extLst>
          </p:cNvPr>
          <p:cNvSpPr txBox="1"/>
          <p:nvPr/>
        </p:nvSpPr>
        <p:spPr>
          <a:xfrm>
            <a:off x="15023240" y="7970352"/>
            <a:ext cx="2429727" cy="619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3A7D4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Sriracha"/>
              </a:rPr>
              <a:t>Ottawa</a:t>
            </a:r>
            <a:endParaRPr dirty="0"/>
          </a:p>
        </p:txBody>
      </p:sp>
      <p:pic>
        <p:nvPicPr>
          <p:cNvPr id="16" name="Google Shape;87;p13">
            <a:extLst>
              <a:ext uri="{FF2B5EF4-FFF2-40B4-BE49-F238E27FC236}">
                <a16:creationId xmlns:a16="http://schemas.microsoft.com/office/drawing/2014/main" id="{BD5C558E-0108-B8D0-6DD8-854C64C3EB47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 r="79605" b="62946"/>
          <a:stretch/>
        </p:blipFill>
        <p:spPr>
          <a:xfrm>
            <a:off x="1003523" y="824985"/>
            <a:ext cx="2504078" cy="21174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518;p28">
            <a:extLst>
              <a:ext uri="{FF2B5EF4-FFF2-40B4-BE49-F238E27FC236}">
                <a16:creationId xmlns:a16="http://schemas.microsoft.com/office/drawing/2014/main" id="{0BBD41CA-8873-0446-090D-D2190348D060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 flipH="1">
            <a:off x="14541907" y="792748"/>
            <a:ext cx="3305773" cy="25003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DB898"/>
        </a:solid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7" name="Google Shape;237;p18"/>
          <p:cNvGrpSpPr/>
          <p:nvPr/>
        </p:nvGrpSpPr>
        <p:grpSpPr>
          <a:xfrm>
            <a:off x="421501" y="-776972"/>
            <a:ext cx="17505704" cy="10635014"/>
            <a:chOff x="0" y="-385762"/>
            <a:chExt cx="23340938" cy="14180019"/>
          </a:xfrm>
        </p:grpSpPr>
        <p:grpSp>
          <p:nvGrpSpPr>
            <p:cNvPr id="238" name="Google Shape;238;p18"/>
            <p:cNvGrpSpPr/>
            <p:nvPr/>
          </p:nvGrpSpPr>
          <p:grpSpPr>
            <a:xfrm>
              <a:off x="0" y="1029263"/>
              <a:ext cx="23259997" cy="12764994"/>
              <a:chOff x="0" y="-38100"/>
              <a:chExt cx="4594567" cy="2521480"/>
            </a:xfrm>
          </p:grpSpPr>
          <p:sp>
            <p:nvSpPr>
              <p:cNvPr id="239" name="Google Shape;239;p18"/>
              <p:cNvSpPr/>
              <p:nvPr/>
            </p:nvSpPr>
            <p:spPr>
              <a:xfrm>
                <a:off x="0" y="0"/>
                <a:ext cx="4594567" cy="2483380"/>
              </a:xfrm>
              <a:custGeom>
                <a:avLst/>
                <a:gdLst/>
                <a:ahLst/>
                <a:cxnLst/>
                <a:rect l="l" t="t" r="r" b="b"/>
                <a:pathLst>
                  <a:path w="4594567" h="2483380" extrusionOk="0">
                    <a:moveTo>
                      <a:pt x="4515149" y="0"/>
                    </a:moveTo>
                    <a:lnTo>
                      <a:pt x="79418" y="0"/>
                    </a:lnTo>
                    <a:cubicBezTo>
                      <a:pt x="79418" y="43699"/>
                      <a:pt x="44079" y="79418"/>
                      <a:pt x="0" y="79418"/>
                    </a:cubicBezTo>
                    <a:lnTo>
                      <a:pt x="0" y="2403962"/>
                    </a:lnTo>
                    <a:cubicBezTo>
                      <a:pt x="43699" y="2403962"/>
                      <a:pt x="79418" y="2439301"/>
                      <a:pt x="79418" y="2483380"/>
                    </a:cubicBezTo>
                    <a:lnTo>
                      <a:pt x="4515149" y="2483380"/>
                    </a:lnTo>
                    <a:cubicBezTo>
                      <a:pt x="4515149" y="2439681"/>
                      <a:pt x="4550488" y="2403962"/>
                      <a:pt x="4594567" y="2403962"/>
                    </a:cubicBezTo>
                    <a:lnTo>
                      <a:pt x="4594567" y="79418"/>
                    </a:lnTo>
                    <a:cubicBezTo>
                      <a:pt x="4550868" y="79418"/>
                      <a:pt x="4515149" y="44079"/>
                      <a:pt x="4515149" y="0"/>
                    </a:cubicBezTo>
                    <a:close/>
                  </a:path>
                </a:pathLst>
              </a:custGeom>
              <a:solidFill>
                <a:srgbClr val="EBEAE6"/>
              </a:solidFill>
              <a:ln w="104775" cap="flat" cmpd="sng">
                <a:solidFill>
                  <a:srgbClr val="3A7D4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" name="Google Shape;240;p18"/>
              <p:cNvSpPr txBox="1"/>
              <p:nvPr/>
            </p:nvSpPr>
            <p:spPr>
              <a:xfrm>
                <a:off x="38100" y="-38100"/>
                <a:ext cx="736600" cy="81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96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41" name="Google Shape;241;p18"/>
            <p:cNvGrpSpPr/>
            <p:nvPr/>
          </p:nvGrpSpPr>
          <p:grpSpPr>
            <a:xfrm>
              <a:off x="6615605" y="-385762"/>
              <a:ext cx="4114793" cy="4500557"/>
              <a:chOff x="0" y="-76200"/>
              <a:chExt cx="812800" cy="889000"/>
            </a:xfrm>
          </p:grpSpPr>
          <p:sp>
            <p:nvSpPr>
              <p:cNvPr id="242" name="Google Shape;242;p18"/>
              <p:cNvSpPr/>
              <p:nvPr/>
            </p:nvSpPr>
            <p:spPr>
              <a:xfrm>
                <a:off x="0" y="0"/>
                <a:ext cx="112767" cy="391124"/>
              </a:xfrm>
              <a:custGeom>
                <a:avLst/>
                <a:gdLst/>
                <a:ahLst/>
                <a:cxnLst/>
                <a:rect l="l" t="t" r="r" b="b"/>
                <a:pathLst>
                  <a:path w="112767" h="391124" extrusionOk="0">
                    <a:moveTo>
                      <a:pt x="56383" y="0"/>
                    </a:moveTo>
                    <a:lnTo>
                      <a:pt x="56383" y="0"/>
                    </a:lnTo>
                    <a:cubicBezTo>
                      <a:pt x="71337" y="0"/>
                      <a:pt x="85679" y="5940"/>
                      <a:pt x="96253" y="16514"/>
                    </a:cubicBezTo>
                    <a:cubicBezTo>
                      <a:pt x="106826" y="27088"/>
                      <a:pt x="112767" y="41430"/>
                      <a:pt x="112767" y="56383"/>
                    </a:cubicBezTo>
                    <a:lnTo>
                      <a:pt x="112767" y="334740"/>
                    </a:lnTo>
                    <a:cubicBezTo>
                      <a:pt x="112767" y="365880"/>
                      <a:pt x="87523" y="391124"/>
                      <a:pt x="56383" y="391124"/>
                    </a:cubicBezTo>
                    <a:lnTo>
                      <a:pt x="56383" y="391124"/>
                    </a:lnTo>
                    <a:cubicBezTo>
                      <a:pt x="41430" y="391124"/>
                      <a:pt x="27088" y="385183"/>
                      <a:pt x="16514" y="374609"/>
                    </a:cubicBezTo>
                    <a:cubicBezTo>
                      <a:pt x="5940" y="364035"/>
                      <a:pt x="0" y="349694"/>
                      <a:pt x="0" y="334740"/>
                    </a:cubicBezTo>
                    <a:lnTo>
                      <a:pt x="0" y="56383"/>
                    </a:lnTo>
                    <a:cubicBezTo>
                      <a:pt x="0" y="25244"/>
                      <a:pt x="25244" y="0"/>
                      <a:pt x="56383" y="0"/>
                    </a:cubicBezTo>
                    <a:close/>
                  </a:path>
                </a:pathLst>
              </a:custGeom>
              <a:solidFill>
                <a:srgbClr val="EBEAE6"/>
              </a:solidFill>
              <a:ln w="104775" cap="flat" cmpd="sng">
                <a:solidFill>
                  <a:srgbClr val="3A7D4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Google Shape;243;p18"/>
              <p:cNvSpPr txBox="1"/>
              <p:nvPr/>
            </p:nvSpPr>
            <p:spPr>
              <a:xfrm>
                <a:off x="0" y="-76200"/>
                <a:ext cx="812800" cy="889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96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44" name="Google Shape;244;p18"/>
            <p:cNvGrpSpPr/>
            <p:nvPr/>
          </p:nvGrpSpPr>
          <p:grpSpPr>
            <a:xfrm>
              <a:off x="3462970" y="-385762"/>
              <a:ext cx="4114793" cy="4500557"/>
              <a:chOff x="0" y="-76200"/>
              <a:chExt cx="812800" cy="889000"/>
            </a:xfrm>
          </p:grpSpPr>
          <p:sp>
            <p:nvSpPr>
              <p:cNvPr id="245" name="Google Shape;245;p18"/>
              <p:cNvSpPr/>
              <p:nvPr/>
            </p:nvSpPr>
            <p:spPr>
              <a:xfrm>
                <a:off x="0" y="0"/>
                <a:ext cx="112767" cy="391124"/>
              </a:xfrm>
              <a:custGeom>
                <a:avLst/>
                <a:gdLst/>
                <a:ahLst/>
                <a:cxnLst/>
                <a:rect l="l" t="t" r="r" b="b"/>
                <a:pathLst>
                  <a:path w="112767" h="391124" extrusionOk="0">
                    <a:moveTo>
                      <a:pt x="56383" y="0"/>
                    </a:moveTo>
                    <a:lnTo>
                      <a:pt x="56383" y="0"/>
                    </a:lnTo>
                    <a:cubicBezTo>
                      <a:pt x="71337" y="0"/>
                      <a:pt x="85679" y="5940"/>
                      <a:pt x="96253" y="16514"/>
                    </a:cubicBezTo>
                    <a:cubicBezTo>
                      <a:pt x="106826" y="27088"/>
                      <a:pt x="112767" y="41430"/>
                      <a:pt x="112767" y="56383"/>
                    </a:cubicBezTo>
                    <a:lnTo>
                      <a:pt x="112767" y="334740"/>
                    </a:lnTo>
                    <a:cubicBezTo>
                      <a:pt x="112767" y="365880"/>
                      <a:pt x="87523" y="391124"/>
                      <a:pt x="56383" y="391124"/>
                    </a:cubicBezTo>
                    <a:lnTo>
                      <a:pt x="56383" y="391124"/>
                    </a:lnTo>
                    <a:cubicBezTo>
                      <a:pt x="41430" y="391124"/>
                      <a:pt x="27088" y="385183"/>
                      <a:pt x="16514" y="374609"/>
                    </a:cubicBezTo>
                    <a:cubicBezTo>
                      <a:pt x="5940" y="364035"/>
                      <a:pt x="0" y="349694"/>
                      <a:pt x="0" y="334740"/>
                    </a:cubicBezTo>
                    <a:lnTo>
                      <a:pt x="0" y="56383"/>
                    </a:lnTo>
                    <a:cubicBezTo>
                      <a:pt x="0" y="25244"/>
                      <a:pt x="25244" y="0"/>
                      <a:pt x="56383" y="0"/>
                    </a:cubicBezTo>
                    <a:close/>
                  </a:path>
                </a:pathLst>
              </a:custGeom>
              <a:solidFill>
                <a:srgbClr val="EBEAE6"/>
              </a:solidFill>
              <a:ln w="104775" cap="flat" cmpd="sng">
                <a:solidFill>
                  <a:srgbClr val="3A7D4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246;p18"/>
              <p:cNvSpPr txBox="1"/>
              <p:nvPr/>
            </p:nvSpPr>
            <p:spPr>
              <a:xfrm>
                <a:off x="0" y="-76200"/>
                <a:ext cx="812800" cy="889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96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47" name="Google Shape;247;p18"/>
            <p:cNvGrpSpPr/>
            <p:nvPr/>
          </p:nvGrpSpPr>
          <p:grpSpPr>
            <a:xfrm>
              <a:off x="19226145" y="-385762"/>
              <a:ext cx="4114793" cy="4500557"/>
              <a:chOff x="0" y="-76200"/>
              <a:chExt cx="812800" cy="889000"/>
            </a:xfrm>
          </p:grpSpPr>
          <p:sp>
            <p:nvSpPr>
              <p:cNvPr id="248" name="Google Shape;248;p18"/>
              <p:cNvSpPr/>
              <p:nvPr/>
            </p:nvSpPr>
            <p:spPr>
              <a:xfrm>
                <a:off x="0" y="0"/>
                <a:ext cx="112767" cy="391124"/>
              </a:xfrm>
              <a:custGeom>
                <a:avLst/>
                <a:gdLst/>
                <a:ahLst/>
                <a:cxnLst/>
                <a:rect l="l" t="t" r="r" b="b"/>
                <a:pathLst>
                  <a:path w="112767" h="391124" extrusionOk="0">
                    <a:moveTo>
                      <a:pt x="56383" y="0"/>
                    </a:moveTo>
                    <a:lnTo>
                      <a:pt x="56383" y="0"/>
                    </a:lnTo>
                    <a:cubicBezTo>
                      <a:pt x="71337" y="0"/>
                      <a:pt x="85679" y="5940"/>
                      <a:pt x="96253" y="16514"/>
                    </a:cubicBezTo>
                    <a:cubicBezTo>
                      <a:pt x="106826" y="27088"/>
                      <a:pt x="112767" y="41430"/>
                      <a:pt x="112767" y="56383"/>
                    </a:cubicBezTo>
                    <a:lnTo>
                      <a:pt x="112767" y="334740"/>
                    </a:lnTo>
                    <a:cubicBezTo>
                      <a:pt x="112767" y="365880"/>
                      <a:pt x="87523" y="391124"/>
                      <a:pt x="56383" y="391124"/>
                    </a:cubicBezTo>
                    <a:lnTo>
                      <a:pt x="56383" y="391124"/>
                    </a:lnTo>
                    <a:cubicBezTo>
                      <a:pt x="41430" y="391124"/>
                      <a:pt x="27088" y="385183"/>
                      <a:pt x="16514" y="374609"/>
                    </a:cubicBezTo>
                    <a:cubicBezTo>
                      <a:pt x="5940" y="364035"/>
                      <a:pt x="0" y="349694"/>
                      <a:pt x="0" y="334740"/>
                    </a:cubicBezTo>
                    <a:lnTo>
                      <a:pt x="0" y="56383"/>
                    </a:lnTo>
                    <a:cubicBezTo>
                      <a:pt x="0" y="25244"/>
                      <a:pt x="25244" y="0"/>
                      <a:pt x="56383" y="0"/>
                    </a:cubicBezTo>
                    <a:close/>
                  </a:path>
                </a:pathLst>
              </a:custGeom>
              <a:solidFill>
                <a:srgbClr val="EBEAE6"/>
              </a:solidFill>
              <a:ln w="104775" cap="flat" cmpd="sng">
                <a:solidFill>
                  <a:srgbClr val="3A7D4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Google Shape;249;p18"/>
              <p:cNvSpPr txBox="1"/>
              <p:nvPr/>
            </p:nvSpPr>
            <p:spPr>
              <a:xfrm>
                <a:off x="0" y="-76200"/>
                <a:ext cx="812800" cy="889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96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0" name="Google Shape;250;p18"/>
            <p:cNvGrpSpPr/>
            <p:nvPr/>
          </p:nvGrpSpPr>
          <p:grpSpPr>
            <a:xfrm>
              <a:off x="9768240" y="-385762"/>
              <a:ext cx="4114793" cy="4500557"/>
              <a:chOff x="0" y="-76200"/>
              <a:chExt cx="812800" cy="889000"/>
            </a:xfrm>
          </p:grpSpPr>
          <p:sp>
            <p:nvSpPr>
              <p:cNvPr id="251" name="Google Shape;251;p18"/>
              <p:cNvSpPr/>
              <p:nvPr/>
            </p:nvSpPr>
            <p:spPr>
              <a:xfrm>
                <a:off x="0" y="0"/>
                <a:ext cx="112767" cy="391124"/>
              </a:xfrm>
              <a:custGeom>
                <a:avLst/>
                <a:gdLst/>
                <a:ahLst/>
                <a:cxnLst/>
                <a:rect l="l" t="t" r="r" b="b"/>
                <a:pathLst>
                  <a:path w="112767" h="391124" extrusionOk="0">
                    <a:moveTo>
                      <a:pt x="56383" y="0"/>
                    </a:moveTo>
                    <a:lnTo>
                      <a:pt x="56383" y="0"/>
                    </a:lnTo>
                    <a:cubicBezTo>
                      <a:pt x="71337" y="0"/>
                      <a:pt x="85679" y="5940"/>
                      <a:pt x="96253" y="16514"/>
                    </a:cubicBezTo>
                    <a:cubicBezTo>
                      <a:pt x="106826" y="27088"/>
                      <a:pt x="112767" y="41430"/>
                      <a:pt x="112767" y="56383"/>
                    </a:cubicBezTo>
                    <a:lnTo>
                      <a:pt x="112767" y="334740"/>
                    </a:lnTo>
                    <a:cubicBezTo>
                      <a:pt x="112767" y="365880"/>
                      <a:pt x="87523" y="391124"/>
                      <a:pt x="56383" y="391124"/>
                    </a:cubicBezTo>
                    <a:lnTo>
                      <a:pt x="56383" y="391124"/>
                    </a:lnTo>
                    <a:cubicBezTo>
                      <a:pt x="41430" y="391124"/>
                      <a:pt x="27088" y="385183"/>
                      <a:pt x="16514" y="374609"/>
                    </a:cubicBezTo>
                    <a:cubicBezTo>
                      <a:pt x="5940" y="364035"/>
                      <a:pt x="0" y="349694"/>
                      <a:pt x="0" y="334740"/>
                    </a:cubicBezTo>
                    <a:lnTo>
                      <a:pt x="0" y="56383"/>
                    </a:lnTo>
                    <a:cubicBezTo>
                      <a:pt x="0" y="25244"/>
                      <a:pt x="25244" y="0"/>
                      <a:pt x="56383" y="0"/>
                    </a:cubicBezTo>
                    <a:close/>
                  </a:path>
                </a:pathLst>
              </a:custGeom>
              <a:solidFill>
                <a:srgbClr val="EBEAE6"/>
              </a:solidFill>
              <a:ln w="104775" cap="flat" cmpd="sng">
                <a:solidFill>
                  <a:srgbClr val="3A7D4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Google Shape;252;p18"/>
              <p:cNvSpPr txBox="1"/>
              <p:nvPr/>
            </p:nvSpPr>
            <p:spPr>
              <a:xfrm>
                <a:off x="0" y="-76200"/>
                <a:ext cx="812800" cy="889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96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3" name="Google Shape;253;p18"/>
            <p:cNvGrpSpPr/>
            <p:nvPr/>
          </p:nvGrpSpPr>
          <p:grpSpPr>
            <a:xfrm>
              <a:off x="12920875" y="-385762"/>
              <a:ext cx="4114793" cy="4500557"/>
              <a:chOff x="0" y="-76200"/>
              <a:chExt cx="812800" cy="889000"/>
            </a:xfrm>
          </p:grpSpPr>
          <p:sp>
            <p:nvSpPr>
              <p:cNvPr id="254" name="Google Shape;254;p18"/>
              <p:cNvSpPr/>
              <p:nvPr/>
            </p:nvSpPr>
            <p:spPr>
              <a:xfrm>
                <a:off x="0" y="0"/>
                <a:ext cx="112767" cy="391124"/>
              </a:xfrm>
              <a:custGeom>
                <a:avLst/>
                <a:gdLst/>
                <a:ahLst/>
                <a:cxnLst/>
                <a:rect l="l" t="t" r="r" b="b"/>
                <a:pathLst>
                  <a:path w="112767" h="391124" extrusionOk="0">
                    <a:moveTo>
                      <a:pt x="56383" y="0"/>
                    </a:moveTo>
                    <a:lnTo>
                      <a:pt x="56383" y="0"/>
                    </a:lnTo>
                    <a:cubicBezTo>
                      <a:pt x="71337" y="0"/>
                      <a:pt x="85679" y="5940"/>
                      <a:pt x="96253" y="16514"/>
                    </a:cubicBezTo>
                    <a:cubicBezTo>
                      <a:pt x="106826" y="27088"/>
                      <a:pt x="112767" y="41430"/>
                      <a:pt x="112767" y="56383"/>
                    </a:cubicBezTo>
                    <a:lnTo>
                      <a:pt x="112767" y="334740"/>
                    </a:lnTo>
                    <a:cubicBezTo>
                      <a:pt x="112767" y="365880"/>
                      <a:pt x="87523" y="391124"/>
                      <a:pt x="56383" y="391124"/>
                    </a:cubicBezTo>
                    <a:lnTo>
                      <a:pt x="56383" y="391124"/>
                    </a:lnTo>
                    <a:cubicBezTo>
                      <a:pt x="41430" y="391124"/>
                      <a:pt x="27088" y="385183"/>
                      <a:pt x="16514" y="374609"/>
                    </a:cubicBezTo>
                    <a:cubicBezTo>
                      <a:pt x="5940" y="364035"/>
                      <a:pt x="0" y="349694"/>
                      <a:pt x="0" y="334740"/>
                    </a:cubicBezTo>
                    <a:lnTo>
                      <a:pt x="0" y="56383"/>
                    </a:lnTo>
                    <a:cubicBezTo>
                      <a:pt x="0" y="25244"/>
                      <a:pt x="25244" y="0"/>
                      <a:pt x="56383" y="0"/>
                    </a:cubicBezTo>
                    <a:close/>
                  </a:path>
                </a:pathLst>
              </a:custGeom>
              <a:solidFill>
                <a:srgbClr val="EBEAE6"/>
              </a:solidFill>
              <a:ln w="104775" cap="flat" cmpd="sng">
                <a:solidFill>
                  <a:srgbClr val="3A7D4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55;p18"/>
              <p:cNvSpPr txBox="1"/>
              <p:nvPr/>
            </p:nvSpPr>
            <p:spPr>
              <a:xfrm>
                <a:off x="0" y="-76200"/>
                <a:ext cx="812800" cy="889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96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6" name="Google Shape;256;p18"/>
            <p:cNvGrpSpPr/>
            <p:nvPr/>
          </p:nvGrpSpPr>
          <p:grpSpPr>
            <a:xfrm>
              <a:off x="16073510" y="-385762"/>
              <a:ext cx="4114793" cy="4500557"/>
              <a:chOff x="0" y="-76200"/>
              <a:chExt cx="812800" cy="889000"/>
            </a:xfrm>
          </p:grpSpPr>
          <p:sp>
            <p:nvSpPr>
              <p:cNvPr id="257" name="Google Shape;257;p18"/>
              <p:cNvSpPr/>
              <p:nvPr/>
            </p:nvSpPr>
            <p:spPr>
              <a:xfrm>
                <a:off x="0" y="0"/>
                <a:ext cx="112767" cy="391124"/>
              </a:xfrm>
              <a:custGeom>
                <a:avLst/>
                <a:gdLst/>
                <a:ahLst/>
                <a:cxnLst/>
                <a:rect l="l" t="t" r="r" b="b"/>
                <a:pathLst>
                  <a:path w="112767" h="391124" extrusionOk="0">
                    <a:moveTo>
                      <a:pt x="56383" y="0"/>
                    </a:moveTo>
                    <a:lnTo>
                      <a:pt x="56383" y="0"/>
                    </a:lnTo>
                    <a:cubicBezTo>
                      <a:pt x="71337" y="0"/>
                      <a:pt x="85679" y="5940"/>
                      <a:pt x="96253" y="16514"/>
                    </a:cubicBezTo>
                    <a:cubicBezTo>
                      <a:pt x="106826" y="27088"/>
                      <a:pt x="112767" y="41430"/>
                      <a:pt x="112767" y="56383"/>
                    </a:cubicBezTo>
                    <a:lnTo>
                      <a:pt x="112767" y="334740"/>
                    </a:lnTo>
                    <a:cubicBezTo>
                      <a:pt x="112767" y="365880"/>
                      <a:pt x="87523" y="391124"/>
                      <a:pt x="56383" y="391124"/>
                    </a:cubicBezTo>
                    <a:lnTo>
                      <a:pt x="56383" y="391124"/>
                    </a:lnTo>
                    <a:cubicBezTo>
                      <a:pt x="41430" y="391124"/>
                      <a:pt x="27088" y="385183"/>
                      <a:pt x="16514" y="374609"/>
                    </a:cubicBezTo>
                    <a:cubicBezTo>
                      <a:pt x="5940" y="364035"/>
                      <a:pt x="0" y="349694"/>
                      <a:pt x="0" y="334740"/>
                    </a:cubicBezTo>
                    <a:lnTo>
                      <a:pt x="0" y="56383"/>
                    </a:lnTo>
                    <a:cubicBezTo>
                      <a:pt x="0" y="25244"/>
                      <a:pt x="25244" y="0"/>
                      <a:pt x="56383" y="0"/>
                    </a:cubicBezTo>
                    <a:close/>
                  </a:path>
                </a:pathLst>
              </a:custGeom>
              <a:solidFill>
                <a:srgbClr val="EBEAE6"/>
              </a:solidFill>
              <a:ln w="104775" cap="flat" cmpd="sng">
                <a:solidFill>
                  <a:srgbClr val="3A7D4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58;p18"/>
              <p:cNvSpPr txBox="1"/>
              <p:nvPr/>
            </p:nvSpPr>
            <p:spPr>
              <a:xfrm>
                <a:off x="0" y="-76200"/>
                <a:ext cx="812800" cy="889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96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59" name="Google Shape;259;p18"/>
          <p:cNvGrpSpPr/>
          <p:nvPr/>
        </p:nvGrpSpPr>
        <p:grpSpPr>
          <a:xfrm>
            <a:off x="1000571" y="1346184"/>
            <a:ext cx="16376557" cy="6219299"/>
            <a:chOff x="0" y="-257535"/>
            <a:chExt cx="4313167" cy="1638005"/>
          </a:xfrm>
        </p:grpSpPr>
        <p:sp>
          <p:nvSpPr>
            <p:cNvPr id="260" name="Google Shape;260;p18"/>
            <p:cNvSpPr/>
            <p:nvPr/>
          </p:nvSpPr>
          <p:spPr>
            <a:xfrm>
              <a:off x="0" y="-257535"/>
              <a:ext cx="4313167" cy="1638005"/>
            </a:xfrm>
            <a:custGeom>
              <a:avLst/>
              <a:gdLst/>
              <a:ahLst/>
              <a:cxnLst/>
              <a:rect l="l" t="t" r="r" b="b"/>
              <a:pathLst>
                <a:path w="4313167" h="1380470" extrusionOk="0">
                  <a:moveTo>
                    <a:pt x="0" y="0"/>
                  </a:moveTo>
                  <a:lnTo>
                    <a:pt x="4313167" y="0"/>
                  </a:lnTo>
                  <a:lnTo>
                    <a:pt x="4313167" y="1380470"/>
                  </a:lnTo>
                  <a:lnTo>
                    <a:pt x="0" y="138047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04775" cap="flat" cmpd="sng">
              <a:solidFill>
                <a:srgbClr val="3A7D4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1" name="Google Shape;261;p18"/>
            <p:cNvSpPr txBox="1"/>
            <p:nvPr/>
          </p:nvSpPr>
          <p:spPr>
            <a:xfrm>
              <a:off x="0" y="-76200"/>
              <a:ext cx="812800" cy="889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6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4" name="Google Shape;264;p18"/>
          <p:cNvGrpSpPr/>
          <p:nvPr/>
        </p:nvGrpSpPr>
        <p:grpSpPr>
          <a:xfrm>
            <a:off x="1973317" y="750389"/>
            <a:ext cx="14341366" cy="3202691"/>
            <a:chOff x="0" y="-389931"/>
            <a:chExt cx="19121821" cy="4270254"/>
          </a:xfrm>
        </p:grpSpPr>
        <p:sp>
          <p:nvSpPr>
            <p:cNvPr id="265" name="Google Shape;265;p18"/>
            <p:cNvSpPr txBox="1"/>
            <p:nvPr/>
          </p:nvSpPr>
          <p:spPr>
            <a:xfrm>
              <a:off x="1079157" y="-389931"/>
              <a:ext cx="16077900" cy="28725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6" name="Google Shape;266;p18"/>
            <p:cNvSpPr txBox="1"/>
            <p:nvPr/>
          </p:nvSpPr>
          <p:spPr>
            <a:xfrm>
              <a:off x="0" y="-28575"/>
              <a:ext cx="2048803" cy="3504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2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7" name="Google Shape;267;p18"/>
            <p:cNvSpPr txBox="1"/>
            <p:nvPr/>
          </p:nvSpPr>
          <p:spPr>
            <a:xfrm>
              <a:off x="17073018" y="1104776"/>
              <a:ext cx="2048803" cy="277554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2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88" b="0" i="0" u="none" strike="noStrike" cap="none" dirty="0">
                  <a:solidFill>
                    <a:srgbClr val="3A7D4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Sriracha"/>
                </a:rPr>
                <a:t>"</a:t>
              </a:r>
              <a:endParaRPr dirty="0"/>
            </a:p>
          </p:txBody>
        </p:sp>
      </p:grpSp>
      <p:sp>
        <p:nvSpPr>
          <p:cNvPr id="268" name="Google Shape;268;p18"/>
          <p:cNvSpPr txBox="1"/>
          <p:nvPr/>
        </p:nvSpPr>
        <p:spPr>
          <a:xfrm>
            <a:off x="1000063" y="7916659"/>
            <a:ext cx="9112095" cy="1709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1">
              <a:lnSpc>
                <a:spcPct val="161000"/>
              </a:lnSpc>
            </a:pPr>
            <a:r>
              <a:rPr lang="en-US" sz="2300" b="1" dirty="0">
                <a:solidFill>
                  <a:srgbClr val="3A7D4D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📌 API request (latitude/longitude + parameters)</a:t>
            </a:r>
          </a:p>
          <a:p>
            <a:pPr lvl="1">
              <a:lnSpc>
                <a:spcPct val="161000"/>
              </a:lnSpc>
            </a:pPr>
            <a:r>
              <a:rPr lang="en-US" sz="2300" b="1" dirty="0">
                <a:solidFill>
                  <a:srgbClr val="3A7D4D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📌 Convert JSON → </a:t>
            </a:r>
            <a:r>
              <a:rPr lang="en-US" sz="2300" b="1" dirty="0" err="1">
                <a:solidFill>
                  <a:srgbClr val="3A7D4D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tibble</a:t>
            </a:r>
            <a:endParaRPr lang="en-US" sz="2300" b="1" dirty="0">
              <a:solidFill>
                <a:srgbClr val="3A7D4D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lvl="1">
              <a:lnSpc>
                <a:spcPct val="161000"/>
              </a:lnSpc>
            </a:pPr>
            <a:r>
              <a:rPr lang="en-US" sz="2300" b="1" dirty="0">
                <a:solidFill>
                  <a:srgbClr val="3A7D4D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📌 Merge multiple cities into one dataset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0D566C-3503-DA1B-DDEE-E770A0D2C0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571" y="1359507"/>
            <a:ext cx="16331708" cy="6165514"/>
          </a:xfrm>
          <a:prstGeom prst="rect">
            <a:avLst/>
          </a:prstGeom>
        </p:spPr>
      </p:pic>
      <p:pic>
        <p:nvPicPr>
          <p:cNvPr id="6" name="Google Shape;224;p17">
            <a:extLst>
              <a:ext uri="{FF2B5EF4-FFF2-40B4-BE49-F238E27FC236}">
                <a16:creationId xmlns:a16="http://schemas.microsoft.com/office/drawing/2014/main" id="{EAE3EE1D-F083-4FB9-A9AF-B531B83274A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295867" y="7453518"/>
            <a:ext cx="3815318" cy="25164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DB898"/>
        </a:solidFill>
        <a:effectLst/>
      </p:bgPr>
    </p:bg>
    <p:spTree>
      <p:nvGrpSpPr>
        <p:cNvPr id="1" name="Shape 236">
          <a:extLst>
            <a:ext uri="{FF2B5EF4-FFF2-40B4-BE49-F238E27FC236}">
              <a16:creationId xmlns:a16="http://schemas.microsoft.com/office/drawing/2014/main" id="{20AD6620-4063-260A-7526-EA753C2711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7" name="Google Shape;237;p18">
            <a:extLst>
              <a:ext uri="{FF2B5EF4-FFF2-40B4-BE49-F238E27FC236}">
                <a16:creationId xmlns:a16="http://schemas.microsoft.com/office/drawing/2014/main" id="{FD8A2476-5B0E-017A-BD55-4D75733227A5}"/>
              </a:ext>
            </a:extLst>
          </p:cNvPr>
          <p:cNvGrpSpPr/>
          <p:nvPr/>
        </p:nvGrpSpPr>
        <p:grpSpPr>
          <a:xfrm>
            <a:off x="421501" y="-776972"/>
            <a:ext cx="17505704" cy="10635014"/>
            <a:chOff x="0" y="-385762"/>
            <a:chExt cx="23340938" cy="14180019"/>
          </a:xfrm>
        </p:grpSpPr>
        <p:grpSp>
          <p:nvGrpSpPr>
            <p:cNvPr id="238" name="Google Shape;238;p18">
              <a:extLst>
                <a:ext uri="{FF2B5EF4-FFF2-40B4-BE49-F238E27FC236}">
                  <a16:creationId xmlns:a16="http://schemas.microsoft.com/office/drawing/2014/main" id="{9880275F-6F99-ADD8-FE68-DA44CEF610FF}"/>
                </a:ext>
              </a:extLst>
            </p:cNvPr>
            <p:cNvGrpSpPr/>
            <p:nvPr/>
          </p:nvGrpSpPr>
          <p:grpSpPr>
            <a:xfrm>
              <a:off x="0" y="1029263"/>
              <a:ext cx="23259997" cy="12764994"/>
              <a:chOff x="0" y="-38100"/>
              <a:chExt cx="4594567" cy="2521480"/>
            </a:xfrm>
          </p:grpSpPr>
          <p:sp>
            <p:nvSpPr>
              <p:cNvPr id="239" name="Google Shape;239;p18">
                <a:extLst>
                  <a:ext uri="{FF2B5EF4-FFF2-40B4-BE49-F238E27FC236}">
                    <a16:creationId xmlns:a16="http://schemas.microsoft.com/office/drawing/2014/main" id="{A1C885F1-4267-504C-69C1-D32F24F47F5B}"/>
                  </a:ext>
                </a:extLst>
              </p:cNvPr>
              <p:cNvSpPr/>
              <p:nvPr/>
            </p:nvSpPr>
            <p:spPr>
              <a:xfrm>
                <a:off x="0" y="0"/>
                <a:ext cx="4594567" cy="2483380"/>
              </a:xfrm>
              <a:custGeom>
                <a:avLst/>
                <a:gdLst/>
                <a:ahLst/>
                <a:cxnLst/>
                <a:rect l="l" t="t" r="r" b="b"/>
                <a:pathLst>
                  <a:path w="4594567" h="2483380" extrusionOk="0">
                    <a:moveTo>
                      <a:pt x="4515149" y="0"/>
                    </a:moveTo>
                    <a:lnTo>
                      <a:pt x="79418" y="0"/>
                    </a:lnTo>
                    <a:cubicBezTo>
                      <a:pt x="79418" y="43699"/>
                      <a:pt x="44079" y="79418"/>
                      <a:pt x="0" y="79418"/>
                    </a:cubicBezTo>
                    <a:lnTo>
                      <a:pt x="0" y="2403962"/>
                    </a:lnTo>
                    <a:cubicBezTo>
                      <a:pt x="43699" y="2403962"/>
                      <a:pt x="79418" y="2439301"/>
                      <a:pt x="79418" y="2483380"/>
                    </a:cubicBezTo>
                    <a:lnTo>
                      <a:pt x="4515149" y="2483380"/>
                    </a:lnTo>
                    <a:cubicBezTo>
                      <a:pt x="4515149" y="2439681"/>
                      <a:pt x="4550488" y="2403962"/>
                      <a:pt x="4594567" y="2403962"/>
                    </a:cubicBezTo>
                    <a:lnTo>
                      <a:pt x="4594567" y="79418"/>
                    </a:lnTo>
                    <a:cubicBezTo>
                      <a:pt x="4550868" y="79418"/>
                      <a:pt x="4515149" y="44079"/>
                      <a:pt x="4515149" y="0"/>
                    </a:cubicBezTo>
                    <a:close/>
                  </a:path>
                </a:pathLst>
              </a:custGeom>
              <a:solidFill>
                <a:srgbClr val="EBEAE6"/>
              </a:solidFill>
              <a:ln w="104775" cap="flat" cmpd="sng">
                <a:solidFill>
                  <a:srgbClr val="3A7D4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" name="Google Shape;240;p18">
                <a:extLst>
                  <a:ext uri="{FF2B5EF4-FFF2-40B4-BE49-F238E27FC236}">
                    <a16:creationId xmlns:a16="http://schemas.microsoft.com/office/drawing/2014/main" id="{6DF0837C-78FC-45A3-8059-658468B73C46}"/>
                  </a:ext>
                </a:extLst>
              </p:cNvPr>
              <p:cNvSpPr txBox="1"/>
              <p:nvPr/>
            </p:nvSpPr>
            <p:spPr>
              <a:xfrm>
                <a:off x="38100" y="-38100"/>
                <a:ext cx="736600" cy="81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96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41" name="Google Shape;241;p18">
              <a:extLst>
                <a:ext uri="{FF2B5EF4-FFF2-40B4-BE49-F238E27FC236}">
                  <a16:creationId xmlns:a16="http://schemas.microsoft.com/office/drawing/2014/main" id="{61F624C5-76C4-3759-25EA-CF26657BA418}"/>
                </a:ext>
              </a:extLst>
            </p:cNvPr>
            <p:cNvGrpSpPr/>
            <p:nvPr/>
          </p:nvGrpSpPr>
          <p:grpSpPr>
            <a:xfrm>
              <a:off x="6615605" y="-385762"/>
              <a:ext cx="4114793" cy="4500557"/>
              <a:chOff x="0" y="-76200"/>
              <a:chExt cx="812800" cy="889000"/>
            </a:xfrm>
          </p:grpSpPr>
          <p:sp>
            <p:nvSpPr>
              <p:cNvPr id="242" name="Google Shape;242;p18">
                <a:extLst>
                  <a:ext uri="{FF2B5EF4-FFF2-40B4-BE49-F238E27FC236}">
                    <a16:creationId xmlns:a16="http://schemas.microsoft.com/office/drawing/2014/main" id="{91BBFB93-73E9-BEA9-BF89-6916F404206A}"/>
                  </a:ext>
                </a:extLst>
              </p:cNvPr>
              <p:cNvSpPr/>
              <p:nvPr/>
            </p:nvSpPr>
            <p:spPr>
              <a:xfrm>
                <a:off x="0" y="0"/>
                <a:ext cx="112767" cy="391124"/>
              </a:xfrm>
              <a:custGeom>
                <a:avLst/>
                <a:gdLst/>
                <a:ahLst/>
                <a:cxnLst/>
                <a:rect l="l" t="t" r="r" b="b"/>
                <a:pathLst>
                  <a:path w="112767" h="391124" extrusionOk="0">
                    <a:moveTo>
                      <a:pt x="56383" y="0"/>
                    </a:moveTo>
                    <a:lnTo>
                      <a:pt x="56383" y="0"/>
                    </a:lnTo>
                    <a:cubicBezTo>
                      <a:pt x="71337" y="0"/>
                      <a:pt x="85679" y="5940"/>
                      <a:pt x="96253" y="16514"/>
                    </a:cubicBezTo>
                    <a:cubicBezTo>
                      <a:pt x="106826" y="27088"/>
                      <a:pt x="112767" y="41430"/>
                      <a:pt x="112767" y="56383"/>
                    </a:cubicBezTo>
                    <a:lnTo>
                      <a:pt x="112767" y="334740"/>
                    </a:lnTo>
                    <a:cubicBezTo>
                      <a:pt x="112767" y="365880"/>
                      <a:pt x="87523" y="391124"/>
                      <a:pt x="56383" y="391124"/>
                    </a:cubicBezTo>
                    <a:lnTo>
                      <a:pt x="56383" y="391124"/>
                    </a:lnTo>
                    <a:cubicBezTo>
                      <a:pt x="41430" y="391124"/>
                      <a:pt x="27088" y="385183"/>
                      <a:pt x="16514" y="374609"/>
                    </a:cubicBezTo>
                    <a:cubicBezTo>
                      <a:pt x="5940" y="364035"/>
                      <a:pt x="0" y="349694"/>
                      <a:pt x="0" y="334740"/>
                    </a:cubicBezTo>
                    <a:lnTo>
                      <a:pt x="0" y="56383"/>
                    </a:lnTo>
                    <a:cubicBezTo>
                      <a:pt x="0" y="25244"/>
                      <a:pt x="25244" y="0"/>
                      <a:pt x="56383" y="0"/>
                    </a:cubicBezTo>
                    <a:close/>
                  </a:path>
                </a:pathLst>
              </a:custGeom>
              <a:solidFill>
                <a:srgbClr val="EBEAE6"/>
              </a:solidFill>
              <a:ln w="104775" cap="flat" cmpd="sng">
                <a:solidFill>
                  <a:srgbClr val="3A7D4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Google Shape;243;p18">
                <a:extLst>
                  <a:ext uri="{FF2B5EF4-FFF2-40B4-BE49-F238E27FC236}">
                    <a16:creationId xmlns:a16="http://schemas.microsoft.com/office/drawing/2014/main" id="{57DA8091-AC66-2D85-DB86-49C4A4EB0CA0}"/>
                  </a:ext>
                </a:extLst>
              </p:cNvPr>
              <p:cNvSpPr txBox="1"/>
              <p:nvPr/>
            </p:nvSpPr>
            <p:spPr>
              <a:xfrm>
                <a:off x="0" y="-76200"/>
                <a:ext cx="812800" cy="889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96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44" name="Google Shape;244;p18">
              <a:extLst>
                <a:ext uri="{FF2B5EF4-FFF2-40B4-BE49-F238E27FC236}">
                  <a16:creationId xmlns:a16="http://schemas.microsoft.com/office/drawing/2014/main" id="{BC92DA85-6762-4BE8-3FA6-494E03CB7CA9}"/>
                </a:ext>
              </a:extLst>
            </p:cNvPr>
            <p:cNvGrpSpPr/>
            <p:nvPr/>
          </p:nvGrpSpPr>
          <p:grpSpPr>
            <a:xfrm>
              <a:off x="3462970" y="-385762"/>
              <a:ext cx="4114793" cy="4500557"/>
              <a:chOff x="0" y="-76200"/>
              <a:chExt cx="812800" cy="889000"/>
            </a:xfrm>
          </p:grpSpPr>
          <p:sp>
            <p:nvSpPr>
              <p:cNvPr id="245" name="Google Shape;245;p18">
                <a:extLst>
                  <a:ext uri="{FF2B5EF4-FFF2-40B4-BE49-F238E27FC236}">
                    <a16:creationId xmlns:a16="http://schemas.microsoft.com/office/drawing/2014/main" id="{AC7D03A1-3FB7-611B-309F-4809C8F1C835}"/>
                  </a:ext>
                </a:extLst>
              </p:cNvPr>
              <p:cNvSpPr/>
              <p:nvPr/>
            </p:nvSpPr>
            <p:spPr>
              <a:xfrm>
                <a:off x="0" y="0"/>
                <a:ext cx="112767" cy="391124"/>
              </a:xfrm>
              <a:custGeom>
                <a:avLst/>
                <a:gdLst/>
                <a:ahLst/>
                <a:cxnLst/>
                <a:rect l="l" t="t" r="r" b="b"/>
                <a:pathLst>
                  <a:path w="112767" h="391124" extrusionOk="0">
                    <a:moveTo>
                      <a:pt x="56383" y="0"/>
                    </a:moveTo>
                    <a:lnTo>
                      <a:pt x="56383" y="0"/>
                    </a:lnTo>
                    <a:cubicBezTo>
                      <a:pt x="71337" y="0"/>
                      <a:pt x="85679" y="5940"/>
                      <a:pt x="96253" y="16514"/>
                    </a:cubicBezTo>
                    <a:cubicBezTo>
                      <a:pt x="106826" y="27088"/>
                      <a:pt x="112767" y="41430"/>
                      <a:pt x="112767" y="56383"/>
                    </a:cubicBezTo>
                    <a:lnTo>
                      <a:pt x="112767" y="334740"/>
                    </a:lnTo>
                    <a:cubicBezTo>
                      <a:pt x="112767" y="365880"/>
                      <a:pt x="87523" y="391124"/>
                      <a:pt x="56383" y="391124"/>
                    </a:cubicBezTo>
                    <a:lnTo>
                      <a:pt x="56383" y="391124"/>
                    </a:lnTo>
                    <a:cubicBezTo>
                      <a:pt x="41430" y="391124"/>
                      <a:pt x="27088" y="385183"/>
                      <a:pt x="16514" y="374609"/>
                    </a:cubicBezTo>
                    <a:cubicBezTo>
                      <a:pt x="5940" y="364035"/>
                      <a:pt x="0" y="349694"/>
                      <a:pt x="0" y="334740"/>
                    </a:cubicBezTo>
                    <a:lnTo>
                      <a:pt x="0" y="56383"/>
                    </a:lnTo>
                    <a:cubicBezTo>
                      <a:pt x="0" y="25244"/>
                      <a:pt x="25244" y="0"/>
                      <a:pt x="56383" y="0"/>
                    </a:cubicBezTo>
                    <a:close/>
                  </a:path>
                </a:pathLst>
              </a:custGeom>
              <a:solidFill>
                <a:srgbClr val="EBEAE6"/>
              </a:solidFill>
              <a:ln w="104775" cap="flat" cmpd="sng">
                <a:solidFill>
                  <a:srgbClr val="3A7D4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246;p18">
                <a:extLst>
                  <a:ext uri="{FF2B5EF4-FFF2-40B4-BE49-F238E27FC236}">
                    <a16:creationId xmlns:a16="http://schemas.microsoft.com/office/drawing/2014/main" id="{7FDA68B4-0E59-3EBD-3BFD-562E80E65B39}"/>
                  </a:ext>
                </a:extLst>
              </p:cNvPr>
              <p:cNvSpPr txBox="1"/>
              <p:nvPr/>
            </p:nvSpPr>
            <p:spPr>
              <a:xfrm>
                <a:off x="0" y="-76200"/>
                <a:ext cx="812800" cy="889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96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47" name="Google Shape;247;p18">
              <a:extLst>
                <a:ext uri="{FF2B5EF4-FFF2-40B4-BE49-F238E27FC236}">
                  <a16:creationId xmlns:a16="http://schemas.microsoft.com/office/drawing/2014/main" id="{20879D72-427A-1484-F14C-2028D019328C}"/>
                </a:ext>
              </a:extLst>
            </p:cNvPr>
            <p:cNvGrpSpPr/>
            <p:nvPr/>
          </p:nvGrpSpPr>
          <p:grpSpPr>
            <a:xfrm>
              <a:off x="19226145" y="-385762"/>
              <a:ext cx="4114793" cy="4500557"/>
              <a:chOff x="0" y="-76200"/>
              <a:chExt cx="812800" cy="889000"/>
            </a:xfrm>
          </p:grpSpPr>
          <p:sp>
            <p:nvSpPr>
              <p:cNvPr id="248" name="Google Shape;248;p18">
                <a:extLst>
                  <a:ext uri="{FF2B5EF4-FFF2-40B4-BE49-F238E27FC236}">
                    <a16:creationId xmlns:a16="http://schemas.microsoft.com/office/drawing/2014/main" id="{430592F4-FADB-6C2D-E646-B6B0E9680E91}"/>
                  </a:ext>
                </a:extLst>
              </p:cNvPr>
              <p:cNvSpPr/>
              <p:nvPr/>
            </p:nvSpPr>
            <p:spPr>
              <a:xfrm>
                <a:off x="0" y="0"/>
                <a:ext cx="112767" cy="391124"/>
              </a:xfrm>
              <a:custGeom>
                <a:avLst/>
                <a:gdLst/>
                <a:ahLst/>
                <a:cxnLst/>
                <a:rect l="l" t="t" r="r" b="b"/>
                <a:pathLst>
                  <a:path w="112767" h="391124" extrusionOk="0">
                    <a:moveTo>
                      <a:pt x="56383" y="0"/>
                    </a:moveTo>
                    <a:lnTo>
                      <a:pt x="56383" y="0"/>
                    </a:lnTo>
                    <a:cubicBezTo>
                      <a:pt x="71337" y="0"/>
                      <a:pt x="85679" y="5940"/>
                      <a:pt x="96253" y="16514"/>
                    </a:cubicBezTo>
                    <a:cubicBezTo>
                      <a:pt x="106826" y="27088"/>
                      <a:pt x="112767" y="41430"/>
                      <a:pt x="112767" y="56383"/>
                    </a:cubicBezTo>
                    <a:lnTo>
                      <a:pt x="112767" y="334740"/>
                    </a:lnTo>
                    <a:cubicBezTo>
                      <a:pt x="112767" y="365880"/>
                      <a:pt x="87523" y="391124"/>
                      <a:pt x="56383" y="391124"/>
                    </a:cubicBezTo>
                    <a:lnTo>
                      <a:pt x="56383" y="391124"/>
                    </a:lnTo>
                    <a:cubicBezTo>
                      <a:pt x="41430" y="391124"/>
                      <a:pt x="27088" y="385183"/>
                      <a:pt x="16514" y="374609"/>
                    </a:cubicBezTo>
                    <a:cubicBezTo>
                      <a:pt x="5940" y="364035"/>
                      <a:pt x="0" y="349694"/>
                      <a:pt x="0" y="334740"/>
                    </a:cubicBezTo>
                    <a:lnTo>
                      <a:pt x="0" y="56383"/>
                    </a:lnTo>
                    <a:cubicBezTo>
                      <a:pt x="0" y="25244"/>
                      <a:pt x="25244" y="0"/>
                      <a:pt x="56383" y="0"/>
                    </a:cubicBezTo>
                    <a:close/>
                  </a:path>
                </a:pathLst>
              </a:custGeom>
              <a:solidFill>
                <a:srgbClr val="EBEAE6"/>
              </a:solidFill>
              <a:ln w="104775" cap="flat" cmpd="sng">
                <a:solidFill>
                  <a:srgbClr val="3A7D4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Google Shape;249;p18">
                <a:extLst>
                  <a:ext uri="{FF2B5EF4-FFF2-40B4-BE49-F238E27FC236}">
                    <a16:creationId xmlns:a16="http://schemas.microsoft.com/office/drawing/2014/main" id="{0B3034FC-7BFC-F108-E344-075E318632C2}"/>
                  </a:ext>
                </a:extLst>
              </p:cNvPr>
              <p:cNvSpPr txBox="1"/>
              <p:nvPr/>
            </p:nvSpPr>
            <p:spPr>
              <a:xfrm>
                <a:off x="0" y="-76200"/>
                <a:ext cx="812800" cy="889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96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0" name="Google Shape;250;p18">
              <a:extLst>
                <a:ext uri="{FF2B5EF4-FFF2-40B4-BE49-F238E27FC236}">
                  <a16:creationId xmlns:a16="http://schemas.microsoft.com/office/drawing/2014/main" id="{DCBB4749-E77C-ACBA-63FC-2737BD0FD00E}"/>
                </a:ext>
              </a:extLst>
            </p:cNvPr>
            <p:cNvGrpSpPr/>
            <p:nvPr/>
          </p:nvGrpSpPr>
          <p:grpSpPr>
            <a:xfrm>
              <a:off x="9768240" y="-385762"/>
              <a:ext cx="4114793" cy="4500557"/>
              <a:chOff x="0" y="-76200"/>
              <a:chExt cx="812800" cy="889000"/>
            </a:xfrm>
          </p:grpSpPr>
          <p:sp>
            <p:nvSpPr>
              <p:cNvPr id="251" name="Google Shape;251;p18">
                <a:extLst>
                  <a:ext uri="{FF2B5EF4-FFF2-40B4-BE49-F238E27FC236}">
                    <a16:creationId xmlns:a16="http://schemas.microsoft.com/office/drawing/2014/main" id="{85CA545C-B9E1-934D-3D0C-7D127615957D}"/>
                  </a:ext>
                </a:extLst>
              </p:cNvPr>
              <p:cNvSpPr/>
              <p:nvPr/>
            </p:nvSpPr>
            <p:spPr>
              <a:xfrm>
                <a:off x="0" y="0"/>
                <a:ext cx="112767" cy="391124"/>
              </a:xfrm>
              <a:custGeom>
                <a:avLst/>
                <a:gdLst/>
                <a:ahLst/>
                <a:cxnLst/>
                <a:rect l="l" t="t" r="r" b="b"/>
                <a:pathLst>
                  <a:path w="112767" h="391124" extrusionOk="0">
                    <a:moveTo>
                      <a:pt x="56383" y="0"/>
                    </a:moveTo>
                    <a:lnTo>
                      <a:pt x="56383" y="0"/>
                    </a:lnTo>
                    <a:cubicBezTo>
                      <a:pt x="71337" y="0"/>
                      <a:pt x="85679" y="5940"/>
                      <a:pt x="96253" y="16514"/>
                    </a:cubicBezTo>
                    <a:cubicBezTo>
                      <a:pt x="106826" y="27088"/>
                      <a:pt x="112767" y="41430"/>
                      <a:pt x="112767" y="56383"/>
                    </a:cubicBezTo>
                    <a:lnTo>
                      <a:pt x="112767" y="334740"/>
                    </a:lnTo>
                    <a:cubicBezTo>
                      <a:pt x="112767" y="365880"/>
                      <a:pt x="87523" y="391124"/>
                      <a:pt x="56383" y="391124"/>
                    </a:cubicBezTo>
                    <a:lnTo>
                      <a:pt x="56383" y="391124"/>
                    </a:lnTo>
                    <a:cubicBezTo>
                      <a:pt x="41430" y="391124"/>
                      <a:pt x="27088" y="385183"/>
                      <a:pt x="16514" y="374609"/>
                    </a:cubicBezTo>
                    <a:cubicBezTo>
                      <a:pt x="5940" y="364035"/>
                      <a:pt x="0" y="349694"/>
                      <a:pt x="0" y="334740"/>
                    </a:cubicBezTo>
                    <a:lnTo>
                      <a:pt x="0" y="56383"/>
                    </a:lnTo>
                    <a:cubicBezTo>
                      <a:pt x="0" y="25244"/>
                      <a:pt x="25244" y="0"/>
                      <a:pt x="56383" y="0"/>
                    </a:cubicBezTo>
                    <a:close/>
                  </a:path>
                </a:pathLst>
              </a:custGeom>
              <a:solidFill>
                <a:srgbClr val="EBEAE6"/>
              </a:solidFill>
              <a:ln w="104775" cap="flat" cmpd="sng">
                <a:solidFill>
                  <a:srgbClr val="3A7D4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Google Shape;252;p18">
                <a:extLst>
                  <a:ext uri="{FF2B5EF4-FFF2-40B4-BE49-F238E27FC236}">
                    <a16:creationId xmlns:a16="http://schemas.microsoft.com/office/drawing/2014/main" id="{C4713B1F-7243-5EED-4B23-7B9956AD03D1}"/>
                  </a:ext>
                </a:extLst>
              </p:cNvPr>
              <p:cNvSpPr txBox="1"/>
              <p:nvPr/>
            </p:nvSpPr>
            <p:spPr>
              <a:xfrm>
                <a:off x="0" y="-76200"/>
                <a:ext cx="812800" cy="889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96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3" name="Google Shape;253;p18">
              <a:extLst>
                <a:ext uri="{FF2B5EF4-FFF2-40B4-BE49-F238E27FC236}">
                  <a16:creationId xmlns:a16="http://schemas.microsoft.com/office/drawing/2014/main" id="{764282D0-D14D-E4F5-07F3-BCD1D11C1A5B}"/>
                </a:ext>
              </a:extLst>
            </p:cNvPr>
            <p:cNvGrpSpPr/>
            <p:nvPr/>
          </p:nvGrpSpPr>
          <p:grpSpPr>
            <a:xfrm>
              <a:off x="12920875" y="-385762"/>
              <a:ext cx="4114793" cy="4500557"/>
              <a:chOff x="0" y="-76200"/>
              <a:chExt cx="812800" cy="889000"/>
            </a:xfrm>
          </p:grpSpPr>
          <p:sp>
            <p:nvSpPr>
              <p:cNvPr id="254" name="Google Shape;254;p18">
                <a:extLst>
                  <a:ext uri="{FF2B5EF4-FFF2-40B4-BE49-F238E27FC236}">
                    <a16:creationId xmlns:a16="http://schemas.microsoft.com/office/drawing/2014/main" id="{9C0BD6DE-E38D-AEC5-9021-50ABF7C19CF5}"/>
                  </a:ext>
                </a:extLst>
              </p:cNvPr>
              <p:cNvSpPr/>
              <p:nvPr/>
            </p:nvSpPr>
            <p:spPr>
              <a:xfrm>
                <a:off x="0" y="0"/>
                <a:ext cx="112767" cy="391124"/>
              </a:xfrm>
              <a:custGeom>
                <a:avLst/>
                <a:gdLst/>
                <a:ahLst/>
                <a:cxnLst/>
                <a:rect l="l" t="t" r="r" b="b"/>
                <a:pathLst>
                  <a:path w="112767" h="391124" extrusionOk="0">
                    <a:moveTo>
                      <a:pt x="56383" y="0"/>
                    </a:moveTo>
                    <a:lnTo>
                      <a:pt x="56383" y="0"/>
                    </a:lnTo>
                    <a:cubicBezTo>
                      <a:pt x="71337" y="0"/>
                      <a:pt x="85679" y="5940"/>
                      <a:pt x="96253" y="16514"/>
                    </a:cubicBezTo>
                    <a:cubicBezTo>
                      <a:pt x="106826" y="27088"/>
                      <a:pt x="112767" y="41430"/>
                      <a:pt x="112767" y="56383"/>
                    </a:cubicBezTo>
                    <a:lnTo>
                      <a:pt x="112767" y="334740"/>
                    </a:lnTo>
                    <a:cubicBezTo>
                      <a:pt x="112767" y="365880"/>
                      <a:pt x="87523" y="391124"/>
                      <a:pt x="56383" y="391124"/>
                    </a:cubicBezTo>
                    <a:lnTo>
                      <a:pt x="56383" y="391124"/>
                    </a:lnTo>
                    <a:cubicBezTo>
                      <a:pt x="41430" y="391124"/>
                      <a:pt x="27088" y="385183"/>
                      <a:pt x="16514" y="374609"/>
                    </a:cubicBezTo>
                    <a:cubicBezTo>
                      <a:pt x="5940" y="364035"/>
                      <a:pt x="0" y="349694"/>
                      <a:pt x="0" y="334740"/>
                    </a:cubicBezTo>
                    <a:lnTo>
                      <a:pt x="0" y="56383"/>
                    </a:lnTo>
                    <a:cubicBezTo>
                      <a:pt x="0" y="25244"/>
                      <a:pt x="25244" y="0"/>
                      <a:pt x="56383" y="0"/>
                    </a:cubicBezTo>
                    <a:close/>
                  </a:path>
                </a:pathLst>
              </a:custGeom>
              <a:solidFill>
                <a:srgbClr val="EBEAE6"/>
              </a:solidFill>
              <a:ln w="104775" cap="flat" cmpd="sng">
                <a:solidFill>
                  <a:srgbClr val="3A7D4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55;p18">
                <a:extLst>
                  <a:ext uri="{FF2B5EF4-FFF2-40B4-BE49-F238E27FC236}">
                    <a16:creationId xmlns:a16="http://schemas.microsoft.com/office/drawing/2014/main" id="{B3A48E10-A2CD-C33C-6C46-DE2AC02BE170}"/>
                  </a:ext>
                </a:extLst>
              </p:cNvPr>
              <p:cNvSpPr txBox="1"/>
              <p:nvPr/>
            </p:nvSpPr>
            <p:spPr>
              <a:xfrm>
                <a:off x="0" y="-76200"/>
                <a:ext cx="812800" cy="889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96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6" name="Google Shape;256;p18">
              <a:extLst>
                <a:ext uri="{FF2B5EF4-FFF2-40B4-BE49-F238E27FC236}">
                  <a16:creationId xmlns:a16="http://schemas.microsoft.com/office/drawing/2014/main" id="{873914C3-D22F-E571-807A-7697CC7E6852}"/>
                </a:ext>
              </a:extLst>
            </p:cNvPr>
            <p:cNvGrpSpPr/>
            <p:nvPr/>
          </p:nvGrpSpPr>
          <p:grpSpPr>
            <a:xfrm>
              <a:off x="16073510" y="-385762"/>
              <a:ext cx="4114793" cy="4500557"/>
              <a:chOff x="0" y="-76200"/>
              <a:chExt cx="812800" cy="889000"/>
            </a:xfrm>
          </p:grpSpPr>
          <p:sp>
            <p:nvSpPr>
              <p:cNvPr id="257" name="Google Shape;257;p18">
                <a:extLst>
                  <a:ext uri="{FF2B5EF4-FFF2-40B4-BE49-F238E27FC236}">
                    <a16:creationId xmlns:a16="http://schemas.microsoft.com/office/drawing/2014/main" id="{5791A06D-F71B-5855-9141-7F9A47EAFBEE}"/>
                  </a:ext>
                </a:extLst>
              </p:cNvPr>
              <p:cNvSpPr/>
              <p:nvPr/>
            </p:nvSpPr>
            <p:spPr>
              <a:xfrm>
                <a:off x="0" y="0"/>
                <a:ext cx="112767" cy="391124"/>
              </a:xfrm>
              <a:custGeom>
                <a:avLst/>
                <a:gdLst/>
                <a:ahLst/>
                <a:cxnLst/>
                <a:rect l="l" t="t" r="r" b="b"/>
                <a:pathLst>
                  <a:path w="112767" h="391124" extrusionOk="0">
                    <a:moveTo>
                      <a:pt x="56383" y="0"/>
                    </a:moveTo>
                    <a:lnTo>
                      <a:pt x="56383" y="0"/>
                    </a:lnTo>
                    <a:cubicBezTo>
                      <a:pt x="71337" y="0"/>
                      <a:pt x="85679" y="5940"/>
                      <a:pt x="96253" y="16514"/>
                    </a:cubicBezTo>
                    <a:cubicBezTo>
                      <a:pt x="106826" y="27088"/>
                      <a:pt x="112767" y="41430"/>
                      <a:pt x="112767" y="56383"/>
                    </a:cubicBezTo>
                    <a:lnTo>
                      <a:pt x="112767" y="334740"/>
                    </a:lnTo>
                    <a:cubicBezTo>
                      <a:pt x="112767" y="365880"/>
                      <a:pt x="87523" y="391124"/>
                      <a:pt x="56383" y="391124"/>
                    </a:cubicBezTo>
                    <a:lnTo>
                      <a:pt x="56383" y="391124"/>
                    </a:lnTo>
                    <a:cubicBezTo>
                      <a:pt x="41430" y="391124"/>
                      <a:pt x="27088" y="385183"/>
                      <a:pt x="16514" y="374609"/>
                    </a:cubicBezTo>
                    <a:cubicBezTo>
                      <a:pt x="5940" y="364035"/>
                      <a:pt x="0" y="349694"/>
                      <a:pt x="0" y="334740"/>
                    </a:cubicBezTo>
                    <a:lnTo>
                      <a:pt x="0" y="56383"/>
                    </a:lnTo>
                    <a:cubicBezTo>
                      <a:pt x="0" y="25244"/>
                      <a:pt x="25244" y="0"/>
                      <a:pt x="56383" y="0"/>
                    </a:cubicBezTo>
                    <a:close/>
                  </a:path>
                </a:pathLst>
              </a:custGeom>
              <a:solidFill>
                <a:srgbClr val="EBEAE6"/>
              </a:solidFill>
              <a:ln w="104775" cap="flat" cmpd="sng">
                <a:solidFill>
                  <a:srgbClr val="3A7D4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58;p18">
                <a:extLst>
                  <a:ext uri="{FF2B5EF4-FFF2-40B4-BE49-F238E27FC236}">
                    <a16:creationId xmlns:a16="http://schemas.microsoft.com/office/drawing/2014/main" id="{0DF307EF-6C25-98E9-4CEA-F863AC874434}"/>
                  </a:ext>
                </a:extLst>
              </p:cNvPr>
              <p:cNvSpPr txBox="1"/>
              <p:nvPr/>
            </p:nvSpPr>
            <p:spPr>
              <a:xfrm>
                <a:off x="0" y="-76200"/>
                <a:ext cx="812800" cy="889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96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59" name="Google Shape;259;p18">
            <a:extLst>
              <a:ext uri="{FF2B5EF4-FFF2-40B4-BE49-F238E27FC236}">
                <a16:creationId xmlns:a16="http://schemas.microsoft.com/office/drawing/2014/main" id="{020122F9-1E31-CC6D-C5A7-EAEA22A04A98}"/>
              </a:ext>
            </a:extLst>
          </p:cNvPr>
          <p:cNvGrpSpPr/>
          <p:nvPr/>
        </p:nvGrpSpPr>
        <p:grpSpPr>
          <a:xfrm>
            <a:off x="1000571" y="1346184"/>
            <a:ext cx="16376557" cy="6219299"/>
            <a:chOff x="0" y="-257535"/>
            <a:chExt cx="4313167" cy="1638005"/>
          </a:xfrm>
        </p:grpSpPr>
        <p:sp>
          <p:nvSpPr>
            <p:cNvPr id="260" name="Google Shape;260;p18">
              <a:extLst>
                <a:ext uri="{FF2B5EF4-FFF2-40B4-BE49-F238E27FC236}">
                  <a16:creationId xmlns:a16="http://schemas.microsoft.com/office/drawing/2014/main" id="{8C26EB31-6F36-B4FC-AE71-F50BB09B6D3E}"/>
                </a:ext>
              </a:extLst>
            </p:cNvPr>
            <p:cNvSpPr/>
            <p:nvPr/>
          </p:nvSpPr>
          <p:spPr>
            <a:xfrm>
              <a:off x="0" y="-257535"/>
              <a:ext cx="4313167" cy="1638005"/>
            </a:xfrm>
            <a:custGeom>
              <a:avLst/>
              <a:gdLst/>
              <a:ahLst/>
              <a:cxnLst/>
              <a:rect l="l" t="t" r="r" b="b"/>
              <a:pathLst>
                <a:path w="4313167" h="1380470" extrusionOk="0">
                  <a:moveTo>
                    <a:pt x="0" y="0"/>
                  </a:moveTo>
                  <a:lnTo>
                    <a:pt x="4313167" y="0"/>
                  </a:lnTo>
                  <a:lnTo>
                    <a:pt x="4313167" y="1380470"/>
                  </a:lnTo>
                  <a:lnTo>
                    <a:pt x="0" y="138047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04775" cap="flat" cmpd="sng">
              <a:solidFill>
                <a:srgbClr val="3A7D4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1" name="Google Shape;261;p18">
              <a:extLst>
                <a:ext uri="{FF2B5EF4-FFF2-40B4-BE49-F238E27FC236}">
                  <a16:creationId xmlns:a16="http://schemas.microsoft.com/office/drawing/2014/main" id="{4DA36453-40F8-1C05-9B4A-3C9A4A98EEA1}"/>
                </a:ext>
              </a:extLst>
            </p:cNvPr>
            <p:cNvSpPr txBox="1"/>
            <p:nvPr/>
          </p:nvSpPr>
          <p:spPr>
            <a:xfrm>
              <a:off x="0" y="-76200"/>
              <a:ext cx="812800" cy="889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6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4" name="Google Shape;264;p18">
            <a:extLst>
              <a:ext uri="{FF2B5EF4-FFF2-40B4-BE49-F238E27FC236}">
                <a16:creationId xmlns:a16="http://schemas.microsoft.com/office/drawing/2014/main" id="{910F7911-95DE-90B0-FCC3-C83FFB90C80C}"/>
              </a:ext>
            </a:extLst>
          </p:cNvPr>
          <p:cNvGrpSpPr/>
          <p:nvPr/>
        </p:nvGrpSpPr>
        <p:grpSpPr>
          <a:xfrm>
            <a:off x="1973317" y="750389"/>
            <a:ext cx="14341366" cy="1383859"/>
            <a:chOff x="0" y="-389931"/>
            <a:chExt cx="19121821" cy="1845145"/>
          </a:xfrm>
        </p:grpSpPr>
        <p:sp>
          <p:nvSpPr>
            <p:cNvPr id="265" name="Google Shape;265;p18">
              <a:extLst>
                <a:ext uri="{FF2B5EF4-FFF2-40B4-BE49-F238E27FC236}">
                  <a16:creationId xmlns:a16="http://schemas.microsoft.com/office/drawing/2014/main" id="{CDBA5157-241F-ECC3-DB1F-A53F825E92ED}"/>
                </a:ext>
              </a:extLst>
            </p:cNvPr>
            <p:cNvSpPr txBox="1"/>
            <p:nvPr/>
          </p:nvSpPr>
          <p:spPr>
            <a:xfrm>
              <a:off x="1079157" y="-389931"/>
              <a:ext cx="16077900" cy="28725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6" name="Google Shape;266;p18">
              <a:extLst>
                <a:ext uri="{FF2B5EF4-FFF2-40B4-BE49-F238E27FC236}">
                  <a16:creationId xmlns:a16="http://schemas.microsoft.com/office/drawing/2014/main" id="{782A2769-3728-8A05-525D-139760F28023}"/>
                </a:ext>
              </a:extLst>
            </p:cNvPr>
            <p:cNvSpPr txBox="1"/>
            <p:nvPr/>
          </p:nvSpPr>
          <p:spPr>
            <a:xfrm>
              <a:off x="0" y="-28575"/>
              <a:ext cx="2048803" cy="3504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2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7" name="Google Shape;267;p18">
              <a:extLst>
                <a:ext uri="{FF2B5EF4-FFF2-40B4-BE49-F238E27FC236}">
                  <a16:creationId xmlns:a16="http://schemas.microsoft.com/office/drawing/2014/main" id="{300FCDDB-F736-AF53-C7AA-439B81DE9CB4}"/>
                </a:ext>
              </a:extLst>
            </p:cNvPr>
            <p:cNvSpPr txBox="1"/>
            <p:nvPr/>
          </p:nvSpPr>
          <p:spPr>
            <a:xfrm>
              <a:off x="17073018" y="1104775"/>
              <a:ext cx="2048803" cy="3504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2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268" name="Google Shape;268;p18">
            <a:extLst>
              <a:ext uri="{FF2B5EF4-FFF2-40B4-BE49-F238E27FC236}">
                <a16:creationId xmlns:a16="http://schemas.microsoft.com/office/drawing/2014/main" id="{2BC96EE2-81CC-5217-1825-554489417B11}"/>
              </a:ext>
            </a:extLst>
          </p:cNvPr>
          <p:cNvSpPr txBox="1"/>
          <p:nvPr/>
        </p:nvSpPr>
        <p:spPr>
          <a:xfrm>
            <a:off x="935677" y="7812297"/>
            <a:ext cx="9112095" cy="1709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1">
              <a:lnSpc>
                <a:spcPct val="161000"/>
              </a:lnSpc>
            </a:pPr>
            <a:r>
              <a:rPr lang="en-US" sz="2300" b="1" dirty="0">
                <a:solidFill>
                  <a:srgbClr val="3A7D4D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📌 Preview of the dataset</a:t>
            </a:r>
          </a:p>
          <a:p>
            <a:pPr lvl="1">
              <a:lnSpc>
                <a:spcPct val="161000"/>
              </a:lnSpc>
            </a:pPr>
            <a:r>
              <a:rPr lang="en-US" sz="2300" b="1" dirty="0">
                <a:solidFill>
                  <a:srgbClr val="3A7D4D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📌 The full dataset has 840 rows from 5 cities</a:t>
            </a:r>
          </a:p>
          <a:p>
            <a:pPr lvl="1">
              <a:lnSpc>
                <a:spcPct val="161000"/>
              </a:lnSpc>
            </a:pPr>
            <a:r>
              <a:rPr lang="en-US" sz="2300" b="1" dirty="0">
                <a:solidFill>
                  <a:srgbClr val="3A7D4D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📌 Includes datetime, city, and 4 key variables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F455E81-2B04-E66E-899E-8EB624879F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000" y="1389141"/>
            <a:ext cx="16330127" cy="617634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2426ACB-F62A-408D-3947-5B275CDEB2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5843" y="7940130"/>
            <a:ext cx="8021169" cy="1543265"/>
          </a:xfrm>
          <a:prstGeom prst="rect">
            <a:avLst/>
          </a:prstGeom>
        </p:spPr>
      </p:pic>
      <p:sp>
        <p:nvSpPr>
          <p:cNvPr id="2" name="Google Shape;218;p17">
            <a:extLst>
              <a:ext uri="{FF2B5EF4-FFF2-40B4-BE49-F238E27FC236}">
                <a16:creationId xmlns:a16="http://schemas.microsoft.com/office/drawing/2014/main" id="{256353DF-556B-982D-2BD0-D66409BA29D6}"/>
              </a:ext>
            </a:extLst>
          </p:cNvPr>
          <p:cNvSpPr/>
          <p:nvPr/>
        </p:nvSpPr>
        <p:spPr>
          <a:xfrm>
            <a:off x="8115137" y="7827103"/>
            <a:ext cx="8081874" cy="1709507"/>
          </a:xfrm>
          <a:prstGeom prst="rect">
            <a:avLst/>
          </a:prstGeom>
          <a:solidFill>
            <a:srgbClr val="000000">
              <a:alpha val="0"/>
            </a:srgbClr>
          </a:solidFill>
          <a:ln w="104775" cap="flat" cmpd="sng">
            <a:solidFill>
              <a:srgbClr val="3A7D4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863245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DB898"/>
        </a:solidFill>
        <a:effectLst/>
      </p:bgPr>
    </p:bg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9" name="Google Shape;359;p22"/>
          <p:cNvGrpSpPr/>
          <p:nvPr/>
        </p:nvGrpSpPr>
        <p:grpSpPr>
          <a:xfrm>
            <a:off x="255083" y="31361"/>
            <a:ext cx="17444997" cy="9573744"/>
            <a:chOff x="0" y="-192881"/>
            <a:chExt cx="23259995" cy="12764993"/>
          </a:xfrm>
        </p:grpSpPr>
        <p:grpSp>
          <p:nvGrpSpPr>
            <p:cNvPr id="360" name="Google Shape;360;p22"/>
            <p:cNvGrpSpPr/>
            <p:nvPr/>
          </p:nvGrpSpPr>
          <p:grpSpPr>
            <a:xfrm>
              <a:off x="0" y="-192881"/>
              <a:ext cx="23259995" cy="12764993"/>
              <a:chOff x="0" y="-38100"/>
              <a:chExt cx="4594567" cy="2521480"/>
            </a:xfrm>
          </p:grpSpPr>
          <p:sp>
            <p:nvSpPr>
              <p:cNvPr id="361" name="Google Shape;361;p22"/>
              <p:cNvSpPr/>
              <p:nvPr/>
            </p:nvSpPr>
            <p:spPr>
              <a:xfrm>
                <a:off x="0" y="0"/>
                <a:ext cx="4594567" cy="2483380"/>
              </a:xfrm>
              <a:custGeom>
                <a:avLst/>
                <a:gdLst/>
                <a:ahLst/>
                <a:cxnLst/>
                <a:rect l="l" t="t" r="r" b="b"/>
                <a:pathLst>
                  <a:path w="4594567" h="2483380" extrusionOk="0">
                    <a:moveTo>
                      <a:pt x="4515149" y="0"/>
                    </a:moveTo>
                    <a:lnTo>
                      <a:pt x="79418" y="0"/>
                    </a:lnTo>
                    <a:cubicBezTo>
                      <a:pt x="79418" y="43699"/>
                      <a:pt x="44079" y="79418"/>
                      <a:pt x="0" y="79418"/>
                    </a:cubicBezTo>
                    <a:lnTo>
                      <a:pt x="0" y="2403962"/>
                    </a:lnTo>
                    <a:cubicBezTo>
                      <a:pt x="43699" y="2403962"/>
                      <a:pt x="79418" y="2439301"/>
                      <a:pt x="79418" y="2483380"/>
                    </a:cubicBezTo>
                    <a:lnTo>
                      <a:pt x="4515149" y="2483380"/>
                    </a:lnTo>
                    <a:cubicBezTo>
                      <a:pt x="4515149" y="2439681"/>
                      <a:pt x="4550488" y="2403962"/>
                      <a:pt x="4594567" y="2403962"/>
                    </a:cubicBezTo>
                    <a:lnTo>
                      <a:pt x="4594567" y="79418"/>
                    </a:lnTo>
                    <a:cubicBezTo>
                      <a:pt x="4550868" y="79418"/>
                      <a:pt x="4515149" y="44079"/>
                      <a:pt x="4515149" y="0"/>
                    </a:cubicBezTo>
                    <a:close/>
                  </a:path>
                </a:pathLst>
              </a:custGeom>
              <a:solidFill>
                <a:srgbClr val="EBEAE6"/>
              </a:solidFill>
              <a:ln w="104775" cap="flat" cmpd="sng">
                <a:solidFill>
                  <a:srgbClr val="3A7D4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" name="Google Shape;362;p22"/>
              <p:cNvSpPr txBox="1"/>
              <p:nvPr/>
            </p:nvSpPr>
            <p:spPr>
              <a:xfrm>
                <a:off x="38100" y="-38100"/>
                <a:ext cx="736500" cy="812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96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363" name="Google Shape;363;p22"/>
            <p:cNvCxnSpPr/>
            <p:nvPr/>
          </p:nvCxnSpPr>
          <p:spPr>
            <a:xfrm rot="-5400000">
              <a:off x="1740790" y="6223866"/>
              <a:ext cx="12587700" cy="0"/>
            </a:xfrm>
            <a:prstGeom prst="straightConnector1">
              <a:avLst/>
            </a:prstGeom>
            <a:noFill/>
            <a:ln w="139700" cap="flat" cmpd="sng">
              <a:solidFill>
                <a:srgbClr val="3A7D4D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364" name="Google Shape;364;p22"/>
          <p:cNvGrpSpPr/>
          <p:nvPr/>
        </p:nvGrpSpPr>
        <p:grpSpPr>
          <a:xfrm>
            <a:off x="6651523" y="31361"/>
            <a:ext cx="10707326" cy="6079087"/>
            <a:chOff x="0" y="-76200"/>
            <a:chExt cx="2486341" cy="1093254"/>
          </a:xfrm>
        </p:grpSpPr>
        <p:sp>
          <p:nvSpPr>
            <p:cNvPr id="365" name="Google Shape;365;p22"/>
            <p:cNvSpPr/>
            <p:nvPr/>
          </p:nvSpPr>
          <p:spPr>
            <a:xfrm>
              <a:off x="0" y="0"/>
              <a:ext cx="2486341" cy="1017054"/>
            </a:xfrm>
            <a:custGeom>
              <a:avLst/>
              <a:gdLst/>
              <a:ahLst/>
              <a:cxnLst/>
              <a:rect l="l" t="t" r="r" b="b"/>
              <a:pathLst>
                <a:path w="2486341" h="1017054" extrusionOk="0">
                  <a:moveTo>
                    <a:pt x="53306" y="0"/>
                  </a:moveTo>
                  <a:lnTo>
                    <a:pt x="2433035" y="0"/>
                  </a:lnTo>
                  <a:cubicBezTo>
                    <a:pt x="2462475" y="0"/>
                    <a:pt x="2486341" y="23866"/>
                    <a:pt x="2486341" y="53306"/>
                  </a:cubicBezTo>
                  <a:lnTo>
                    <a:pt x="2486341" y="963749"/>
                  </a:lnTo>
                  <a:cubicBezTo>
                    <a:pt x="2486341" y="977886"/>
                    <a:pt x="2480725" y="991445"/>
                    <a:pt x="2470728" y="1001441"/>
                  </a:cubicBezTo>
                  <a:cubicBezTo>
                    <a:pt x="2460732" y="1011438"/>
                    <a:pt x="2447173" y="1017054"/>
                    <a:pt x="2433035" y="1017054"/>
                  </a:cubicBezTo>
                  <a:lnTo>
                    <a:pt x="53306" y="1017054"/>
                  </a:lnTo>
                  <a:cubicBezTo>
                    <a:pt x="39168" y="1017054"/>
                    <a:pt x="25610" y="1011438"/>
                    <a:pt x="15613" y="1001441"/>
                  </a:cubicBezTo>
                  <a:cubicBezTo>
                    <a:pt x="5616" y="991445"/>
                    <a:pt x="0" y="977886"/>
                    <a:pt x="0" y="963749"/>
                  </a:cubicBezTo>
                  <a:lnTo>
                    <a:pt x="0" y="53306"/>
                  </a:lnTo>
                  <a:cubicBezTo>
                    <a:pt x="0" y="23866"/>
                    <a:pt x="23866" y="0"/>
                    <a:pt x="5330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04775" cap="flat" cmpd="sng">
              <a:solidFill>
                <a:srgbClr val="3A7D4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22"/>
            <p:cNvSpPr txBox="1"/>
            <p:nvPr/>
          </p:nvSpPr>
          <p:spPr>
            <a:xfrm>
              <a:off x="0" y="-76200"/>
              <a:ext cx="812700" cy="88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6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3" name="Google Shape;373;p22"/>
          <p:cNvGrpSpPr/>
          <p:nvPr/>
        </p:nvGrpSpPr>
        <p:grpSpPr>
          <a:xfrm>
            <a:off x="7499694" y="6626378"/>
            <a:ext cx="2583181" cy="231828"/>
            <a:chOff x="-2823" y="-92"/>
            <a:chExt cx="1275645" cy="114483"/>
          </a:xfrm>
        </p:grpSpPr>
        <p:sp>
          <p:nvSpPr>
            <p:cNvPr id="374" name="Google Shape;374;p22"/>
            <p:cNvSpPr/>
            <p:nvPr/>
          </p:nvSpPr>
          <p:spPr>
            <a:xfrm>
              <a:off x="-2823" y="-92"/>
              <a:ext cx="1275645" cy="114483"/>
            </a:xfrm>
            <a:custGeom>
              <a:avLst/>
              <a:gdLst/>
              <a:ahLst/>
              <a:cxnLst/>
              <a:rect l="l" t="t" r="r" b="b"/>
              <a:pathLst>
                <a:path w="1275645" h="114483" extrusionOk="0">
                  <a:moveTo>
                    <a:pt x="59973" y="92"/>
                  </a:moveTo>
                  <a:lnTo>
                    <a:pt x="1215673" y="92"/>
                  </a:lnTo>
                  <a:cubicBezTo>
                    <a:pt x="1236152" y="0"/>
                    <a:pt x="1255114" y="10873"/>
                    <a:pt x="1265380" y="28593"/>
                  </a:cubicBezTo>
                  <a:cubicBezTo>
                    <a:pt x="1275646" y="46313"/>
                    <a:pt x="1275646" y="68171"/>
                    <a:pt x="1265380" y="85891"/>
                  </a:cubicBezTo>
                  <a:cubicBezTo>
                    <a:pt x="1255114" y="103611"/>
                    <a:pt x="1236152" y="114484"/>
                    <a:pt x="1215673" y="114392"/>
                  </a:cubicBezTo>
                  <a:lnTo>
                    <a:pt x="59973" y="114392"/>
                  </a:lnTo>
                  <a:cubicBezTo>
                    <a:pt x="39494" y="114484"/>
                    <a:pt x="20532" y="103611"/>
                    <a:pt x="10266" y="85891"/>
                  </a:cubicBezTo>
                  <a:cubicBezTo>
                    <a:pt x="0" y="68171"/>
                    <a:pt x="0" y="46313"/>
                    <a:pt x="10266" y="28593"/>
                  </a:cubicBezTo>
                  <a:cubicBezTo>
                    <a:pt x="20532" y="10873"/>
                    <a:pt x="39494" y="0"/>
                    <a:pt x="59973" y="92"/>
                  </a:cubicBezTo>
                  <a:close/>
                </a:path>
              </a:pathLst>
            </a:custGeom>
            <a:solidFill>
              <a:srgbClr val="9FB6A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22"/>
            <p:cNvSpPr/>
            <p:nvPr/>
          </p:nvSpPr>
          <p:spPr>
            <a:xfrm>
              <a:off x="-2823" y="-92"/>
              <a:ext cx="894645" cy="114483"/>
            </a:xfrm>
            <a:custGeom>
              <a:avLst/>
              <a:gdLst/>
              <a:ahLst/>
              <a:cxnLst/>
              <a:rect l="l" t="t" r="r" b="b"/>
              <a:pathLst>
                <a:path w="894645" h="114483" extrusionOk="0">
                  <a:moveTo>
                    <a:pt x="59973" y="92"/>
                  </a:moveTo>
                  <a:lnTo>
                    <a:pt x="834673" y="92"/>
                  </a:lnTo>
                  <a:cubicBezTo>
                    <a:pt x="855152" y="0"/>
                    <a:pt x="874114" y="10873"/>
                    <a:pt x="884380" y="28593"/>
                  </a:cubicBezTo>
                  <a:cubicBezTo>
                    <a:pt x="894646" y="46313"/>
                    <a:pt x="894646" y="68171"/>
                    <a:pt x="884380" y="85891"/>
                  </a:cubicBezTo>
                  <a:cubicBezTo>
                    <a:pt x="874114" y="103611"/>
                    <a:pt x="855152" y="114484"/>
                    <a:pt x="834673" y="114392"/>
                  </a:cubicBezTo>
                  <a:lnTo>
                    <a:pt x="59973" y="114392"/>
                  </a:lnTo>
                  <a:cubicBezTo>
                    <a:pt x="39494" y="114484"/>
                    <a:pt x="20532" y="103611"/>
                    <a:pt x="10266" y="85891"/>
                  </a:cubicBezTo>
                  <a:cubicBezTo>
                    <a:pt x="0" y="68171"/>
                    <a:pt x="0" y="46313"/>
                    <a:pt x="10266" y="28593"/>
                  </a:cubicBezTo>
                  <a:cubicBezTo>
                    <a:pt x="20532" y="10873"/>
                    <a:pt x="39494" y="0"/>
                    <a:pt x="59973" y="92"/>
                  </a:cubicBezTo>
                  <a:close/>
                </a:path>
              </a:pathLst>
            </a:custGeom>
            <a:solidFill>
              <a:srgbClr val="3A7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6" name="Google Shape;376;p22"/>
          <p:cNvGrpSpPr/>
          <p:nvPr/>
        </p:nvGrpSpPr>
        <p:grpSpPr>
          <a:xfrm>
            <a:off x="6117610" y="7471508"/>
            <a:ext cx="5965751" cy="1276220"/>
            <a:chOff x="-1258979" y="94344"/>
            <a:chExt cx="7954335" cy="1701626"/>
          </a:xfrm>
        </p:grpSpPr>
        <p:sp>
          <p:nvSpPr>
            <p:cNvPr id="377" name="Google Shape;377;p22"/>
            <p:cNvSpPr txBox="1"/>
            <p:nvPr/>
          </p:nvSpPr>
          <p:spPr>
            <a:xfrm>
              <a:off x="434356" y="1373717"/>
              <a:ext cx="6261000" cy="42225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1" indent="0" algn="ctr" rtl="0">
                <a:lnSpc>
                  <a:spcPct val="14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8" name="Google Shape;378;p22"/>
            <p:cNvSpPr txBox="1"/>
            <p:nvPr/>
          </p:nvSpPr>
          <p:spPr>
            <a:xfrm>
              <a:off x="-1258979" y="94344"/>
              <a:ext cx="7129800" cy="15019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 algn="ctr">
                <a:lnSpc>
                  <a:spcPct val="122003"/>
                </a:lnSpc>
              </a:pPr>
              <a:r>
                <a:rPr lang="en-US" sz="2000" b="1" dirty="0">
                  <a:solidFill>
                    <a:srgbClr val="3A7D4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Sriracha"/>
                </a:rPr>
                <a:t>Toronto + Ottawa → </a:t>
              </a:r>
              <a:r>
                <a:rPr lang="en-US" sz="2000" b="1" dirty="0" err="1">
                  <a:solidFill>
                    <a:srgbClr val="3A7D4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Sriracha"/>
                </a:rPr>
                <a:t>ont</a:t>
              </a:r>
              <a:r>
                <a:rPr lang="en-US" sz="2000" b="1" dirty="0">
                  <a:solidFill>
                    <a:srgbClr val="3A7D4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Sriracha"/>
                </a:rPr>
                <a:t>/</a:t>
              </a:r>
            </a:p>
            <a:p>
              <a:pPr lvl="0" algn="ctr">
                <a:lnSpc>
                  <a:spcPct val="122003"/>
                </a:lnSpc>
              </a:pPr>
              <a:r>
                <a:rPr lang="en-US" sz="2000" b="1" dirty="0">
                  <a:solidFill>
                    <a:srgbClr val="3A7D4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Sriracha"/>
                </a:rPr>
                <a:t>Calgary → </a:t>
              </a:r>
              <a:r>
                <a:rPr lang="en-US" sz="2000" b="1" dirty="0" err="1">
                  <a:solidFill>
                    <a:srgbClr val="3A7D4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Sriracha"/>
                </a:rPr>
                <a:t>pnr</a:t>
              </a:r>
              <a:r>
                <a:rPr lang="en-US" sz="2000" b="1" dirty="0">
                  <a:solidFill>
                    <a:srgbClr val="3A7D4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Sriracha"/>
                </a:rPr>
                <a:t>/</a:t>
              </a:r>
            </a:p>
            <a:p>
              <a:pPr lvl="0" algn="ctr">
                <a:lnSpc>
                  <a:spcPct val="122003"/>
                </a:lnSpc>
              </a:pPr>
              <a:r>
                <a:rPr lang="en-US" sz="2000" b="1" dirty="0">
                  <a:solidFill>
                    <a:srgbClr val="3A7D4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Sriracha"/>
                </a:rPr>
                <a:t>Vancouver + Victoria → </a:t>
              </a:r>
              <a:r>
                <a:rPr lang="en-US" sz="2000" b="1" dirty="0" err="1">
                  <a:solidFill>
                    <a:srgbClr val="3A7D4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Sriracha"/>
                </a:rPr>
                <a:t>pyr</a:t>
              </a:r>
              <a:r>
                <a:rPr lang="en-US" sz="2000" b="1" dirty="0">
                  <a:solidFill>
                    <a:srgbClr val="3A7D4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Sriracha"/>
                </a:rPr>
                <a:t>/</a:t>
              </a:r>
              <a:endParaRPr sz="2000" dirty="0"/>
            </a:p>
          </p:txBody>
        </p:sp>
      </p:grpSp>
      <p:grpSp>
        <p:nvGrpSpPr>
          <p:cNvPr id="380" name="Google Shape;380;p22"/>
          <p:cNvGrpSpPr/>
          <p:nvPr/>
        </p:nvGrpSpPr>
        <p:grpSpPr>
          <a:xfrm>
            <a:off x="11753526" y="6276283"/>
            <a:ext cx="5795780" cy="2974022"/>
            <a:chOff x="-439830" y="-1499288"/>
            <a:chExt cx="7727707" cy="3965361"/>
          </a:xfrm>
        </p:grpSpPr>
        <p:sp>
          <p:nvSpPr>
            <p:cNvPr id="381" name="Google Shape;381;p22"/>
            <p:cNvSpPr txBox="1"/>
            <p:nvPr/>
          </p:nvSpPr>
          <p:spPr>
            <a:xfrm>
              <a:off x="-439830" y="-1394811"/>
              <a:ext cx="7129800" cy="386088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1">
                <a:lnSpc>
                  <a:spcPct val="147000"/>
                </a:lnSpc>
              </a:pPr>
              <a:r>
                <a:rPr lang="en-US" sz="1600" b="1" dirty="0">
                  <a:solidFill>
                    <a:srgbClr val="3A7D4D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- AQHI data is recorded hourly with a timestamp for each observation.</a:t>
              </a:r>
            </a:p>
            <a:p>
              <a:pPr lvl="1">
                <a:lnSpc>
                  <a:spcPct val="147000"/>
                </a:lnSpc>
              </a:pPr>
              <a:r>
                <a:rPr lang="en-US" sz="1600" b="1" dirty="0">
                  <a:solidFill>
                    <a:srgbClr val="3A7D4D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- Each column code represents a different monitoring station within the selected city.</a:t>
              </a:r>
            </a:p>
            <a:p>
              <a:pPr lvl="1">
                <a:lnSpc>
                  <a:spcPct val="147000"/>
                </a:lnSpc>
              </a:pPr>
              <a:r>
                <a:rPr lang="en-US" sz="1600" b="1" dirty="0">
                  <a:solidFill>
                    <a:srgbClr val="3A7D4D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- Cities can have multiple stations, so data includes several readings per hour.</a:t>
              </a:r>
            </a:p>
            <a:p>
              <a:pPr lvl="1">
                <a:lnSpc>
                  <a:spcPct val="147000"/>
                </a:lnSpc>
              </a:pPr>
              <a:r>
                <a:rPr lang="en-US" sz="1600" b="1" dirty="0">
                  <a:solidFill>
                    <a:srgbClr val="3A7D4D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- The preview above shows the raw format before cleaning and processing.</a:t>
              </a:r>
              <a:endParaRPr sz="1600" dirty="0"/>
            </a:p>
          </p:txBody>
        </p:sp>
        <p:sp>
          <p:nvSpPr>
            <p:cNvPr id="382" name="Google Shape;382;p22"/>
            <p:cNvSpPr txBox="1"/>
            <p:nvPr/>
          </p:nvSpPr>
          <p:spPr>
            <a:xfrm>
              <a:off x="-23" y="-1499288"/>
              <a:ext cx="7287900" cy="3504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200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383" name="Google Shape;383;p22"/>
          <p:cNvGrpSpPr/>
          <p:nvPr/>
        </p:nvGrpSpPr>
        <p:grpSpPr>
          <a:xfrm>
            <a:off x="748257" y="7393606"/>
            <a:ext cx="5465925" cy="1354122"/>
            <a:chOff x="0" y="-9525"/>
            <a:chExt cx="7287900" cy="1805495"/>
          </a:xfrm>
        </p:grpSpPr>
        <p:sp>
          <p:nvSpPr>
            <p:cNvPr id="384" name="Google Shape;384;p22"/>
            <p:cNvSpPr txBox="1"/>
            <p:nvPr/>
          </p:nvSpPr>
          <p:spPr>
            <a:xfrm>
              <a:off x="0" y="1373717"/>
              <a:ext cx="7287900" cy="42225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1" indent="0" algn="ctr" rtl="0">
                <a:lnSpc>
                  <a:spcPct val="14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5" name="Google Shape;385;p22"/>
            <p:cNvSpPr txBox="1"/>
            <p:nvPr/>
          </p:nvSpPr>
          <p:spPr>
            <a:xfrm>
              <a:off x="513383" y="-9525"/>
              <a:ext cx="6261000" cy="3504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200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E3EB7BC3-3594-71B2-3E20-61378E7D00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920" y="733233"/>
            <a:ext cx="5626262" cy="25630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0C33361-7EAC-6C5F-64FF-B3BB09B5D2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920" y="3674292"/>
            <a:ext cx="5626258" cy="271362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13C8B2A-49C2-C4A6-95B4-2038A5ED66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887" y="6684257"/>
            <a:ext cx="5578323" cy="279678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E029CE8-01FF-7667-3453-D4224EA7912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4874" y="448957"/>
            <a:ext cx="10673972" cy="568445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DB898"/>
        </a:solidFill>
        <a:effectLst/>
      </p:bgPr>
    </p:bg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Google Shape;306;p20"/>
          <p:cNvPicPr preferRelativeResize="0"/>
          <p:nvPr/>
        </p:nvPicPr>
        <p:blipFill rotWithShape="1">
          <a:blip r:embed="rId3">
            <a:alphaModFix/>
          </a:blip>
          <a:srcRect l="18275" t="55740" r="55820" b="23615"/>
          <a:stretch/>
        </p:blipFill>
        <p:spPr>
          <a:xfrm>
            <a:off x="14493221" y="7246031"/>
            <a:ext cx="4737451" cy="212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712173" y="2952617"/>
            <a:ext cx="4344205" cy="3570147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2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946666" y="-2551564"/>
            <a:ext cx="6682669" cy="510312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9" name="Google Shape;309;p20"/>
          <p:cNvGrpSpPr/>
          <p:nvPr/>
        </p:nvGrpSpPr>
        <p:grpSpPr>
          <a:xfrm rot="-5400000">
            <a:off x="4357128" y="-1385903"/>
            <a:ext cx="9573746" cy="12914145"/>
            <a:chOff x="0" y="0"/>
            <a:chExt cx="12764994" cy="17218861"/>
          </a:xfrm>
        </p:grpSpPr>
        <p:grpSp>
          <p:nvGrpSpPr>
            <p:cNvPr id="310" name="Google Shape;310;p20"/>
            <p:cNvGrpSpPr/>
            <p:nvPr/>
          </p:nvGrpSpPr>
          <p:grpSpPr>
            <a:xfrm rot="5400000">
              <a:off x="-2226933" y="2226933"/>
              <a:ext cx="17218861" cy="12764994"/>
              <a:chOff x="0" y="-38100"/>
              <a:chExt cx="3401256" cy="2521480"/>
            </a:xfrm>
          </p:grpSpPr>
          <p:sp>
            <p:nvSpPr>
              <p:cNvPr id="311" name="Google Shape;311;p20"/>
              <p:cNvSpPr/>
              <p:nvPr/>
            </p:nvSpPr>
            <p:spPr>
              <a:xfrm>
                <a:off x="0" y="0"/>
                <a:ext cx="3401256" cy="2483380"/>
              </a:xfrm>
              <a:custGeom>
                <a:avLst/>
                <a:gdLst/>
                <a:ahLst/>
                <a:cxnLst/>
                <a:rect l="l" t="t" r="r" b="b"/>
                <a:pathLst>
                  <a:path w="3401256" h="2483380" extrusionOk="0">
                    <a:moveTo>
                      <a:pt x="3321838" y="0"/>
                    </a:moveTo>
                    <a:lnTo>
                      <a:pt x="79418" y="0"/>
                    </a:lnTo>
                    <a:cubicBezTo>
                      <a:pt x="79418" y="43699"/>
                      <a:pt x="44079" y="79418"/>
                      <a:pt x="0" y="79418"/>
                    </a:cubicBezTo>
                    <a:lnTo>
                      <a:pt x="0" y="2403962"/>
                    </a:lnTo>
                    <a:cubicBezTo>
                      <a:pt x="43699" y="2403962"/>
                      <a:pt x="79418" y="2439301"/>
                      <a:pt x="79418" y="2483380"/>
                    </a:cubicBezTo>
                    <a:lnTo>
                      <a:pt x="3321838" y="2483380"/>
                    </a:lnTo>
                    <a:cubicBezTo>
                      <a:pt x="3321838" y="2439681"/>
                      <a:pt x="3357177" y="2403962"/>
                      <a:pt x="3401256" y="2403962"/>
                    </a:cubicBezTo>
                    <a:lnTo>
                      <a:pt x="3401256" y="79418"/>
                    </a:lnTo>
                    <a:cubicBezTo>
                      <a:pt x="3357557" y="79418"/>
                      <a:pt x="3321838" y="44079"/>
                      <a:pt x="3321838" y="0"/>
                    </a:cubicBezTo>
                    <a:close/>
                  </a:path>
                </a:pathLst>
              </a:custGeom>
              <a:solidFill>
                <a:srgbClr val="EBEAE6"/>
              </a:solidFill>
              <a:ln w="104775" cap="flat" cmpd="sng">
                <a:solidFill>
                  <a:srgbClr val="3A7D4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" name="Google Shape;312;p20"/>
              <p:cNvSpPr txBox="1"/>
              <p:nvPr/>
            </p:nvSpPr>
            <p:spPr>
              <a:xfrm>
                <a:off x="38100" y="-38100"/>
                <a:ext cx="736600" cy="81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96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13" name="Google Shape;313;p20"/>
            <p:cNvGrpSpPr/>
            <p:nvPr/>
          </p:nvGrpSpPr>
          <p:grpSpPr>
            <a:xfrm>
              <a:off x="11076499" y="4463033"/>
              <a:ext cx="857404" cy="861247"/>
              <a:chOff x="1813" y="0"/>
              <a:chExt cx="809173" cy="812800"/>
            </a:xfrm>
          </p:grpSpPr>
          <p:sp>
            <p:nvSpPr>
              <p:cNvPr id="314" name="Google Shape;314;p20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7DB898"/>
              </a:solidFill>
              <a:ln w="104775" cap="flat" cmpd="sng">
                <a:solidFill>
                  <a:srgbClr val="3A7D4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" name="Google Shape;315;p20"/>
              <p:cNvSpPr txBox="1"/>
              <p:nvPr/>
            </p:nvSpPr>
            <p:spPr>
              <a:xfrm>
                <a:off x="76200" y="0"/>
                <a:ext cx="660400" cy="736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96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16" name="Google Shape;316;p20"/>
            <p:cNvGrpSpPr/>
            <p:nvPr/>
          </p:nvGrpSpPr>
          <p:grpSpPr>
            <a:xfrm>
              <a:off x="11076499" y="9417398"/>
              <a:ext cx="857404" cy="861247"/>
              <a:chOff x="1813" y="0"/>
              <a:chExt cx="809173" cy="812800"/>
            </a:xfrm>
          </p:grpSpPr>
          <p:sp>
            <p:nvSpPr>
              <p:cNvPr id="317" name="Google Shape;317;p20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7DB898"/>
              </a:solidFill>
              <a:ln w="104775" cap="flat" cmpd="sng">
                <a:solidFill>
                  <a:srgbClr val="3A7D4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" name="Google Shape;318;p20"/>
              <p:cNvSpPr txBox="1"/>
              <p:nvPr/>
            </p:nvSpPr>
            <p:spPr>
              <a:xfrm>
                <a:off x="76200" y="0"/>
                <a:ext cx="660400" cy="736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96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19" name="Google Shape;319;p20"/>
            <p:cNvGrpSpPr/>
            <p:nvPr/>
          </p:nvGrpSpPr>
          <p:grpSpPr>
            <a:xfrm>
              <a:off x="11076499" y="6940216"/>
              <a:ext cx="857404" cy="861247"/>
              <a:chOff x="1813" y="0"/>
              <a:chExt cx="809173" cy="812800"/>
            </a:xfrm>
          </p:grpSpPr>
          <p:sp>
            <p:nvSpPr>
              <p:cNvPr id="320" name="Google Shape;320;p20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7DB898"/>
              </a:solidFill>
              <a:ln w="104775" cap="flat" cmpd="sng">
                <a:solidFill>
                  <a:srgbClr val="3A7D4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" name="Google Shape;321;p20"/>
              <p:cNvSpPr txBox="1"/>
              <p:nvPr/>
            </p:nvSpPr>
            <p:spPr>
              <a:xfrm>
                <a:off x="76200" y="0"/>
                <a:ext cx="660400" cy="736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96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22" name="Google Shape;322;p20"/>
            <p:cNvGrpSpPr/>
            <p:nvPr/>
          </p:nvGrpSpPr>
          <p:grpSpPr>
            <a:xfrm>
              <a:off x="11076499" y="11894580"/>
              <a:ext cx="857404" cy="861247"/>
              <a:chOff x="1813" y="0"/>
              <a:chExt cx="809173" cy="812800"/>
            </a:xfrm>
          </p:grpSpPr>
          <p:sp>
            <p:nvSpPr>
              <p:cNvPr id="323" name="Google Shape;323;p20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7DB898"/>
              </a:solidFill>
              <a:ln w="104775" cap="flat" cmpd="sng">
                <a:solidFill>
                  <a:srgbClr val="3A7D4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" name="Google Shape;324;p20"/>
              <p:cNvSpPr txBox="1"/>
              <p:nvPr/>
            </p:nvSpPr>
            <p:spPr>
              <a:xfrm>
                <a:off x="76200" y="0"/>
                <a:ext cx="660400" cy="736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96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aphicFrame>
        <p:nvGraphicFramePr>
          <p:cNvPr id="325" name="Google Shape;325;p20"/>
          <p:cNvGraphicFramePr/>
          <p:nvPr>
            <p:extLst>
              <p:ext uri="{D42A27DB-BD31-4B8C-83A1-F6EECF244321}">
                <p14:modId xmlns:p14="http://schemas.microsoft.com/office/powerpoint/2010/main" val="3387658017"/>
              </p:ext>
            </p:extLst>
          </p:nvPr>
        </p:nvGraphicFramePr>
        <p:xfrm>
          <a:off x="3603309" y="2952617"/>
          <a:ext cx="11081375" cy="6657975"/>
        </p:xfrm>
        <a:graphic>
          <a:graphicData uri="http://schemas.openxmlformats.org/drawingml/2006/table">
            <a:tbl>
              <a:tblPr>
                <a:noFill/>
                <a:tableStyleId>{5FC2D61F-A503-4127-A33E-5B924C992E9B}</a:tableStyleId>
              </a:tblPr>
              <a:tblGrid>
                <a:gridCol w="43460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353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144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100" b="1" u="none" strike="noStrike" cap="none" dirty="0">
                          <a:solidFill>
                            <a:srgbClr val="3A7D4D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Sriracha"/>
                        </a:rPr>
                        <a:t>Calgary → “IAKID”</a:t>
                      </a:r>
                      <a:endParaRPr sz="1100" u="none" strike="noStrike" cap="none" dirty="0"/>
                    </a:p>
                  </a:txBody>
                  <a:tcPr marL="254450" marR="254450" marT="254450" marB="2544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7150" cap="flat" cmpd="sng">
                      <a:solidFill>
                        <a:srgbClr val="3A7D4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 b="1" u="none" strike="noStrike" cap="none" dirty="0">
                          <a:solidFill>
                            <a:srgbClr val="3A7D4D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Calgary Airshed Zone</a:t>
                      </a:r>
                      <a:endParaRPr lang="en-US" sz="1100" u="none" strike="noStrike" cap="none" dirty="0"/>
                    </a:p>
                  </a:txBody>
                  <a:tcPr marL="254450" marR="254450" marT="254450" marB="2544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7150" cap="flat" cmpd="sng">
                      <a:solidFill>
                        <a:srgbClr val="3A7D4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43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100" b="1" u="none" strike="noStrike" cap="none" dirty="0">
                          <a:solidFill>
                            <a:srgbClr val="3A7D4D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Sriracha"/>
                        </a:rPr>
                        <a:t>Vancouver → “JAZBU”</a:t>
                      </a:r>
                      <a:endParaRPr sz="1100" u="none" strike="noStrike" cap="none" dirty="0"/>
                    </a:p>
                  </a:txBody>
                  <a:tcPr marL="254450" marR="254450" marT="254450" marB="2544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7150" cap="flat" cmpd="sng">
                      <a:solidFill>
                        <a:srgbClr val="3A7D4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7150" cap="flat" cmpd="sng">
                      <a:solidFill>
                        <a:srgbClr val="3A7D4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 b="1" u="none" strike="noStrike" cap="none" dirty="0">
                          <a:solidFill>
                            <a:srgbClr val="3A7D4D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Metro Vancouver Region</a:t>
                      </a:r>
                      <a:endParaRPr sz="1100" u="none" strike="noStrike" cap="none" dirty="0"/>
                    </a:p>
                  </a:txBody>
                  <a:tcPr marL="254450" marR="254450" marT="254450" marB="2544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7150" cap="flat" cmpd="sng">
                      <a:solidFill>
                        <a:srgbClr val="3A7D4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7150" cap="flat" cmpd="sng">
                      <a:solidFill>
                        <a:srgbClr val="3A7D4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43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100" b="1" u="none" strike="noStrike" cap="none" dirty="0">
                          <a:solidFill>
                            <a:srgbClr val="3A7D4D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Sriracha"/>
                        </a:rPr>
                        <a:t>Toronto → “FDQBU”</a:t>
                      </a:r>
                      <a:endParaRPr sz="1100" u="none" strike="noStrike" cap="none" dirty="0"/>
                    </a:p>
                  </a:txBody>
                  <a:tcPr marL="254450" marR="254450" marT="254450" marB="2544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7150" cap="flat" cmpd="sng">
                      <a:solidFill>
                        <a:srgbClr val="3A7D4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7150" cap="flat" cmpd="sng">
                      <a:solidFill>
                        <a:srgbClr val="3A7D4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 b="1" u="none" strike="noStrike" cap="none" dirty="0">
                          <a:solidFill>
                            <a:srgbClr val="3A7D4D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Ontario AQHI Network</a:t>
                      </a:r>
                      <a:endParaRPr lang="en-US" sz="1100" u="none" strike="noStrike" cap="none" dirty="0"/>
                    </a:p>
                  </a:txBody>
                  <a:tcPr marL="254450" marR="254450" marT="254450" marB="2544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7150" cap="flat" cmpd="sng">
                      <a:solidFill>
                        <a:srgbClr val="3A7D4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7150" cap="flat" cmpd="sng">
                      <a:solidFill>
                        <a:srgbClr val="3A7D4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43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100" b="1" u="none" strike="noStrike" cap="none" dirty="0">
                          <a:solidFill>
                            <a:srgbClr val="3A7D4D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Sriracha"/>
                        </a:rPr>
                        <a:t>Ottawa → “FEVNT”</a:t>
                      </a:r>
                      <a:endParaRPr sz="1100" u="none" strike="noStrike" cap="none" dirty="0"/>
                    </a:p>
                  </a:txBody>
                  <a:tcPr marL="254450" marR="254450" marT="254450" marB="2544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7150" cap="flat" cmpd="sng">
                      <a:solidFill>
                        <a:srgbClr val="3A7D4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7150" cap="flat" cmpd="sng">
                      <a:solidFill>
                        <a:srgbClr val="3A7D4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 b="1" u="none" strike="noStrike" cap="none" dirty="0">
                          <a:solidFill>
                            <a:srgbClr val="3A7D4D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Ontario AQHI Network</a:t>
                      </a:r>
                      <a:endParaRPr sz="1100" u="none" strike="noStrike" cap="none" dirty="0"/>
                    </a:p>
                  </a:txBody>
                  <a:tcPr marL="254450" marR="254450" marT="254450" marB="2544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7150" cap="flat" cmpd="sng">
                      <a:solidFill>
                        <a:srgbClr val="3A7D4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7150" cap="flat" cmpd="sng">
                      <a:solidFill>
                        <a:srgbClr val="3A7D4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144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100" b="1" u="none" strike="noStrike" cap="none" dirty="0">
                          <a:solidFill>
                            <a:srgbClr val="3A7D4D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Sriracha"/>
                        </a:rPr>
                        <a:t>Victoria → “JCLMX”</a:t>
                      </a:r>
                      <a:endParaRPr sz="1100" u="none" strike="noStrike" cap="none" dirty="0"/>
                    </a:p>
                  </a:txBody>
                  <a:tcPr marL="254450" marR="254450" marT="254450" marB="2544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7150" cap="flat" cmpd="sng">
                      <a:solidFill>
                        <a:srgbClr val="3A7D4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 b="1" u="none" strike="noStrike" cap="none" dirty="0">
                          <a:solidFill>
                            <a:srgbClr val="3A7D4D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Pacific &amp; Yukon Region</a:t>
                      </a:r>
                      <a:endParaRPr sz="1100" u="none" strike="noStrike" cap="none" dirty="0"/>
                    </a:p>
                  </a:txBody>
                  <a:tcPr marL="254450" marR="254450" marT="254450" marB="2544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7150" cap="flat" cmpd="sng">
                      <a:solidFill>
                        <a:srgbClr val="3A7D4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26" name="Google Shape;326;p20"/>
          <p:cNvSpPr txBox="1"/>
          <p:nvPr/>
        </p:nvSpPr>
        <p:spPr>
          <a:xfrm>
            <a:off x="3362371" y="1904534"/>
            <a:ext cx="11563257" cy="826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22003"/>
              </a:lnSpc>
            </a:pPr>
            <a:r>
              <a:rPr lang="en-US" sz="4400" b="1" dirty="0">
                <a:solidFill>
                  <a:srgbClr val="3A7D4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Sriracha"/>
              </a:rPr>
              <a:t>Selected AQHI Monitoring Stations (One per City)</a:t>
            </a:r>
            <a:endParaRPr sz="4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DB898"/>
        </a:solidFill>
        <a:effectLst/>
      </p:bgPr>
    </p:bg>
    <p:spTree>
      <p:nvGrpSpPr>
        <p:cNvPr id="1" name="Shape 213">
          <a:extLst>
            <a:ext uri="{FF2B5EF4-FFF2-40B4-BE49-F238E27FC236}">
              <a16:creationId xmlns:a16="http://schemas.microsoft.com/office/drawing/2014/main" id="{79CB6DEC-79A9-E88C-EDC6-D973AA5742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4" name="Google Shape;214;p17">
            <a:extLst>
              <a:ext uri="{FF2B5EF4-FFF2-40B4-BE49-F238E27FC236}">
                <a16:creationId xmlns:a16="http://schemas.microsoft.com/office/drawing/2014/main" id="{7855B433-013F-10B6-6124-2529BD2456A5}"/>
              </a:ext>
            </a:extLst>
          </p:cNvPr>
          <p:cNvGrpSpPr/>
          <p:nvPr/>
        </p:nvGrpSpPr>
        <p:grpSpPr>
          <a:xfrm>
            <a:off x="421501" y="0"/>
            <a:ext cx="17444998" cy="9573746"/>
            <a:chOff x="0" y="-38100"/>
            <a:chExt cx="4594567" cy="2521480"/>
          </a:xfrm>
        </p:grpSpPr>
        <p:sp>
          <p:nvSpPr>
            <p:cNvPr id="215" name="Google Shape;215;p17">
              <a:extLst>
                <a:ext uri="{FF2B5EF4-FFF2-40B4-BE49-F238E27FC236}">
                  <a16:creationId xmlns:a16="http://schemas.microsoft.com/office/drawing/2014/main" id="{7F3A3F0F-B4BA-96BF-2C21-65139F1E1274}"/>
                </a:ext>
              </a:extLst>
            </p:cNvPr>
            <p:cNvSpPr/>
            <p:nvPr/>
          </p:nvSpPr>
          <p:spPr>
            <a:xfrm>
              <a:off x="0" y="0"/>
              <a:ext cx="4594567" cy="2483380"/>
            </a:xfrm>
            <a:custGeom>
              <a:avLst/>
              <a:gdLst/>
              <a:ahLst/>
              <a:cxnLst/>
              <a:rect l="l" t="t" r="r" b="b"/>
              <a:pathLst>
                <a:path w="4594567" h="2483380" extrusionOk="0">
                  <a:moveTo>
                    <a:pt x="4515149" y="0"/>
                  </a:moveTo>
                  <a:lnTo>
                    <a:pt x="79418" y="0"/>
                  </a:lnTo>
                  <a:cubicBezTo>
                    <a:pt x="79418" y="43699"/>
                    <a:pt x="44079" y="79418"/>
                    <a:pt x="0" y="79418"/>
                  </a:cubicBezTo>
                  <a:lnTo>
                    <a:pt x="0" y="2403962"/>
                  </a:lnTo>
                  <a:cubicBezTo>
                    <a:pt x="43699" y="2403962"/>
                    <a:pt x="79418" y="2439301"/>
                    <a:pt x="79418" y="2483380"/>
                  </a:cubicBezTo>
                  <a:lnTo>
                    <a:pt x="4515149" y="2483380"/>
                  </a:lnTo>
                  <a:cubicBezTo>
                    <a:pt x="4515149" y="2439681"/>
                    <a:pt x="4550488" y="2403962"/>
                    <a:pt x="4594567" y="2403962"/>
                  </a:cubicBezTo>
                  <a:lnTo>
                    <a:pt x="4594567" y="79418"/>
                  </a:lnTo>
                  <a:cubicBezTo>
                    <a:pt x="4550868" y="79418"/>
                    <a:pt x="4515149" y="44079"/>
                    <a:pt x="4515149" y="0"/>
                  </a:cubicBezTo>
                  <a:close/>
                </a:path>
              </a:pathLst>
            </a:custGeom>
            <a:solidFill>
              <a:srgbClr val="EBEAE6"/>
            </a:solidFill>
            <a:ln w="104775" cap="flat" cmpd="sng">
              <a:solidFill>
                <a:srgbClr val="3A7D4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17">
              <a:extLst>
                <a:ext uri="{FF2B5EF4-FFF2-40B4-BE49-F238E27FC236}">
                  <a16:creationId xmlns:a16="http://schemas.microsoft.com/office/drawing/2014/main" id="{AA714D0B-C088-A052-CC5E-5C35A4F1A043}"/>
                </a:ext>
              </a:extLst>
            </p:cNvPr>
            <p:cNvSpPr txBox="1"/>
            <p:nvPr/>
          </p:nvSpPr>
          <p:spPr>
            <a:xfrm>
              <a:off x="38100" y="-38100"/>
              <a:ext cx="736600" cy="81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6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217" name="Google Shape;217;p17">
            <a:extLst>
              <a:ext uri="{FF2B5EF4-FFF2-40B4-BE49-F238E27FC236}">
                <a16:creationId xmlns:a16="http://schemas.microsoft.com/office/drawing/2014/main" id="{BAF7503F-4497-D80F-1827-57A88BAE819D}"/>
              </a:ext>
            </a:extLst>
          </p:cNvPr>
          <p:cNvCxnSpPr/>
          <p:nvPr/>
        </p:nvCxnSpPr>
        <p:spPr>
          <a:xfrm>
            <a:off x="421501" y="5091112"/>
            <a:ext cx="17444998" cy="0"/>
          </a:xfrm>
          <a:prstGeom prst="straightConnector1">
            <a:avLst/>
          </a:prstGeom>
          <a:noFill/>
          <a:ln w="104775" cap="flat" cmpd="sng">
            <a:solidFill>
              <a:srgbClr val="3A7D4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8" name="Google Shape;218;p17">
            <a:extLst>
              <a:ext uri="{FF2B5EF4-FFF2-40B4-BE49-F238E27FC236}">
                <a16:creationId xmlns:a16="http://schemas.microsoft.com/office/drawing/2014/main" id="{4892EF53-45A1-4F10-030B-C728E143920A}"/>
              </a:ext>
            </a:extLst>
          </p:cNvPr>
          <p:cNvSpPr/>
          <p:nvPr/>
        </p:nvSpPr>
        <p:spPr>
          <a:xfrm>
            <a:off x="8482269" y="1093206"/>
            <a:ext cx="8516539" cy="7070384"/>
          </a:xfrm>
          <a:prstGeom prst="rect">
            <a:avLst/>
          </a:prstGeom>
          <a:solidFill>
            <a:srgbClr val="000000">
              <a:alpha val="0"/>
            </a:srgbClr>
          </a:solidFill>
          <a:ln w="104775" cap="flat" cmpd="sng">
            <a:solidFill>
              <a:srgbClr val="3A7D4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17">
            <a:extLst>
              <a:ext uri="{FF2B5EF4-FFF2-40B4-BE49-F238E27FC236}">
                <a16:creationId xmlns:a16="http://schemas.microsoft.com/office/drawing/2014/main" id="{28518D21-1CCD-0DA6-5C1A-232F986BC8F8}"/>
              </a:ext>
            </a:extLst>
          </p:cNvPr>
          <p:cNvSpPr txBox="1"/>
          <p:nvPr/>
        </p:nvSpPr>
        <p:spPr>
          <a:xfrm>
            <a:off x="6401067" y="1093206"/>
            <a:ext cx="2507457" cy="27967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96777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1" name="Google Shape;221;p17">
            <a:extLst>
              <a:ext uri="{FF2B5EF4-FFF2-40B4-BE49-F238E27FC236}">
                <a16:creationId xmlns:a16="http://schemas.microsoft.com/office/drawing/2014/main" id="{415EE039-B511-55D7-721D-5A357A2C2A1D}"/>
              </a:ext>
            </a:extLst>
          </p:cNvPr>
          <p:cNvGrpSpPr/>
          <p:nvPr/>
        </p:nvGrpSpPr>
        <p:grpSpPr>
          <a:xfrm>
            <a:off x="1219200" y="2282163"/>
            <a:ext cx="8115300" cy="6809693"/>
            <a:chOff x="0" y="-5777750"/>
            <a:chExt cx="10820400" cy="9079590"/>
          </a:xfrm>
        </p:grpSpPr>
        <p:sp>
          <p:nvSpPr>
            <p:cNvPr id="222" name="Google Shape;222;p17">
              <a:extLst>
                <a:ext uri="{FF2B5EF4-FFF2-40B4-BE49-F238E27FC236}">
                  <a16:creationId xmlns:a16="http://schemas.microsoft.com/office/drawing/2014/main" id="{00C9DFDE-02B4-0634-17F1-70B0E61D281E}"/>
                </a:ext>
              </a:extLst>
            </p:cNvPr>
            <p:cNvSpPr txBox="1"/>
            <p:nvPr/>
          </p:nvSpPr>
          <p:spPr>
            <a:xfrm>
              <a:off x="993801" y="-5777750"/>
              <a:ext cx="8040000" cy="19697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/>
              <a:r>
                <a:rPr lang="en-US" sz="4800" b="1" dirty="0">
                  <a:solidFill>
                    <a:srgbClr val="3A7D4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Sriracha"/>
                </a:rPr>
                <a:t>Processing AQHI Data from CSV Files</a:t>
              </a:r>
              <a:endParaRPr sz="4800" dirty="0"/>
            </a:p>
          </p:txBody>
        </p:sp>
        <p:sp>
          <p:nvSpPr>
            <p:cNvPr id="223" name="Google Shape;223;p17">
              <a:extLst>
                <a:ext uri="{FF2B5EF4-FFF2-40B4-BE49-F238E27FC236}">
                  <a16:creationId xmlns:a16="http://schemas.microsoft.com/office/drawing/2014/main" id="{258E2D92-0242-39A1-42AD-72DEF3A3B9B6}"/>
                </a:ext>
              </a:extLst>
            </p:cNvPr>
            <p:cNvSpPr txBox="1"/>
            <p:nvPr/>
          </p:nvSpPr>
          <p:spPr>
            <a:xfrm>
              <a:off x="0" y="2839320"/>
              <a:ext cx="10820400" cy="4625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1" indent="0" algn="l" rtl="0">
                <a:lnSpc>
                  <a:spcPct val="16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pic>
        <p:nvPicPr>
          <p:cNvPr id="224" name="Google Shape;224;p17">
            <a:extLst>
              <a:ext uri="{FF2B5EF4-FFF2-40B4-BE49-F238E27FC236}">
                <a16:creationId xmlns:a16="http://schemas.microsoft.com/office/drawing/2014/main" id="{5DB3F459-59E7-04D8-7DF7-C4B9F252CA7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488705" y="8385282"/>
            <a:ext cx="2377794" cy="187385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7" name="Google Shape;227;p17">
            <a:extLst>
              <a:ext uri="{FF2B5EF4-FFF2-40B4-BE49-F238E27FC236}">
                <a16:creationId xmlns:a16="http://schemas.microsoft.com/office/drawing/2014/main" id="{0AAFA74A-C237-734A-47DC-F759A40478CF}"/>
              </a:ext>
            </a:extLst>
          </p:cNvPr>
          <p:cNvGrpSpPr/>
          <p:nvPr/>
        </p:nvGrpSpPr>
        <p:grpSpPr>
          <a:xfrm>
            <a:off x="835451" y="2033702"/>
            <a:ext cx="643053" cy="645935"/>
            <a:chOff x="1813" y="0"/>
            <a:chExt cx="809173" cy="812800"/>
          </a:xfrm>
        </p:grpSpPr>
        <p:sp>
          <p:nvSpPr>
            <p:cNvPr id="228" name="Google Shape;228;p17">
              <a:extLst>
                <a:ext uri="{FF2B5EF4-FFF2-40B4-BE49-F238E27FC236}">
                  <a16:creationId xmlns:a16="http://schemas.microsoft.com/office/drawing/2014/main" id="{F608C740-46E4-0832-4A28-771A52999E31}"/>
                </a:ext>
              </a:extLst>
            </p:cNvPr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7DB898"/>
            </a:solidFill>
            <a:ln w="104775" cap="flat" cmpd="sng">
              <a:solidFill>
                <a:srgbClr val="3A7D4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17">
              <a:extLst>
                <a:ext uri="{FF2B5EF4-FFF2-40B4-BE49-F238E27FC236}">
                  <a16:creationId xmlns:a16="http://schemas.microsoft.com/office/drawing/2014/main" id="{EDEB3E96-F2F9-BC3E-1AB6-E4F82D815877}"/>
                </a:ext>
              </a:extLst>
            </p:cNvPr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6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0" name="Google Shape;230;p17">
            <a:extLst>
              <a:ext uri="{FF2B5EF4-FFF2-40B4-BE49-F238E27FC236}">
                <a16:creationId xmlns:a16="http://schemas.microsoft.com/office/drawing/2014/main" id="{0A870D2D-1B26-5545-579A-572C762D62A5}"/>
              </a:ext>
            </a:extLst>
          </p:cNvPr>
          <p:cNvGrpSpPr/>
          <p:nvPr/>
        </p:nvGrpSpPr>
        <p:grpSpPr>
          <a:xfrm>
            <a:off x="835451" y="3891589"/>
            <a:ext cx="643053" cy="645935"/>
            <a:chOff x="1813" y="0"/>
            <a:chExt cx="809173" cy="812800"/>
          </a:xfrm>
        </p:grpSpPr>
        <p:sp>
          <p:nvSpPr>
            <p:cNvPr id="231" name="Google Shape;231;p17">
              <a:extLst>
                <a:ext uri="{FF2B5EF4-FFF2-40B4-BE49-F238E27FC236}">
                  <a16:creationId xmlns:a16="http://schemas.microsoft.com/office/drawing/2014/main" id="{81E094A0-02C8-D329-3D3D-813FCEA5A16E}"/>
                </a:ext>
              </a:extLst>
            </p:cNvPr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7DB898"/>
            </a:solidFill>
            <a:ln w="104775" cap="flat" cmpd="sng">
              <a:solidFill>
                <a:srgbClr val="3A7D4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17">
              <a:extLst>
                <a:ext uri="{FF2B5EF4-FFF2-40B4-BE49-F238E27FC236}">
                  <a16:creationId xmlns:a16="http://schemas.microsoft.com/office/drawing/2014/main" id="{28AA16AD-6472-FC00-E7EF-A3304D98AF51}"/>
                </a:ext>
              </a:extLst>
            </p:cNvPr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6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39E6AEA9-110F-1E38-E18A-5EC717E626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2269" y="1108419"/>
            <a:ext cx="8516539" cy="7039957"/>
          </a:xfrm>
          <a:prstGeom prst="rect">
            <a:avLst/>
          </a:prstGeom>
        </p:spPr>
      </p:pic>
      <p:sp>
        <p:nvSpPr>
          <p:cNvPr id="3" name="Google Shape;218;p17">
            <a:extLst>
              <a:ext uri="{FF2B5EF4-FFF2-40B4-BE49-F238E27FC236}">
                <a16:creationId xmlns:a16="http://schemas.microsoft.com/office/drawing/2014/main" id="{723C7D2C-A177-88D3-A18D-6D01AB8D1A8B}"/>
              </a:ext>
            </a:extLst>
          </p:cNvPr>
          <p:cNvSpPr/>
          <p:nvPr/>
        </p:nvSpPr>
        <p:spPr>
          <a:xfrm>
            <a:off x="1348813" y="5280429"/>
            <a:ext cx="5804155" cy="4077969"/>
          </a:xfrm>
          <a:prstGeom prst="rect">
            <a:avLst/>
          </a:prstGeom>
          <a:solidFill>
            <a:srgbClr val="000000">
              <a:alpha val="0"/>
            </a:srgbClr>
          </a:solidFill>
          <a:ln w="104775" cap="flat" cmpd="sng">
            <a:solidFill>
              <a:srgbClr val="3A7D4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5FC427-7F2F-1EDC-B147-8EAE0A47B1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8813" y="5280429"/>
            <a:ext cx="5804155" cy="4077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7436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DB898"/>
        </a:solidFill>
        <a:effectLst/>
      </p:bgPr>
    </p:bg>
    <p:spTree>
      <p:nvGrpSpPr>
        <p:cNvPr id="1" name="Shape 213">
          <a:extLst>
            <a:ext uri="{FF2B5EF4-FFF2-40B4-BE49-F238E27FC236}">
              <a16:creationId xmlns:a16="http://schemas.microsoft.com/office/drawing/2014/main" id="{765E887C-57D9-C886-5308-E65027477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4" name="Google Shape;214;p17">
            <a:extLst>
              <a:ext uri="{FF2B5EF4-FFF2-40B4-BE49-F238E27FC236}">
                <a16:creationId xmlns:a16="http://schemas.microsoft.com/office/drawing/2014/main" id="{DFD578A6-2BEA-6CC6-F85F-1E114C560E17}"/>
              </a:ext>
            </a:extLst>
          </p:cNvPr>
          <p:cNvGrpSpPr/>
          <p:nvPr/>
        </p:nvGrpSpPr>
        <p:grpSpPr>
          <a:xfrm>
            <a:off x="421501" y="0"/>
            <a:ext cx="17444998" cy="9573746"/>
            <a:chOff x="0" y="-38100"/>
            <a:chExt cx="4594567" cy="2521480"/>
          </a:xfrm>
        </p:grpSpPr>
        <p:sp>
          <p:nvSpPr>
            <p:cNvPr id="215" name="Google Shape;215;p17">
              <a:extLst>
                <a:ext uri="{FF2B5EF4-FFF2-40B4-BE49-F238E27FC236}">
                  <a16:creationId xmlns:a16="http://schemas.microsoft.com/office/drawing/2014/main" id="{ABCD39CA-6A76-4919-0767-D49A4599DB16}"/>
                </a:ext>
              </a:extLst>
            </p:cNvPr>
            <p:cNvSpPr/>
            <p:nvPr/>
          </p:nvSpPr>
          <p:spPr>
            <a:xfrm>
              <a:off x="0" y="0"/>
              <a:ext cx="4594567" cy="2483380"/>
            </a:xfrm>
            <a:custGeom>
              <a:avLst/>
              <a:gdLst/>
              <a:ahLst/>
              <a:cxnLst/>
              <a:rect l="l" t="t" r="r" b="b"/>
              <a:pathLst>
                <a:path w="4594567" h="2483380" extrusionOk="0">
                  <a:moveTo>
                    <a:pt x="4515149" y="0"/>
                  </a:moveTo>
                  <a:lnTo>
                    <a:pt x="79418" y="0"/>
                  </a:lnTo>
                  <a:cubicBezTo>
                    <a:pt x="79418" y="43699"/>
                    <a:pt x="44079" y="79418"/>
                    <a:pt x="0" y="79418"/>
                  </a:cubicBezTo>
                  <a:lnTo>
                    <a:pt x="0" y="2403962"/>
                  </a:lnTo>
                  <a:cubicBezTo>
                    <a:pt x="43699" y="2403962"/>
                    <a:pt x="79418" y="2439301"/>
                    <a:pt x="79418" y="2483380"/>
                  </a:cubicBezTo>
                  <a:lnTo>
                    <a:pt x="4515149" y="2483380"/>
                  </a:lnTo>
                  <a:cubicBezTo>
                    <a:pt x="4515149" y="2439681"/>
                    <a:pt x="4550488" y="2403962"/>
                    <a:pt x="4594567" y="2403962"/>
                  </a:cubicBezTo>
                  <a:lnTo>
                    <a:pt x="4594567" y="79418"/>
                  </a:lnTo>
                  <a:cubicBezTo>
                    <a:pt x="4550868" y="79418"/>
                    <a:pt x="4515149" y="44079"/>
                    <a:pt x="4515149" y="0"/>
                  </a:cubicBezTo>
                  <a:close/>
                </a:path>
              </a:pathLst>
            </a:custGeom>
            <a:solidFill>
              <a:srgbClr val="EBEAE6"/>
            </a:solidFill>
            <a:ln w="104775" cap="flat" cmpd="sng">
              <a:solidFill>
                <a:srgbClr val="3A7D4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17">
              <a:extLst>
                <a:ext uri="{FF2B5EF4-FFF2-40B4-BE49-F238E27FC236}">
                  <a16:creationId xmlns:a16="http://schemas.microsoft.com/office/drawing/2014/main" id="{2706B453-6E1A-81CF-4FB2-51C4B59CC116}"/>
                </a:ext>
              </a:extLst>
            </p:cNvPr>
            <p:cNvSpPr txBox="1"/>
            <p:nvPr/>
          </p:nvSpPr>
          <p:spPr>
            <a:xfrm>
              <a:off x="38100" y="-38100"/>
              <a:ext cx="736600" cy="81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6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217" name="Google Shape;217;p17">
            <a:extLst>
              <a:ext uri="{FF2B5EF4-FFF2-40B4-BE49-F238E27FC236}">
                <a16:creationId xmlns:a16="http://schemas.microsoft.com/office/drawing/2014/main" id="{D59766C0-6C95-1888-7186-0B622B89DE90}"/>
              </a:ext>
            </a:extLst>
          </p:cNvPr>
          <p:cNvCxnSpPr/>
          <p:nvPr/>
        </p:nvCxnSpPr>
        <p:spPr>
          <a:xfrm>
            <a:off x="421501" y="4082902"/>
            <a:ext cx="17444998" cy="0"/>
          </a:xfrm>
          <a:prstGeom prst="straightConnector1">
            <a:avLst/>
          </a:prstGeom>
          <a:noFill/>
          <a:ln w="104775" cap="flat" cmpd="sng">
            <a:solidFill>
              <a:srgbClr val="3A7D4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8" name="Google Shape;218;p17">
            <a:extLst>
              <a:ext uri="{FF2B5EF4-FFF2-40B4-BE49-F238E27FC236}">
                <a16:creationId xmlns:a16="http://schemas.microsoft.com/office/drawing/2014/main" id="{2D4E9EFE-F798-0C74-6318-231B9C79ACF4}"/>
              </a:ext>
            </a:extLst>
          </p:cNvPr>
          <p:cNvSpPr/>
          <p:nvPr/>
        </p:nvSpPr>
        <p:spPr>
          <a:xfrm>
            <a:off x="835449" y="4446641"/>
            <a:ext cx="9621029" cy="4720311"/>
          </a:xfrm>
          <a:prstGeom prst="rect">
            <a:avLst/>
          </a:prstGeom>
          <a:solidFill>
            <a:srgbClr val="000000">
              <a:alpha val="0"/>
            </a:srgbClr>
          </a:solidFill>
          <a:ln w="104775" cap="flat" cmpd="sng">
            <a:solidFill>
              <a:srgbClr val="3A7D4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17">
            <a:extLst>
              <a:ext uri="{FF2B5EF4-FFF2-40B4-BE49-F238E27FC236}">
                <a16:creationId xmlns:a16="http://schemas.microsoft.com/office/drawing/2014/main" id="{B8A81CCF-51E4-A643-9FFE-0CBA1814704A}"/>
              </a:ext>
            </a:extLst>
          </p:cNvPr>
          <p:cNvSpPr txBox="1"/>
          <p:nvPr/>
        </p:nvSpPr>
        <p:spPr>
          <a:xfrm>
            <a:off x="6401067" y="1093206"/>
            <a:ext cx="2507457" cy="27967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96777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1" name="Google Shape;221;p17">
            <a:extLst>
              <a:ext uri="{FF2B5EF4-FFF2-40B4-BE49-F238E27FC236}">
                <a16:creationId xmlns:a16="http://schemas.microsoft.com/office/drawing/2014/main" id="{8E57C5F8-7DDC-2D32-AFC9-502515CFF466}"/>
              </a:ext>
            </a:extLst>
          </p:cNvPr>
          <p:cNvGrpSpPr/>
          <p:nvPr/>
        </p:nvGrpSpPr>
        <p:grpSpPr>
          <a:xfrm>
            <a:off x="1219200" y="1515379"/>
            <a:ext cx="14359883" cy="7576477"/>
            <a:chOff x="0" y="-6800129"/>
            <a:chExt cx="19146510" cy="10101969"/>
          </a:xfrm>
        </p:grpSpPr>
        <p:sp>
          <p:nvSpPr>
            <p:cNvPr id="222" name="Google Shape;222;p17">
              <a:extLst>
                <a:ext uri="{FF2B5EF4-FFF2-40B4-BE49-F238E27FC236}">
                  <a16:creationId xmlns:a16="http://schemas.microsoft.com/office/drawing/2014/main" id="{FD940389-6301-37D7-6372-E4D5AE5414C8}"/>
                </a:ext>
              </a:extLst>
            </p:cNvPr>
            <p:cNvSpPr txBox="1"/>
            <p:nvPr/>
          </p:nvSpPr>
          <p:spPr>
            <a:xfrm>
              <a:off x="993801" y="-6800129"/>
              <a:ext cx="18152709" cy="98488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/>
              <a:r>
                <a:rPr lang="en-US" sz="4800" b="1" dirty="0">
                  <a:solidFill>
                    <a:srgbClr val="3A7D4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Sriracha"/>
                </a:rPr>
                <a:t>Final Combined Dataset for Analysis</a:t>
              </a:r>
              <a:endParaRPr sz="4800" dirty="0"/>
            </a:p>
          </p:txBody>
        </p:sp>
        <p:sp>
          <p:nvSpPr>
            <p:cNvPr id="223" name="Google Shape;223;p17">
              <a:extLst>
                <a:ext uri="{FF2B5EF4-FFF2-40B4-BE49-F238E27FC236}">
                  <a16:creationId xmlns:a16="http://schemas.microsoft.com/office/drawing/2014/main" id="{AA678468-5E4A-8935-68E9-06096B960EB9}"/>
                </a:ext>
              </a:extLst>
            </p:cNvPr>
            <p:cNvSpPr txBox="1"/>
            <p:nvPr/>
          </p:nvSpPr>
          <p:spPr>
            <a:xfrm>
              <a:off x="0" y="2839320"/>
              <a:ext cx="10820400" cy="4625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1" indent="0" algn="l" rtl="0">
                <a:lnSpc>
                  <a:spcPct val="16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227" name="Google Shape;227;p17">
            <a:extLst>
              <a:ext uri="{FF2B5EF4-FFF2-40B4-BE49-F238E27FC236}">
                <a16:creationId xmlns:a16="http://schemas.microsoft.com/office/drawing/2014/main" id="{4AA34347-DA32-0191-25F2-DBA494306228}"/>
              </a:ext>
            </a:extLst>
          </p:cNvPr>
          <p:cNvGrpSpPr/>
          <p:nvPr/>
        </p:nvGrpSpPr>
        <p:grpSpPr>
          <a:xfrm>
            <a:off x="835450" y="770238"/>
            <a:ext cx="643053" cy="645935"/>
            <a:chOff x="1813" y="0"/>
            <a:chExt cx="809173" cy="812800"/>
          </a:xfrm>
        </p:grpSpPr>
        <p:sp>
          <p:nvSpPr>
            <p:cNvPr id="228" name="Google Shape;228;p17">
              <a:extLst>
                <a:ext uri="{FF2B5EF4-FFF2-40B4-BE49-F238E27FC236}">
                  <a16:creationId xmlns:a16="http://schemas.microsoft.com/office/drawing/2014/main" id="{4C62FDBC-2E8D-6A6F-6747-9212E70D5006}"/>
                </a:ext>
              </a:extLst>
            </p:cNvPr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7DB898"/>
            </a:solidFill>
            <a:ln w="104775" cap="flat" cmpd="sng">
              <a:solidFill>
                <a:srgbClr val="3A7D4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17">
              <a:extLst>
                <a:ext uri="{FF2B5EF4-FFF2-40B4-BE49-F238E27FC236}">
                  <a16:creationId xmlns:a16="http://schemas.microsoft.com/office/drawing/2014/main" id="{3D5DFF23-7678-34D5-5698-E4140ABADE67}"/>
                </a:ext>
              </a:extLst>
            </p:cNvPr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6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0" name="Google Shape;230;p17">
            <a:extLst>
              <a:ext uri="{FF2B5EF4-FFF2-40B4-BE49-F238E27FC236}">
                <a16:creationId xmlns:a16="http://schemas.microsoft.com/office/drawing/2014/main" id="{E4BE9C03-E45E-EDD4-828D-73C739F6B857}"/>
              </a:ext>
            </a:extLst>
          </p:cNvPr>
          <p:cNvGrpSpPr/>
          <p:nvPr/>
        </p:nvGrpSpPr>
        <p:grpSpPr>
          <a:xfrm>
            <a:off x="863353" y="2282163"/>
            <a:ext cx="643053" cy="645935"/>
            <a:chOff x="1813" y="0"/>
            <a:chExt cx="809173" cy="812800"/>
          </a:xfrm>
        </p:grpSpPr>
        <p:sp>
          <p:nvSpPr>
            <p:cNvPr id="231" name="Google Shape;231;p17">
              <a:extLst>
                <a:ext uri="{FF2B5EF4-FFF2-40B4-BE49-F238E27FC236}">
                  <a16:creationId xmlns:a16="http://schemas.microsoft.com/office/drawing/2014/main" id="{97F2B71A-72ED-B5F0-38BA-EC5639A31171}"/>
                </a:ext>
              </a:extLst>
            </p:cNvPr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7DB898"/>
            </a:solidFill>
            <a:ln w="104775" cap="flat" cmpd="sng">
              <a:solidFill>
                <a:srgbClr val="3A7D4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17">
              <a:extLst>
                <a:ext uri="{FF2B5EF4-FFF2-40B4-BE49-F238E27FC236}">
                  <a16:creationId xmlns:a16="http://schemas.microsoft.com/office/drawing/2014/main" id="{1A43860B-6299-3618-B3C6-A2046A081BD5}"/>
                </a:ext>
              </a:extLst>
            </p:cNvPr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6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E55899F9-AC2D-E038-4926-8F03C9B78A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450" y="4448539"/>
            <a:ext cx="9621029" cy="4734479"/>
          </a:xfrm>
          <a:prstGeom prst="rect">
            <a:avLst/>
          </a:prstGeom>
        </p:spPr>
      </p:pic>
      <p:sp>
        <p:nvSpPr>
          <p:cNvPr id="9" name="Google Shape;268;p18">
            <a:extLst>
              <a:ext uri="{FF2B5EF4-FFF2-40B4-BE49-F238E27FC236}">
                <a16:creationId xmlns:a16="http://schemas.microsoft.com/office/drawing/2014/main" id="{534B918C-68A4-3DD4-3AAD-88FB5A178CFE}"/>
              </a:ext>
            </a:extLst>
          </p:cNvPr>
          <p:cNvSpPr txBox="1"/>
          <p:nvPr/>
        </p:nvSpPr>
        <p:spPr>
          <a:xfrm>
            <a:off x="10728607" y="6063515"/>
            <a:ext cx="9112095" cy="1486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1">
              <a:lnSpc>
                <a:spcPct val="161000"/>
              </a:lnSpc>
            </a:pPr>
            <a:r>
              <a:rPr lang="en-US" sz="2000" b="1" dirty="0">
                <a:solidFill>
                  <a:srgbClr val="3A7D4D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📌 Combined hourly AQHI with weather data for 5 cities</a:t>
            </a:r>
          </a:p>
          <a:p>
            <a:pPr lvl="1">
              <a:lnSpc>
                <a:spcPct val="161000"/>
              </a:lnSpc>
            </a:pPr>
            <a:r>
              <a:rPr lang="en-US" sz="2000" b="1" dirty="0">
                <a:solidFill>
                  <a:srgbClr val="3A7D4D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📌 Aligned by city and datetime using </a:t>
            </a:r>
            <a:r>
              <a:rPr lang="en-US" sz="2000" b="1" dirty="0" err="1">
                <a:solidFill>
                  <a:srgbClr val="3A7D4D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inner_join</a:t>
            </a:r>
            <a:r>
              <a:rPr lang="en-US" sz="2000" b="1" dirty="0">
                <a:solidFill>
                  <a:srgbClr val="3A7D4D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()</a:t>
            </a:r>
          </a:p>
          <a:p>
            <a:pPr lvl="1">
              <a:lnSpc>
                <a:spcPct val="161000"/>
              </a:lnSpc>
            </a:pPr>
            <a:r>
              <a:rPr lang="en-US" sz="2000" b="1" dirty="0">
                <a:solidFill>
                  <a:srgbClr val="3A7D4D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📌 Final dataset ready for correlation and trend analysis</a:t>
            </a:r>
            <a:endParaRPr sz="2000" dirty="0"/>
          </a:p>
        </p:txBody>
      </p:sp>
    </p:spTree>
    <p:extLst>
      <p:ext uri="{BB962C8B-B14F-4D97-AF65-F5344CB8AC3E}">
        <p14:creationId xmlns:p14="http://schemas.microsoft.com/office/powerpoint/2010/main" val="34488324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DB898"/>
        </a:solidFill>
        <a:effectLst/>
      </p:bgPr>
    </p:bg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2" name="Google Shape;402;p24"/>
          <p:cNvGrpSpPr/>
          <p:nvPr/>
        </p:nvGrpSpPr>
        <p:grpSpPr>
          <a:xfrm>
            <a:off x="421501" y="284297"/>
            <a:ext cx="17444998" cy="9573746"/>
            <a:chOff x="0" y="-192881"/>
            <a:chExt cx="23259997" cy="12764994"/>
          </a:xfrm>
        </p:grpSpPr>
        <p:grpSp>
          <p:nvGrpSpPr>
            <p:cNvPr id="403" name="Google Shape;403;p24"/>
            <p:cNvGrpSpPr/>
            <p:nvPr/>
          </p:nvGrpSpPr>
          <p:grpSpPr>
            <a:xfrm>
              <a:off x="0" y="-192881"/>
              <a:ext cx="23259997" cy="12764994"/>
              <a:chOff x="0" y="-38100"/>
              <a:chExt cx="4594567" cy="2521480"/>
            </a:xfrm>
          </p:grpSpPr>
          <p:sp>
            <p:nvSpPr>
              <p:cNvPr id="404" name="Google Shape;404;p24"/>
              <p:cNvSpPr/>
              <p:nvPr/>
            </p:nvSpPr>
            <p:spPr>
              <a:xfrm>
                <a:off x="0" y="0"/>
                <a:ext cx="4594567" cy="2483380"/>
              </a:xfrm>
              <a:custGeom>
                <a:avLst/>
                <a:gdLst/>
                <a:ahLst/>
                <a:cxnLst/>
                <a:rect l="l" t="t" r="r" b="b"/>
                <a:pathLst>
                  <a:path w="4594567" h="2483380" extrusionOk="0">
                    <a:moveTo>
                      <a:pt x="4515149" y="0"/>
                    </a:moveTo>
                    <a:lnTo>
                      <a:pt x="79418" y="0"/>
                    </a:lnTo>
                    <a:cubicBezTo>
                      <a:pt x="79418" y="43699"/>
                      <a:pt x="44079" y="79418"/>
                      <a:pt x="0" y="79418"/>
                    </a:cubicBezTo>
                    <a:lnTo>
                      <a:pt x="0" y="2403962"/>
                    </a:lnTo>
                    <a:cubicBezTo>
                      <a:pt x="43699" y="2403962"/>
                      <a:pt x="79418" y="2439301"/>
                      <a:pt x="79418" y="2483380"/>
                    </a:cubicBezTo>
                    <a:lnTo>
                      <a:pt x="4515149" y="2483380"/>
                    </a:lnTo>
                    <a:cubicBezTo>
                      <a:pt x="4515149" y="2439681"/>
                      <a:pt x="4550488" y="2403962"/>
                      <a:pt x="4594567" y="2403962"/>
                    </a:cubicBezTo>
                    <a:lnTo>
                      <a:pt x="4594567" y="79418"/>
                    </a:lnTo>
                    <a:cubicBezTo>
                      <a:pt x="4550868" y="79418"/>
                      <a:pt x="4515149" y="44079"/>
                      <a:pt x="4515149" y="0"/>
                    </a:cubicBezTo>
                    <a:close/>
                  </a:path>
                </a:pathLst>
              </a:custGeom>
              <a:solidFill>
                <a:srgbClr val="EBEAE6"/>
              </a:solidFill>
              <a:ln w="104775" cap="flat" cmpd="sng">
                <a:solidFill>
                  <a:srgbClr val="3A7D4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Google Shape;405;p24"/>
              <p:cNvSpPr txBox="1"/>
              <p:nvPr/>
            </p:nvSpPr>
            <p:spPr>
              <a:xfrm>
                <a:off x="38100" y="-38100"/>
                <a:ext cx="736600" cy="81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96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06" name="Google Shape;406;p24"/>
            <p:cNvGrpSpPr/>
            <p:nvPr/>
          </p:nvGrpSpPr>
          <p:grpSpPr>
            <a:xfrm>
              <a:off x="0" y="2985336"/>
              <a:ext cx="23259997" cy="7374390"/>
              <a:chOff x="0" y="-76200"/>
              <a:chExt cx="4594567" cy="1456670"/>
            </a:xfrm>
          </p:grpSpPr>
          <p:sp>
            <p:nvSpPr>
              <p:cNvPr id="407" name="Google Shape;407;p24"/>
              <p:cNvSpPr/>
              <p:nvPr/>
            </p:nvSpPr>
            <p:spPr>
              <a:xfrm>
                <a:off x="0" y="0"/>
                <a:ext cx="4594567" cy="1380470"/>
              </a:xfrm>
              <a:custGeom>
                <a:avLst/>
                <a:gdLst/>
                <a:ahLst/>
                <a:cxnLst/>
                <a:rect l="l" t="t" r="r" b="b"/>
                <a:pathLst>
                  <a:path w="4594567" h="1380470" extrusionOk="0">
                    <a:moveTo>
                      <a:pt x="0" y="0"/>
                    </a:moveTo>
                    <a:lnTo>
                      <a:pt x="4594567" y="0"/>
                    </a:lnTo>
                    <a:lnTo>
                      <a:pt x="4594567" y="1380470"/>
                    </a:lnTo>
                    <a:lnTo>
                      <a:pt x="0" y="138047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04775" cap="flat" cmpd="sng">
                <a:solidFill>
                  <a:srgbClr val="3A7D4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8" name="Google Shape;408;p24"/>
              <p:cNvSpPr txBox="1"/>
              <p:nvPr/>
            </p:nvSpPr>
            <p:spPr>
              <a:xfrm>
                <a:off x="0" y="-76200"/>
                <a:ext cx="812800" cy="889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96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id="410" name="Google Shape;410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72700" y="6729963"/>
            <a:ext cx="8115300" cy="3128079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24"/>
          <p:cNvSpPr txBox="1"/>
          <p:nvPr/>
        </p:nvSpPr>
        <p:spPr>
          <a:xfrm>
            <a:off x="2315386" y="1276144"/>
            <a:ext cx="13657228" cy="1163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22003"/>
              </a:lnSpc>
            </a:pPr>
            <a:r>
              <a:rPr lang="en-US" sz="6199" b="1" dirty="0">
                <a:solidFill>
                  <a:srgbClr val="3A7D4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Sriracha"/>
              </a:rPr>
              <a:t>Research Question 1</a:t>
            </a:r>
            <a:endParaRPr lang="en-US" sz="6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0BA17A-E1F7-3F24-52F4-65F016B08EA8}"/>
              </a:ext>
            </a:extLst>
          </p:cNvPr>
          <p:cNvSpPr txBox="1"/>
          <p:nvPr/>
        </p:nvSpPr>
        <p:spPr>
          <a:xfrm>
            <a:off x="566162" y="3370398"/>
            <a:ext cx="17426563" cy="1537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22003"/>
              </a:lnSpc>
            </a:pPr>
            <a:r>
              <a:rPr lang="en-US" sz="4000" b="1" dirty="0">
                <a:solidFill>
                  <a:srgbClr val="3A7D4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Sriracha"/>
              </a:rPr>
              <a:t>Primary Question: How do weather conditions influence AQHI levels across Canadian cities?</a:t>
            </a:r>
            <a:endParaRPr lang="en-US" sz="4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1FE91C-A5D1-A635-BB66-4F13D3705944}"/>
              </a:ext>
            </a:extLst>
          </p:cNvPr>
          <p:cNvSpPr txBox="1"/>
          <p:nvPr/>
        </p:nvSpPr>
        <p:spPr>
          <a:xfrm>
            <a:off x="560775" y="5425676"/>
            <a:ext cx="16323449" cy="1537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22003"/>
              </a:lnSpc>
            </a:pPr>
            <a:r>
              <a:rPr lang="en-US" sz="4000" b="1" dirty="0">
                <a:solidFill>
                  <a:srgbClr val="3A7D4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Sriracha"/>
              </a:rPr>
              <a:t>Follow up Question: Which weather factor has the strongest link to AQHI based on standardized coefficients and correlations?</a:t>
            </a:r>
            <a:endParaRPr lang="en-US" sz="4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DB898"/>
        </a:solidFill>
        <a:effectLst/>
      </p:bgPr>
    </p:bg>
    <p:spTree>
      <p:nvGrpSpPr>
        <p:cNvPr id="1" name="Shape 158">
          <a:extLst>
            <a:ext uri="{FF2B5EF4-FFF2-40B4-BE49-F238E27FC236}">
              <a16:creationId xmlns:a16="http://schemas.microsoft.com/office/drawing/2014/main" id="{D2C4BB1B-722C-5A41-959C-93A5F856A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9" name="Google Shape;159;p15">
            <a:extLst>
              <a:ext uri="{FF2B5EF4-FFF2-40B4-BE49-F238E27FC236}">
                <a16:creationId xmlns:a16="http://schemas.microsoft.com/office/drawing/2014/main" id="{9F3A8097-7A2D-50BF-2CE8-62D1F6B33BFD}"/>
              </a:ext>
            </a:extLst>
          </p:cNvPr>
          <p:cNvGrpSpPr/>
          <p:nvPr/>
        </p:nvGrpSpPr>
        <p:grpSpPr>
          <a:xfrm>
            <a:off x="421501" y="284297"/>
            <a:ext cx="17444998" cy="9573746"/>
            <a:chOff x="0" y="-38100"/>
            <a:chExt cx="4594567" cy="2521480"/>
          </a:xfrm>
        </p:grpSpPr>
        <p:sp>
          <p:nvSpPr>
            <p:cNvPr id="160" name="Google Shape;160;p15">
              <a:extLst>
                <a:ext uri="{FF2B5EF4-FFF2-40B4-BE49-F238E27FC236}">
                  <a16:creationId xmlns:a16="http://schemas.microsoft.com/office/drawing/2014/main" id="{8248D48C-25F1-0D0A-D3C4-58E1666AB5C7}"/>
                </a:ext>
              </a:extLst>
            </p:cNvPr>
            <p:cNvSpPr/>
            <p:nvPr/>
          </p:nvSpPr>
          <p:spPr>
            <a:xfrm>
              <a:off x="0" y="0"/>
              <a:ext cx="4594567" cy="2483380"/>
            </a:xfrm>
            <a:custGeom>
              <a:avLst/>
              <a:gdLst/>
              <a:ahLst/>
              <a:cxnLst/>
              <a:rect l="l" t="t" r="r" b="b"/>
              <a:pathLst>
                <a:path w="4594567" h="2483380" extrusionOk="0">
                  <a:moveTo>
                    <a:pt x="4515149" y="0"/>
                  </a:moveTo>
                  <a:lnTo>
                    <a:pt x="79418" y="0"/>
                  </a:lnTo>
                  <a:cubicBezTo>
                    <a:pt x="79418" y="43699"/>
                    <a:pt x="44079" y="79418"/>
                    <a:pt x="0" y="79418"/>
                  </a:cubicBezTo>
                  <a:lnTo>
                    <a:pt x="0" y="2403962"/>
                  </a:lnTo>
                  <a:cubicBezTo>
                    <a:pt x="43699" y="2403962"/>
                    <a:pt x="79418" y="2439301"/>
                    <a:pt x="79418" y="2483380"/>
                  </a:cubicBezTo>
                  <a:lnTo>
                    <a:pt x="4515149" y="2483380"/>
                  </a:lnTo>
                  <a:cubicBezTo>
                    <a:pt x="4515149" y="2439681"/>
                    <a:pt x="4550488" y="2403962"/>
                    <a:pt x="4594567" y="2403962"/>
                  </a:cubicBezTo>
                  <a:lnTo>
                    <a:pt x="4594567" y="79418"/>
                  </a:lnTo>
                  <a:cubicBezTo>
                    <a:pt x="4550868" y="79418"/>
                    <a:pt x="4515149" y="44079"/>
                    <a:pt x="4515149" y="0"/>
                  </a:cubicBezTo>
                  <a:close/>
                </a:path>
              </a:pathLst>
            </a:custGeom>
            <a:solidFill>
              <a:srgbClr val="EBEAE6"/>
            </a:solidFill>
            <a:ln w="104775" cap="flat" cmpd="sng">
              <a:solidFill>
                <a:srgbClr val="3A7D4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15">
              <a:extLst>
                <a:ext uri="{FF2B5EF4-FFF2-40B4-BE49-F238E27FC236}">
                  <a16:creationId xmlns:a16="http://schemas.microsoft.com/office/drawing/2014/main" id="{0BC21EE4-539D-84EE-4B2B-264237266188}"/>
                </a:ext>
              </a:extLst>
            </p:cNvPr>
            <p:cNvSpPr txBox="1"/>
            <p:nvPr/>
          </p:nvSpPr>
          <p:spPr>
            <a:xfrm>
              <a:off x="38100" y="-38100"/>
              <a:ext cx="736600" cy="81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6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2" name="Google Shape;162;p15">
            <a:extLst>
              <a:ext uri="{FF2B5EF4-FFF2-40B4-BE49-F238E27FC236}">
                <a16:creationId xmlns:a16="http://schemas.microsoft.com/office/drawing/2014/main" id="{E416C83B-D344-73EC-7F0C-7004A49CED04}"/>
              </a:ext>
            </a:extLst>
          </p:cNvPr>
          <p:cNvGrpSpPr/>
          <p:nvPr/>
        </p:nvGrpSpPr>
        <p:grpSpPr>
          <a:xfrm>
            <a:off x="7161744" y="1504228"/>
            <a:ext cx="9805988" cy="5745084"/>
            <a:chOff x="0" y="-76200"/>
            <a:chExt cx="1950819" cy="2294841"/>
          </a:xfrm>
        </p:grpSpPr>
        <p:sp>
          <p:nvSpPr>
            <p:cNvPr id="163" name="Google Shape;163;p15">
              <a:extLst>
                <a:ext uri="{FF2B5EF4-FFF2-40B4-BE49-F238E27FC236}">
                  <a16:creationId xmlns:a16="http://schemas.microsoft.com/office/drawing/2014/main" id="{B4AB0880-161B-0ED7-98FF-BE3A6FD0A0F6}"/>
                </a:ext>
              </a:extLst>
            </p:cNvPr>
            <p:cNvSpPr/>
            <p:nvPr/>
          </p:nvSpPr>
          <p:spPr>
            <a:xfrm>
              <a:off x="0" y="0"/>
              <a:ext cx="1950819" cy="2218641"/>
            </a:xfrm>
            <a:custGeom>
              <a:avLst/>
              <a:gdLst/>
              <a:ahLst/>
              <a:cxnLst/>
              <a:rect l="l" t="t" r="r" b="b"/>
              <a:pathLst>
                <a:path w="1950819" h="2218641" extrusionOk="0">
                  <a:moveTo>
                    <a:pt x="0" y="0"/>
                  </a:moveTo>
                  <a:lnTo>
                    <a:pt x="1950819" y="0"/>
                  </a:lnTo>
                  <a:lnTo>
                    <a:pt x="1950819" y="2218641"/>
                  </a:lnTo>
                  <a:lnTo>
                    <a:pt x="0" y="221864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04775" cap="flat" cmpd="sng">
              <a:solidFill>
                <a:srgbClr val="3A7D4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" name="Google Shape;164;p15">
              <a:extLst>
                <a:ext uri="{FF2B5EF4-FFF2-40B4-BE49-F238E27FC236}">
                  <a16:creationId xmlns:a16="http://schemas.microsoft.com/office/drawing/2014/main" id="{B9A93586-8E97-E122-4E16-829BA0D363C2}"/>
                </a:ext>
              </a:extLst>
            </p:cNvPr>
            <p:cNvSpPr txBox="1"/>
            <p:nvPr/>
          </p:nvSpPr>
          <p:spPr>
            <a:xfrm>
              <a:off x="0" y="-76200"/>
              <a:ext cx="812800" cy="889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6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67" name="Google Shape;167;p15">
            <a:extLst>
              <a:ext uri="{FF2B5EF4-FFF2-40B4-BE49-F238E27FC236}">
                <a16:creationId xmlns:a16="http://schemas.microsoft.com/office/drawing/2014/main" id="{76D18E72-DA3A-79BD-3BF6-030B9129511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21274" t="33783" r="21274" b="33786"/>
          <a:stretch/>
        </p:blipFill>
        <p:spPr>
          <a:xfrm>
            <a:off x="-1901950" y="8309463"/>
            <a:ext cx="10506902" cy="3336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1" name="Google Shape;181;p15">
            <a:extLst>
              <a:ext uri="{FF2B5EF4-FFF2-40B4-BE49-F238E27FC236}">
                <a16:creationId xmlns:a16="http://schemas.microsoft.com/office/drawing/2014/main" id="{0DD1687C-AB0A-5B29-1B0F-B52EDD35B24B}"/>
              </a:ext>
            </a:extLst>
          </p:cNvPr>
          <p:cNvGrpSpPr/>
          <p:nvPr/>
        </p:nvGrpSpPr>
        <p:grpSpPr>
          <a:xfrm>
            <a:off x="308966" y="881716"/>
            <a:ext cx="7321725" cy="7253304"/>
            <a:chOff x="-2144809" y="-980217"/>
            <a:chExt cx="9762300" cy="9671072"/>
          </a:xfrm>
        </p:grpSpPr>
        <p:sp>
          <p:nvSpPr>
            <p:cNvPr id="182" name="Google Shape;182;p15">
              <a:extLst>
                <a:ext uri="{FF2B5EF4-FFF2-40B4-BE49-F238E27FC236}">
                  <a16:creationId xmlns:a16="http://schemas.microsoft.com/office/drawing/2014/main" id="{59DF7EDD-C908-E9A9-8459-7B4CEDE40E51}"/>
                </a:ext>
              </a:extLst>
            </p:cNvPr>
            <p:cNvSpPr txBox="1"/>
            <p:nvPr/>
          </p:nvSpPr>
          <p:spPr>
            <a:xfrm>
              <a:off x="-1681426" y="565554"/>
              <a:ext cx="8360319" cy="81253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>
                <a:lnSpc>
                  <a:spcPct val="200000"/>
                </a:lnSpc>
              </a:pPr>
              <a:r>
                <a:rPr lang="en-US" sz="1800" b="1" dirty="0">
                  <a:solidFill>
                    <a:srgbClr val="3A7D4D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📌  Temperature has the strongest positive effect                        (β = +0.0206, p &lt; 0.001) → higher temperature increases AQHI.</a:t>
              </a:r>
            </a:p>
            <a:p>
              <a:pPr lvl="0">
                <a:lnSpc>
                  <a:spcPct val="200000"/>
                </a:lnSpc>
              </a:pPr>
              <a:r>
                <a:rPr lang="en-US" sz="1800" b="1" dirty="0">
                  <a:solidFill>
                    <a:srgbClr val="3A7D4D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📌  Relative humidity has the strongest negative effect           (β = –0.0198, p &lt; 0.001) → higher humidity lowers AQHI.</a:t>
              </a:r>
            </a:p>
            <a:p>
              <a:pPr lvl="0">
                <a:lnSpc>
                  <a:spcPct val="200000"/>
                </a:lnSpc>
              </a:pPr>
              <a:r>
                <a:rPr lang="en-US" sz="1800" b="1" dirty="0">
                  <a:solidFill>
                    <a:srgbClr val="3A7D4D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📌 Wind speed effect is negligible (β = –0.0033, p = 0.306) → no meaningful AQHI impact.</a:t>
              </a:r>
            </a:p>
            <a:p>
              <a:pPr lvl="0">
                <a:lnSpc>
                  <a:spcPct val="200000"/>
                </a:lnSpc>
              </a:pPr>
              <a:r>
                <a:rPr lang="en-US" sz="1800" b="1" dirty="0">
                  <a:solidFill>
                    <a:srgbClr val="3A7D4D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📌 Precipitation shows a small positive effect (β = +0.089,       p = 0.020) → slight AQHI increase during precipitation.</a:t>
              </a:r>
            </a:p>
            <a:p>
              <a:pPr lvl="0">
                <a:lnSpc>
                  <a:spcPct val="200000"/>
                </a:lnSpc>
              </a:pPr>
              <a:r>
                <a:rPr lang="en-US" sz="1800" b="1" dirty="0">
                  <a:solidFill>
                    <a:srgbClr val="3A7D4D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📌 Model fit is moderate (Adjusted R² = 0.482) → weather explains ~48% of AQHI variation.</a:t>
              </a:r>
            </a:p>
            <a:p>
              <a:pPr lvl="0">
                <a:lnSpc>
                  <a:spcPct val="200000"/>
                </a:lnSpc>
              </a:pPr>
              <a:endParaRPr sz="1800" dirty="0"/>
            </a:p>
          </p:txBody>
        </p:sp>
        <p:sp>
          <p:nvSpPr>
            <p:cNvPr id="183" name="Google Shape;183;p15">
              <a:extLst>
                <a:ext uri="{FF2B5EF4-FFF2-40B4-BE49-F238E27FC236}">
                  <a16:creationId xmlns:a16="http://schemas.microsoft.com/office/drawing/2014/main" id="{DC27E8D6-ABC9-A45D-5EB4-C22A1CD5BBDA}"/>
                </a:ext>
              </a:extLst>
            </p:cNvPr>
            <p:cNvSpPr txBox="1"/>
            <p:nvPr/>
          </p:nvSpPr>
          <p:spPr>
            <a:xfrm>
              <a:off x="-2144809" y="-980217"/>
              <a:ext cx="9762300" cy="13131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 algn="ctr"/>
              <a:r>
                <a:rPr lang="en-US" sz="3200" b="1" dirty="0">
                  <a:solidFill>
                    <a:srgbClr val="3A7D4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Sriracha"/>
                </a:rPr>
                <a:t>How Do Weather Variables Affect AQHI? (Regression Results)</a:t>
              </a:r>
              <a:endParaRPr sz="3200" dirty="0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7FE85787-08C9-0D59-07D5-036182B359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4472" y="1694993"/>
            <a:ext cx="9773259" cy="5554319"/>
          </a:xfrm>
          <a:prstGeom prst="rect">
            <a:avLst/>
          </a:prstGeom>
        </p:spPr>
      </p:pic>
      <p:pic>
        <p:nvPicPr>
          <p:cNvPr id="6" name="Google Shape;762;p34">
            <a:extLst>
              <a:ext uri="{FF2B5EF4-FFF2-40B4-BE49-F238E27FC236}">
                <a16:creationId xmlns:a16="http://schemas.microsoft.com/office/drawing/2014/main" id="{E8F31633-CA0D-3F70-6592-E690B1C9E5F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587545" y="7783938"/>
            <a:ext cx="2043952" cy="191139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332956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DB898"/>
        </a:solidFill>
        <a:effectLst/>
      </p:bgPr>
    </p:bg>
    <p:spTree>
      <p:nvGrpSpPr>
        <p:cNvPr id="1" name="Shape 158">
          <a:extLst>
            <a:ext uri="{FF2B5EF4-FFF2-40B4-BE49-F238E27FC236}">
              <a16:creationId xmlns:a16="http://schemas.microsoft.com/office/drawing/2014/main" id="{D084047E-5ADA-0444-04CB-2EDCB6D060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9" name="Google Shape;159;p15">
            <a:extLst>
              <a:ext uri="{FF2B5EF4-FFF2-40B4-BE49-F238E27FC236}">
                <a16:creationId xmlns:a16="http://schemas.microsoft.com/office/drawing/2014/main" id="{19BED67A-A8CF-7DA5-E03E-6D6F9526A510}"/>
              </a:ext>
            </a:extLst>
          </p:cNvPr>
          <p:cNvGrpSpPr/>
          <p:nvPr/>
        </p:nvGrpSpPr>
        <p:grpSpPr>
          <a:xfrm>
            <a:off x="421501" y="284297"/>
            <a:ext cx="17444998" cy="9573746"/>
            <a:chOff x="0" y="-38100"/>
            <a:chExt cx="4594567" cy="2521480"/>
          </a:xfrm>
        </p:grpSpPr>
        <p:sp>
          <p:nvSpPr>
            <p:cNvPr id="160" name="Google Shape;160;p15">
              <a:extLst>
                <a:ext uri="{FF2B5EF4-FFF2-40B4-BE49-F238E27FC236}">
                  <a16:creationId xmlns:a16="http://schemas.microsoft.com/office/drawing/2014/main" id="{43FBD250-DFF0-DC52-5455-F6EC028CCE8A}"/>
                </a:ext>
              </a:extLst>
            </p:cNvPr>
            <p:cNvSpPr/>
            <p:nvPr/>
          </p:nvSpPr>
          <p:spPr>
            <a:xfrm>
              <a:off x="0" y="0"/>
              <a:ext cx="4594567" cy="2483380"/>
            </a:xfrm>
            <a:custGeom>
              <a:avLst/>
              <a:gdLst/>
              <a:ahLst/>
              <a:cxnLst/>
              <a:rect l="l" t="t" r="r" b="b"/>
              <a:pathLst>
                <a:path w="4594567" h="2483380" extrusionOk="0">
                  <a:moveTo>
                    <a:pt x="4515149" y="0"/>
                  </a:moveTo>
                  <a:lnTo>
                    <a:pt x="79418" y="0"/>
                  </a:lnTo>
                  <a:cubicBezTo>
                    <a:pt x="79418" y="43699"/>
                    <a:pt x="44079" y="79418"/>
                    <a:pt x="0" y="79418"/>
                  </a:cubicBezTo>
                  <a:lnTo>
                    <a:pt x="0" y="2403962"/>
                  </a:lnTo>
                  <a:cubicBezTo>
                    <a:pt x="43699" y="2403962"/>
                    <a:pt x="79418" y="2439301"/>
                    <a:pt x="79418" y="2483380"/>
                  </a:cubicBezTo>
                  <a:lnTo>
                    <a:pt x="4515149" y="2483380"/>
                  </a:lnTo>
                  <a:cubicBezTo>
                    <a:pt x="4515149" y="2439681"/>
                    <a:pt x="4550488" y="2403962"/>
                    <a:pt x="4594567" y="2403962"/>
                  </a:cubicBezTo>
                  <a:lnTo>
                    <a:pt x="4594567" y="79418"/>
                  </a:lnTo>
                  <a:cubicBezTo>
                    <a:pt x="4550868" y="79418"/>
                    <a:pt x="4515149" y="44079"/>
                    <a:pt x="4515149" y="0"/>
                  </a:cubicBezTo>
                  <a:close/>
                </a:path>
              </a:pathLst>
            </a:custGeom>
            <a:solidFill>
              <a:srgbClr val="EBEAE6"/>
            </a:solidFill>
            <a:ln w="104775" cap="flat" cmpd="sng">
              <a:solidFill>
                <a:srgbClr val="3A7D4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15">
              <a:extLst>
                <a:ext uri="{FF2B5EF4-FFF2-40B4-BE49-F238E27FC236}">
                  <a16:creationId xmlns:a16="http://schemas.microsoft.com/office/drawing/2014/main" id="{616F1A80-AC80-349C-A259-672B73E2A759}"/>
                </a:ext>
              </a:extLst>
            </p:cNvPr>
            <p:cNvSpPr txBox="1"/>
            <p:nvPr/>
          </p:nvSpPr>
          <p:spPr>
            <a:xfrm>
              <a:off x="38100" y="-38100"/>
              <a:ext cx="736600" cy="81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6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2" name="Google Shape;162;p15">
            <a:extLst>
              <a:ext uri="{FF2B5EF4-FFF2-40B4-BE49-F238E27FC236}">
                <a16:creationId xmlns:a16="http://schemas.microsoft.com/office/drawing/2014/main" id="{B1FADB4B-38D8-BA47-8520-196628051747}"/>
              </a:ext>
            </a:extLst>
          </p:cNvPr>
          <p:cNvGrpSpPr/>
          <p:nvPr/>
        </p:nvGrpSpPr>
        <p:grpSpPr>
          <a:xfrm>
            <a:off x="7161744" y="1504228"/>
            <a:ext cx="9805988" cy="5745084"/>
            <a:chOff x="0" y="-76200"/>
            <a:chExt cx="1950819" cy="2294841"/>
          </a:xfrm>
        </p:grpSpPr>
        <p:sp>
          <p:nvSpPr>
            <p:cNvPr id="163" name="Google Shape;163;p15">
              <a:extLst>
                <a:ext uri="{FF2B5EF4-FFF2-40B4-BE49-F238E27FC236}">
                  <a16:creationId xmlns:a16="http://schemas.microsoft.com/office/drawing/2014/main" id="{FAE74369-B378-F4C8-CE2B-F2003434225D}"/>
                </a:ext>
              </a:extLst>
            </p:cNvPr>
            <p:cNvSpPr/>
            <p:nvPr/>
          </p:nvSpPr>
          <p:spPr>
            <a:xfrm>
              <a:off x="0" y="0"/>
              <a:ext cx="1950819" cy="2218641"/>
            </a:xfrm>
            <a:custGeom>
              <a:avLst/>
              <a:gdLst/>
              <a:ahLst/>
              <a:cxnLst/>
              <a:rect l="l" t="t" r="r" b="b"/>
              <a:pathLst>
                <a:path w="1950819" h="2218641" extrusionOk="0">
                  <a:moveTo>
                    <a:pt x="0" y="0"/>
                  </a:moveTo>
                  <a:lnTo>
                    <a:pt x="1950819" y="0"/>
                  </a:lnTo>
                  <a:lnTo>
                    <a:pt x="1950819" y="2218641"/>
                  </a:lnTo>
                  <a:lnTo>
                    <a:pt x="0" y="221864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04775" cap="flat" cmpd="sng">
              <a:solidFill>
                <a:srgbClr val="3A7D4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" name="Google Shape;164;p15">
              <a:extLst>
                <a:ext uri="{FF2B5EF4-FFF2-40B4-BE49-F238E27FC236}">
                  <a16:creationId xmlns:a16="http://schemas.microsoft.com/office/drawing/2014/main" id="{23801ACD-B93E-D9E6-ED0F-20768FAB0F12}"/>
                </a:ext>
              </a:extLst>
            </p:cNvPr>
            <p:cNvSpPr txBox="1"/>
            <p:nvPr/>
          </p:nvSpPr>
          <p:spPr>
            <a:xfrm>
              <a:off x="0" y="-76200"/>
              <a:ext cx="812800" cy="889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6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67" name="Google Shape;167;p15">
            <a:extLst>
              <a:ext uri="{FF2B5EF4-FFF2-40B4-BE49-F238E27FC236}">
                <a16:creationId xmlns:a16="http://schemas.microsoft.com/office/drawing/2014/main" id="{D25C66A5-761C-62C4-35E4-E14C29339A4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21274" t="33783" r="21274" b="33786"/>
          <a:stretch/>
        </p:blipFill>
        <p:spPr>
          <a:xfrm>
            <a:off x="-1901950" y="8309463"/>
            <a:ext cx="10506902" cy="3336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1" name="Google Shape;181;p15">
            <a:extLst>
              <a:ext uri="{FF2B5EF4-FFF2-40B4-BE49-F238E27FC236}">
                <a16:creationId xmlns:a16="http://schemas.microsoft.com/office/drawing/2014/main" id="{6C40E427-006A-3E65-E50A-63996DBE0B2B}"/>
              </a:ext>
            </a:extLst>
          </p:cNvPr>
          <p:cNvGrpSpPr/>
          <p:nvPr/>
        </p:nvGrpSpPr>
        <p:grpSpPr>
          <a:xfrm>
            <a:off x="308966" y="881716"/>
            <a:ext cx="7321725" cy="6372450"/>
            <a:chOff x="-2144809" y="-980217"/>
            <a:chExt cx="9762300" cy="8496600"/>
          </a:xfrm>
        </p:grpSpPr>
        <p:sp>
          <p:nvSpPr>
            <p:cNvPr id="182" name="Google Shape;182;p15">
              <a:extLst>
                <a:ext uri="{FF2B5EF4-FFF2-40B4-BE49-F238E27FC236}">
                  <a16:creationId xmlns:a16="http://schemas.microsoft.com/office/drawing/2014/main" id="{98A5CB10-AD44-4F19-9F18-321C2E3E7983}"/>
                </a:ext>
              </a:extLst>
            </p:cNvPr>
            <p:cNvSpPr txBox="1"/>
            <p:nvPr/>
          </p:nvSpPr>
          <p:spPr>
            <a:xfrm>
              <a:off x="-1801881" y="1524999"/>
              <a:ext cx="7165021" cy="599138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>
                <a:lnSpc>
                  <a:spcPct val="200000"/>
                </a:lnSpc>
              </a:pPr>
              <a:r>
                <a:rPr lang="en-US" sz="1800" b="1" dirty="0">
                  <a:solidFill>
                    <a:srgbClr val="3A7D4D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📌  Higher temperatures generally correlate with higher AQHI across cities.</a:t>
              </a:r>
            </a:p>
            <a:p>
              <a:pPr lvl="0">
                <a:lnSpc>
                  <a:spcPct val="200000"/>
                </a:lnSpc>
              </a:pPr>
              <a:r>
                <a:rPr lang="en-US" sz="1800" b="1" dirty="0">
                  <a:solidFill>
                    <a:srgbClr val="3A7D4D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📌  Ottawa shows the strongest positive temperature–AQHI relationship.</a:t>
              </a:r>
            </a:p>
            <a:p>
              <a:pPr lvl="0">
                <a:lnSpc>
                  <a:spcPct val="200000"/>
                </a:lnSpc>
              </a:pPr>
              <a:r>
                <a:rPr lang="en-US" sz="1800" b="1" dirty="0">
                  <a:solidFill>
                    <a:srgbClr val="3A7D4D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📌 Vancouver, Victoria, and Toronto show moderate positive trends.</a:t>
              </a:r>
            </a:p>
            <a:p>
              <a:pPr lvl="0">
                <a:lnSpc>
                  <a:spcPct val="200000"/>
                </a:lnSpc>
              </a:pPr>
              <a:r>
                <a:rPr lang="en-US" sz="1800" b="1" dirty="0">
                  <a:solidFill>
                    <a:srgbClr val="3A7D4D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📌 Calgary’s trend is positive but weaker compared to other cities.</a:t>
              </a:r>
              <a:endParaRPr sz="1800" dirty="0"/>
            </a:p>
          </p:txBody>
        </p:sp>
        <p:sp>
          <p:nvSpPr>
            <p:cNvPr id="183" name="Google Shape;183;p15">
              <a:extLst>
                <a:ext uri="{FF2B5EF4-FFF2-40B4-BE49-F238E27FC236}">
                  <a16:creationId xmlns:a16="http://schemas.microsoft.com/office/drawing/2014/main" id="{C52E088F-9F12-024B-C1F6-BBBEDE3739E8}"/>
                </a:ext>
              </a:extLst>
            </p:cNvPr>
            <p:cNvSpPr txBox="1"/>
            <p:nvPr/>
          </p:nvSpPr>
          <p:spPr>
            <a:xfrm>
              <a:off x="-2144809" y="-980217"/>
              <a:ext cx="9762300" cy="13131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 algn="ctr"/>
              <a:r>
                <a:rPr lang="en-US" sz="3200" b="1" dirty="0">
                  <a:solidFill>
                    <a:srgbClr val="3A7D4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Sriracha"/>
                </a:rPr>
                <a:t>How Does Temperature Relate to AQHI Levels?</a:t>
              </a:r>
              <a:endParaRPr sz="3200" dirty="0"/>
            </a:p>
          </p:txBody>
        </p:sp>
      </p:grpSp>
      <p:pic>
        <p:nvPicPr>
          <p:cNvPr id="5" name="Picture 4" descr="A graph with colored lines and dots&#10;&#10;AI-generated content may be incorrect.">
            <a:extLst>
              <a:ext uri="{FF2B5EF4-FFF2-40B4-BE49-F238E27FC236}">
                <a16:creationId xmlns:a16="http://schemas.microsoft.com/office/drawing/2014/main" id="{80433BD8-C7BC-1370-ECE4-FFC8652BCE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6975" y="1762901"/>
            <a:ext cx="9770757" cy="5486411"/>
          </a:xfrm>
          <a:prstGeom prst="rect">
            <a:avLst/>
          </a:prstGeom>
        </p:spPr>
      </p:pic>
      <p:pic>
        <p:nvPicPr>
          <p:cNvPr id="3" name="Google Shape;741;p34">
            <a:extLst>
              <a:ext uri="{FF2B5EF4-FFF2-40B4-BE49-F238E27FC236}">
                <a16:creationId xmlns:a16="http://schemas.microsoft.com/office/drawing/2014/main" id="{E8083E80-CDF8-33EB-EDDC-FEE0BE8C5AA6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482884" y="7609529"/>
            <a:ext cx="969696" cy="196495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762401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DB898"/>
        </a:solidFill>
        <a:effectLst/>
      </p:bgPr>
    </p:bg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9" name="Google Shape;159;p15"/>
          <p:cNvGrpSpPr/>
          <p:nvPr/>
        </p:nvGrpSpPr>
        <p:grpSpPr>
          <a:xfrm>
            <a:off x="421501" y="284297"/>
            <a:ext cx="17444998" cy="9573746"/>
            <a:chOff x="0" y="-38100"/>
            <a:chExt cx="4594567" cy="2521480"/>
          </a:xfrm>
        </p:grpSpPr>
        <p:sp>
          <p:nvSpPr>
            <p:cNvPr id="160" name="Google Shape;160;p15"/>
            <p:cNvSpPr/>
            <p:nvPr/>
          </p:nvSpPr>
          <p:spPr>
            <a:xfrm>
              <a:off x="0" y="0"/>
              <a:ext cx="4594567" cy="2483380"/>
            </a:xfrm>
            <a:custGeom>
              <a:avLst/>
              <a:gdLst/>
              <a:ahLst/>
              <a:cxnLst/>
              <a:rect l="l" t="t" r="r" b="b"/>
              <a:pathLst>
                <a:path w="4594567" h="2483380" extrusionOk="0">
                  <a:moveTo>
                    <a:pt x="4515149" y="0"/>
                  </a:moveTo>
                  <a:lnTo>
                    <a:pt x="79418" y="0"/>
                  </a:lnTo>
                  <a:cubicBezTo>
                    <a:pt x="79418" y="43699"/>
                    <a:pt x="44079" y="79418"/>
                    <a:pt x="0" y="79418"/>
                  </a:cubicBezTo>
                  <a:lnTo>
                    <a:pt x="0" y="2403962"/>
                  </a:lnTo>
                  <a:cubicBezTo>
                    <a:pt x="43699" y="2403962"/>
                    <a:pt x="79418" y="2439301"/>
                    <a:pt x="79418" y="2483380"/>
                  </a:cubicBezTo>
                  <a:lnTo>
                    <a:pt x="4515149" y="2483380"/>
                  </a:lnTo>
                  <a:cubicBezTo>
                    <a:pt x="4515149" y="2439681"/>
                    <a:pt x="4550488" y="2403962"/>
                    <a:pt x="4594567" y="2403962"/>
                  </a:cubicBezTo>
                  <a:lnTo>
                    <a:pt x="4594567" y="79418"/>
                  </a:lnTo>
                  <a:cubicBezTo>
                    <a:pt x="4550868" y="79418"/>
                    <a:pt x="4515149" y="44079"/>
                    <a:pt x="4515149" y="0"/>
                  </a:cubicBezTo>
                  <a:close/>
                </a:path>
              </a:pathLst>
            </a:custGeom>
            <a:solidFill>
              <a:srgbClr val="EBEAE6"/>
            </a:solidFill>
            <a:ln w="104775" cap="flat" cmpd="sng">
              <a:solidFill>
                <a:srgbClr val="3A7D4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15"/>
            <p:cNvSpPr txBox="1"/>
            <p:nvPr/>
          </p:nvSpPr>
          <p:spPr>
            <a:xfrm>
              <a:off x="38100" y="-38100"/>
              <a:ext cx="736600" cy="81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6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2" name="Google Shape;162;p15"/>
          <p:cNvGrpSpPr/>
          <p:nvPr/>
        </p:nvGrpSpPr>
        <p:grpSpPr>
          <a:xfrm>
            <a:off x="7161744" y="1504228"/>
            <a:ext cx="9805988" cy="5745084"/>
            <a:chOff x="0" y="-76200"/>
            <a:chExt cx="1950819" cy="2294841"/>
          </a:xfrm>
        </p:grpSpPr>
        <p:sp>
          <p:nvSpPr>
            <p:cNvPr id="163" name="Google Shape;163;p15"/>
            <p:cNvSpPr/>
            <p:nvPr/>
          </p:nvSpPr>
          <p:spPr>
            <a:xfrm>
              <a:off x="0" y="0"/>
              <a:ext cx="1950819" cy="2218641"/>
            </a:xfrm>
            <a:custGeom>
              <a:avLst/>
              <a:gdLst/>
              <a:ahLst/>
              <a:cxnLst/>
              <a:rect l="l" t="t" r="r" b="b"/>
              <a:pathLst>
                <a:path w="1950819" h="2218641" extrusionOk="0">
                  <a:moveTo>
                    <a:pt x="0" y="0"/>
                  </a:moveTo>
                  <a:lnTo>
                    <a:pt x="1950819" y="0"/>
                  </a:lnTo>
                  <a:lnTo>
                    <a:pt x="1950819" y="2218641"/>
                  </a:lnTo>
                  <a:lnTo>
                    <a:pt x="0" y="221864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04775" cap="flat" cmpd="sng">
              <a:solidFill>
                <a:srgbClr val="3A7D4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" name="Google Shape;164;p15"/>
            <p:cNvSpPr txBox="1"/>
            <p:nvPr/>
          </p:nvSpPr>
          <p:spPr>
            <a:xfrm>
              <a:off x="0" y="-76200"/>
              <a:ext cx="812800" cy="889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6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67" name="Google Shape;167;p15"/>
          <p:cNvPicPr preferRelativeResize="0"/>
          <p:nvPr/>
        </p:nvPicPr>
        <p:blipFill rotWithShape="1">
          <a:blip r:embed="rId3">
            <a:alphaModFix/>
          </a:blip>
          <a:srcRect l="21274" t="33783" r="21274" b="33786"/>
          <a:stretch/>
        </p:blipFill>
        <p:spPr>
          <a:xfrm>
            <a:off x="-1901950" y="8309463"/>
            <a:ext cx="10506902" cy="3336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1" name="Google Shape;181;p15"/>
          <p:cNvGrpSpPr/>
          <p:nvPr/>
        </p:nvGrpSpPr>
        <p:grpSpPr>
          <a:xfrm>
            <a:off x="308966" y="881716"/>
            <a:ext cx="7321725" cy="6167291"/>
            <a:chOff x="-2144809" y="-980217"/>
            <a:chExt cx="9762300" cy="8223055"/>
          </a:xfrm>
        </p:grpSpPr>
        <p:sp>
          <p:nvSpPr>
            <p:cNvPr id="182" name="Google Shape;182;p15"/>
            <p:cNvSpPr txBox="1"/>
            <p:nvPr/>
          </p:nvSpPr>
          <p:spPr>
            <a:xfrm>
              <a:off x="-1556192" y="1333527"/>
              <a:ext cx="8109849" cy="59093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>
                <a:lnSpc>
                  <a:spcPct val="200000"/>
                </a:lnSpc>
              </a:pPr>
              <a:r>
                <a:rPr lang="en-US" sz="1600" b="1" dirty="0">
                  <a:solidFill>
                    <a:srgbClr val="3A7D4D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📌  Overall weak relationship between wind speed and AQHI across all cities.</a:t>
              </a:r>
            </a:p>
            <a:p>
              <a:pPr lvl="0">
                <a:lnSpc>
                  <a:spcPct val="200000"/>
                </a:lnSpc>
              </a:pPr>
              <a:r>
                <a:rPr lang="en-US" sz="1600" b="1" dirty="0">
                  <a:solidFill>
                    <a:srgbClr val="3A7D4D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📌  Calgary shows almost no slope, meaning wind speed barely affects AQHI there.</a:t>
              </a:r>
            </a:p>
            <a:p>
              <a:pPr lvl="0">
                <a:lnSpc>
                  <a:spcPct val="200000"/>
                </a:lnSpc>
              </a:pPr>
              <a:r>
                <a:rPr lang="en-US" sz="1600" b="1" dirty="0">
                  <a:solidFill>
                    <a:srgbClr val="3A7D4D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📌  Victoria and Toronto show slightly stronger positive slopes, indicating mild increases in AQHI as wind increases.</a:t>
              </a:r>
            </a:p>
            <a:p>
              <a:pPr lvl="0">
                <a:lnSpc>
                  <a:spcPct val="200000"/>
                </a:lnSpc>
              </a:pPr>
              <a:r>
                <a:rPr lang="en-US" sz="1600" b="1" dirty="0">
                  <a:solidFill>
                    <a:srgbClr val="3A7D4D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📌  Vancouver trend is small but positive, still weak overall.</a:t>
              </a:r>
            </a:p>
            <a:p>
              <a:pPr lvl="0">
                <a:lnSpc>
                  <a:spcPct val="200000"/>
                </a:lnSpc>
              </a:pPr>
              <a:r>
                <a:rPr lang="en-US" sz="1600" b="1" dirty="0">
                  <a:solidFill>
                    <a:srgbClr val="3A7D4D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📌  Wind speed is not a too strong predictor of air quality compared to other weather factors</a:t>
              </a:r>
              <a:endParaRPr sz="1600" dirty="0"/>
            </a:p>
          </p:txBody>
        </p:sp>
        <p:sp>
          <p:nvSpPr>
            <p:cNvPr id="183" name="Google Shape;183;p15"/>
            <p:cNvSpPr txBox="1"/>
            <p:nvPr/>
          </p:nvSpPr>
          <p:spPr>
            <a:xfrm>
              <a:off x="-2144809" y="-980217"/>
              <a:ext cx="9762300" cy="13131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 algn="ctr"/>
              <a:r>
                <a:rPr lang="en-US" sz="3200" b="1" dirty="0">
                  <a:solidFill>
                    <a:srgbClr val="3A7D4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Sriracha"/>
                </a:rPr>
                <a:t>Relationship Between Wind Speed and AQHI Levels</a:t>
              </a:r>
              <a:endParaRPr sz="3200" dirty="0"/>
            </a:p>
          </p:txBody>
        </p:sp>
      </p:grpSp>
      <p:pic>
        <p:nvPicPr>
          <p:cNvPr id="7" name="Picture 6" descr="A graph with colored lines&#10;&#10;AI-generated content may be incorrect.">
            <a:extLst>
              <a:ext uri="{FF2B5EF4-FFF2-40B4-BE49-F238E27FC236}">
                <a16:creationId xmlns:a16="http://schemas.microsoft.com/office/drawing/2014/main" id="{3D03B0AB-AA23-E7EB-CBD8-A781C4D953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1744" y="1728946"/>
            <a:ext cx="9805988" cy="5486411"/>
          </a:xfrm>
          <a:prstGeom prst="rect">
            <a:avLst/>
          </a:prstGeom>
        </p:spPr>
      </p:pic>
      <p:pic>
        <p:nvPicPr>
          <p:cNvPr id="2" name="Google Shape;756;p34">
            <a:extLst>
              <a:ext uri="{FF2B5EF4-FFF2-40B4-BE49-F238E27FC236}">
                <a16:creationId xmlns:a16="http://schemas.microsoft.com/office/drawing/2014/main" id="{A4EDD958-964D-168E-AD67-89319980B023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692285" y="8309463"/>
            <a:ext cx="1733442" cy="8867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DB898"/>
        </a:solidFill>
        <a:effectLst/>
      </p:bgPr>
    </p:bg>
    <p:spTree>
      <p:nvGrpSpPr>
        <p:cNvPr id="1" name="Shape 158">
          <a:extLst>
            <a:ext uri="{FF2B5EF4-FFF2-40B4-BE49-F238E27FC236}">
              <a16:creationId xmlns:a16="http://schemas.microsoft.com/office/drawing/2014/main" id="{FBE91B32-11B6-CA48-15CB-CECA002C6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9" name="Google Shape;159;p15">
            <a:extLst>
              <a:ext uri="{FF2B5EF4-FFF2-40B4-BE49-F238E27FC236}">
                <a16:creationId xmlns:a16="http://schemas.microsoft.com/office/drawing/2014/main" id="{CDAA6DC5-042F-B71D-1680-6ABDAD6DC961}"/>
              </a:ext>
            </a:extLst>
          </p:cNvPr>
          <p:cNvGrpSpPr/>
          <p:nvPr/>
        </p:nvGrpSpPr>
        <p:grpSpPr>
          <a:xfrm>
            <a:off x="421501" y="284297"/>
            <a:ext cx="17444998" cy="9573746"/>
            <a:chOff x="0" y="-38100"/>
            <a:chExt cx="4594567" cy="2521480"/>
          </a:xfrm>
        </p:grpSpPr>
        <p:sp>
          <p:nvSpPr>
            <p:cNvPr id="160" name="Google Shape;160;p15">
              <a:extLst>
                <a:ext uri="{FF2B5EF4-FFF2-40B4-BE49-F238E27FC236}">
                  <a16:creationId xmlns:a16="http://schemas.microsoft.com/office/drawing/2014/main" id="{3BD0B8AB-1A0A-B66C-FB25-2D5E0C2D9122}"/>
                </a:ext>
              </a:extLst>
            </p:cNvPr>
            <p:cNvSpPr/>
            <p:nvPr/>
          </p:nvSpPr>
          <p:spPr>
            <a:xfrm>
              <a:off x="0" y="0"/>
              <a:ext cx="4594567" cy="2483380"/>
            </a:xfrm>
            <a:custGeom>
              <a:avLst/>
              <a:gdLst/>
              <a:ahLst/>
              <a:cxnLst/>
              <a:rect l="l" t="t" r="r" b="b"/>
              <a:pathLst>
                <a:path w="4594567" h="2483380" extrusionOk="0">
                  <a:moveTo>
                    <a:pt x="4515149" y="0"/>
                  </a:moveTo>
                  <a:lnTo>
                    <a:pt x="79418" y="0"/>
                  </a:lnTo>
                  <a:cubicBezTo>
                    <a:pt x="79418" y="43699"/>
                    <a:pt x="44079" y="79418"/>
                    <a:pt x="0" y="79418"/>
                  </a:cubicBezTo>
                  <a:lnTo>
                    <a:pt x="0" y="2403962"/>
                  </a:lnTo>
                  <a:cubicBezTo>
                    <a:pt x="43699" y="2403962"/>
                    <a:pt x="79418" y="2439301"/>
                    <a:pt x="79418" y="2483380"/>
                  </a:cubicBezTo>
                  <a:lnTo>
                    <a:pt x="4515149" y="2483380"/>
                  </a:lnTo>
                  <a:cubicBezTo>
                    <a:pt x="4515149" y="2439681"/>
                    <a:pt x="4550488" y="2403962"/>
                    <a:pt x="4594567" y="2403962"/>
                  </a:cubicBezTo>
                  <a:lnTo>
                    <a:pt x="4594567" y="79418"/>
                  </a:lnTo>
                  <a:cubicBezTo>
                    <a:pt x="4550868" y="79418"/>
                    <a:pt x="4515149" y="44079"/>
                    <a:pt x="4515149" y="0"/>
                  </a:cubicBezTo>
                  <a:close/>
                </a:path>
              </a:pathLst>
            </a:custGeom>
            <a:solidFill>
              <a:srgbClr val="EBEAE6"/>
            </a:solidFill>
            <a:ln w="104775" cap="flat" cmpd="sng">
              <a:solidFill>
                <a:srgbClr val="3A7D4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15">
              <a:extLst>
                <a:ext uri="{FF2B5EF4-FFF2-40B4-BE49-F238E27FC236}">
                  <a16:creationId xmlns:a16="http://schemas.microsoft.com/office/drawing/2014/main" id="{D46AA183-79B3-996D-493F-6CDBB57795BB}"/>
                </a:ext>
              </a:extLst>
            </p:cNvPr>
            <p:cNvSpPr txBox="1"/>
            <p:nvPr/>
          </p:nvSpPr>
          <p:spPr>
            <a:xfrm>
              <a:off x="38100" y="-38100"/>
              <a:ext cx="736600" cy="81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6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2" name="Google Shape;162;p15">
            <a:extLst>
              <a:ext uri="{FF2B5EF4-FFF2-40B4-BE49-F238E27FC236}">
                <a16:creationId xmlns:a16="http://schemas.microsoft.com/office/drawing/2014/main" id="{2693336F-1F54-52D1-370E-FAC2C6FA957A}"/>
              </a:ext>
            </a:extLst>
          </p:cNvPr>
          <p:cNvGrpSpPr/>
          <p:nvPr/>
        </p:nvGrpSpPr>
        <p:grpSpPr>
          <a:xfrm>
            <a:off x="7161744" y="1504228"/>
            <a:ext cx="9805988" cy="5745084"/>
            <a:chOff x="0" y="-76200"/>
            <a:chExt cx="1950819" cy="2294841"/>
          </a:xfrm>
        </p:grpSpPr>
        <p:sp>
          <p:nvSpPr>
            <p:cNvPr id="163" name="Google Shape;163;p15">
              <a:extLst>
                <a:ext uri="{FF2B5EF4-FFF2-40B4-BE49-F238E27FC236}">
                  <a16:creationId xmlns:a16="http://schemas.microsoft.com/office/drawing/2014/main" id="{4BB64FE7-24D1-ACCC-2DC5-656CA188C38A}"/>
                </a:ext>
              </a:extLst>
            </p:cNvPr>
            <p:cNvSpPr/>
            <p:nvPr/>
          </p:nvSpPr>
          <p:spPr>
            <a:xfrm>
              <a:off x="0" y="0"/>
              <a:ext cx="1950819" cy="2218641"/>
            </a:xfrm>
            <a:custGeom>
              <a:avLst/>
              <a:gdLst/>
              <a:ahLst/>
              <a:cxnLst/>
              <a:rect l="l" t="t" r="r" b="b"/>
              <a:pathLst>
                <a:path w="1950819" h="2218641" extrusionOk="0">
                  <a:moveTo>
                    <a:pt x="0" y="0"/>
                  </a:moveTo>
                  <a:lnTo>
                    <a:pt x="1950819" y="0"/>
                  </a:lnTo>
                  <a:lnTo>
                    <a:pt x="1950819" y="2218641"/>
                  </a:lnTo>
                  <a:lnTo>
                    <a:pt x="0" y="221864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04775" cap="flat" cmpd="sng">
              <a:solidFill>
                <a:srgbClr val="3A7D4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" name="Google Shape;164;p15">
              <a:extLst>
                <a:ext uri="{FF2B5EF4-FFF2-40B4-BE49-F238E27FC236}">
                  <a16:creationId xmlns:a16="http://schemas.microsoft.com/office/drawing/2014/main" id="{F74DC00A-622B-1E93-3BA1-EB8CD8A583A6}"/>
                </a:ext>
              </a:extLst>
            </p:cNvPr>
            <p:cNvSpPr txBox="1"/>
            <p:nvPr/>
          </p:nvSpPr>
          <p:spPr>
            <a:xfrm>
              <a:off x="0" y="-76200"/>
              <a:ext cx="812800" cy="889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6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67" name="Google Shape;167;p15">
            <a:extLst>
              <a:ext uri="{FF2B5EF4-FFF2-40B4-BE49-F238E27FC236}">
                <a16:creationId xmlns:a16="http://schemas.microsoft.com/office/drawing/2014/main" id="{2CFD8996-03A0-67B9-2999-281E4D43528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21274" t="33783" r="21274" b="33786"/>
          <a:stretch/>
        </p:blipFill>
        <p:spPr>
          <a:xfrm>
            <a:off x="-1901950" y="8309463"/>
            <a:ext cx="10506902" cy="3336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1" name="Google Shape;181;p15">
            <a:extLst>
              <a:ext uri="{FF2B5EF4-FFF2-40B4-BE49-F238E27FC236}">
                <a16:creationId xmlns:a16="http://schemas.microsoft.com/office/drawing/2014/main" id="{C5BD5F35-2444-598E-92B2-D9043925A1AD}"/>
              </a:ext>
            </a:extLst>
          </p:cNvPr>
          <p:cNvGrpSpPr/>
          <p:nvPr/>
        </p:nvGrpSpPr>
        <p:grpSpPr>
          <a:xfrm>
            <a:off x="566162" y="802128"/>
            <a:ext cx="7321725" cy="6423262"/>
            <a:chOff x="-1801881" y="-1086334"/>
            <a:chExt cx="9762300" cy="8564349"/>
          </a:xfrm>
        </p:grpSpPr>
        <p:sp>
          <p:nvSpPr>
            <p:cNvPr id="182" name="Google Shape;182;p15">
              <a:extLst>
                <a:ext uri="{FF2B5EF4-FFF2-40B4-BE49-F238E27FC236}">
                  <a16:creationId xmlns:a16="http://schemas.microsoft.com/office/drawing/2014/main" id="{D569C982-A5FC-A03B-39AC-9B7F8F2C8DC3}"/>
                </a:ext>
              </a:extLst>
            </p:cNvPr>
            <p:cNvSpPr txBox="1"/>
            <p:nvPr/>
          </p:nvSpPr>
          <p:spPr>
            <a:xfrm>
              <a:off x="-1633476" y="830042"/>
              <a:ext cx="8476351" cy="664797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>
                <a:lnSpc>
                  <a:spcPct val="200000"/>
                </a:lnSpc>
              </a:pPr>
              <a:r>
                <a:rPr lang="en-US" sz="1800" b="1" dirty="0">
                  <a:solidFill>
                    <a:srgbClr val="3A7D4D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📌  Across most cities, higher humidity is associated with lower AQHI.</a:t>
              </a:r>
            </a:p>
            <a:p>
              <a:pPr lvl="0">
                <a:lnSpc>
                  <a:spcPct val="200000"/>
                </a:lnSpc>
              </a:pPr>
              <a:r>
                <a:rPr lang="en-US" sz="1800" b="1" dirty="0">
                  <a:solidFill>
                    <a:srgbClr val="3A7D4D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📌  Calgary shows the strongest decrease in AQHI as humidity rises.</a:t>
              </a:r>
            </a:p>
            <a:p>
              <a:pPr lvl="0">
                <a:lnSpc>
                  <a:spcPct val="200000"/>
                </a:lnSpc>
              </a:pPr>
              <a:r>
                <a:rPr lang="en-US" sz="1800" b="1" dirty="0">
                  <a:solidFill>
                    <a:srgbClr val="3A7D4D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📌  Vancouver, Toronto, and Ottawa show mild downward trends.</a:t>
              </a:r>
            </a:p>
            <a:p>
              <a:pPr lvl="0">
                <a:lnSpc>
                  <a:spcPct val="200000"/>
                </a:lnSpc>
              </a:pPr>
              <a:r>
                <a:rPr lang="en-US" sz="1800" b="1" dirty="0">
                  <a:solidFill>
                    <a:srgbClr val="3A7D4D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📌  V </a:t>
              </a:r>
              <a:r>
                <a:rPr lang="en-US" sz="1800" b="1" dirty="0" err="1">
                  <a:solidFill>
                    <a:srgbClr val="3A7D4D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ictoria</a:t>
              </a:r>
              <a:r>
                <a:rPr lang="en-US" sz="1800" b="1" dirty="0">
                  <a:solidFill>
                    <a:srgbClr val="3A7D4D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 also shows a decline, but clustered at very high humidity ranges.</a:t>
              </a:r>
            </a:p>
            <a:p>
              <a:pPr lvl="0">
                <a:lnSpc>
                  <a:spcPct val="200000"/>
                </a:lnSpc>
              </a:pPr>
              <a:r>
                <a:rPr lang="en-US" sz="1800" b="1" dirty="0">
                  <a:solidFill>
                    <a:srgbClr val="3A7D4D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📌  Relative humidity has a negative relationship with AQHI.</a:t>
              </a:r>
              <a:endParaRPr sz="1800" dirty="0"/>
            </a:p>
          </p:txBody>
        </p:sp>
        <p:sp>
          <p:nvSpPr>
            <p:cNvPr id="183" name="Google Shape;183;p15">
              <a:extLst>
                <a:ext uri="{FF2B5EF4-FFF2-40B4-BE49-F238E27FC236}">
                  <a16:creationId xmlns:a16="http://schemas.microsoft.com/office/drawing/2014/main" id="{FF88DABB-A00B-E58C-83DD-A9E00B7A3206}"/>
                </a:ext>
              </a:extLst>
            </p:cNvPr>
            <p:cNvSpPr txBox="1"/>
            <p:nvPr/>
          </p:nvSpPr>
          <p:spPr>
            <a:xfrm>
              <a:off x="-1801881" y="-1086334"/>
              <a:ext cx="9762300" cy="6565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 algn="ctr"/>
              <a:r>
                <a:rPr lang="en-US" sz="3200" b="1" dirty="0">
                  <a:solidFill>
                    <a:srgbClr val="3A7D4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Sriracha"/>
                </a:rPr>
                <a:t>Does Higher Humidity Lead to Cleaner Air ?</a:t>
              </a:r>
              <a:endParaRPr sz="3200" dirty="0"/>
            </a:p>
          </p:txBody>
        </p:sp>
      </p:grpSp>
      <p:pic>
        <p:nvPicPr>
          <p:cNvPr id="3" name="Picture 2" descr="A graph showing a line graph&#10;&#10;AI-generated content may be incorrect.">
            <a:extLst>
              <a:ext uri="{FF2B5EF4-FFF2-40B4-BE49-F238E27FC236}">
                <a16:creationId xmlns:a16="http://schemas.microsoft.com/office/drawing/2014/main" id="{383260CE-7194-B84D-0D45-ED21EF0A11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0520" y="1728946"/>
            <a:ext cx="9797212" cy="5486411"/>
          </a:xfrm>
          <a:prstGeom prst="rect">
            <a:avLst/>
          </a:prstGeom>
        </p:spPr>
      </p:pic>
      <p:pic>
        <p:nvPicPr>
          <p:cNvPr id="2" name="Google Shape;770;p34">
            <a:extLst>
              <a:ext uri="{FF2B5EF4-FFF2-40B4-BE49-F238E27FC236}">
                <a16:creationId xmlns:a16="http://schemas.microsoft.com/office/drawing/2014/main" id="{8F29649E-38BA-1747-B354-020001C752F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048692" y="7760904"/>
            <a:ext cx="919040" cy="166220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166519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DB898"/>
        </a:solidFill>
        <a:effectLst/>
      </p:bgPr>
    </p:bg>
    <p:spTree>
      <p:nvGrpSpPr>
        <p:cNvPr id="1" name="Shape 158">
          <a:extLst>
            <a:ext uri="{FF2B5EF4-FFF2-40B4-BE49-F238E27FC236}">
              <a16:creationId xmlns:a16="http://schemas.microsoft.com/office/drawing/2014/main" id="{7E7F9D26-C1BF-B1DD-0D44-864ABA996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9" name="Google Shape;159;p15">
            <a:extLst>
              <a:ext uri="{FF2B5EF4-FFF2-40B4-BE49-F238E27FC236}">
                <a16:creationId xmlns:a16="http://schemas.microsoft.com/office/drawing/2014/main" id="{081E302A-E4C5-22CA-4356-C56A0E918ADA}"/>
              </a:ext>
            </a:extLst>
          </p:cNvPr>
          <p:cNvGrpSpPr/>
          <p:nvPr/>
        </p:nvGrpSpPr>
        <p:grpSpPr>
          <a:xfrm>
            <a:off x="421501" y="284297"/>
            <a:ext cx="17444998" cy="9573746"/>
            <a:chOff x="0" y="-38100"/>
            <a:chExt cx="4594567" cy="2521480"/>
          </a:xfrm>
        </p:grpSpPr>
        <p:sp>
          <p:nvSpPr>
            <p:cNvPr id="160" name="Google Shape;160;p15">
              <a:extLst>
                <a:ext uri="{FF2B5EF4-FFF2-40B4-BE49-F238E27FC236}">
                  <a16:creationId xmlns:a16="http://schemas.microsoft.com/office/drawing/2014/main" id="{5242ABF0-6EB4-8CDF-F535-665D15DC67FE}"/>
                </a:ext>
              </a:extLst>
            </p:cNvPr>
            <p:cNvSpPr/>
            <p:nvPr/>
          </p:nvSpPr>
          <p:spPr>
            <a:xfrm>
              <a:off x="0" y="0"/>
              <a:ext cx="4594567" cy="2483380"/>
            </a:xfrm>
            <a:custGeom>
              <a:avLst/>
              <a:gdLst/>
              <a:ahLst/>
              <a:cxnLst/>
              <a:rect l="l" t="t" r="r" b="b"/>
              <a:pathLst>
                <a:path w="4594567" h="2483380" extrusionOk="0">
                  <a:moveTo>
                    <a:pt x="4515149" y="0"/>
                  </a:moveTo>
                  <a:lnTo>
                    <a:pt x="79418" y="0"/>
                  </a:lnTo>
                  <a:cubicBezTo>
                    <a:pt x="79418" y="43699"/>
                    <a:pt x="44079" y="79418"/>
                    <a:pt x="0" y="79418"/>
                  </a:cubicBezTo>
                  <a:lnTo>
                    <a:pt x="0" y="2403962"/>
                  </a:lnTo>
                  <a:cubicBezTo>
                    <a:pt x="43699" y="2403962"/>
                    <a:pt x="79418" y="2439301"/>
                    <a:pt x="79418" y="2483380"/>
                  </a:cubicBezTo>
                  <a:lnTo>
                    <a:pt x="4515149" y="2483380"/>
                  </a:lnTo>
                  <a:cubicBezTo>
                    <a:pt x="4515149" y="2439681"/>
                    <a:pt x="4550488" y="2403962"/>
                    <a:pt x="4594567" y="2403962"/>
                  </a:cubicBezTo>
                  <a:lnTo>
                    <a:pt x="4594567" y="79418"/>
                  </a:lnTo>
                  <a:cubicBezTo>
                    <a:pt x="4550868" y="79418"/>
                    <a:pt x="4515149" y="44079"/>
                    <a:pt x="4515149" y="0"/>
                  </a:cubicBezTo>
                  <a:close/>
                </a:path>
              </a:pathLst>
            </a:custGeom>
            <a:solidFill>
              <a:srgbClr val="EBEAE6"/>
            </a:solidFill>
            <a:ln w="104775" cap="flat" cmpd="sng">
              <a:solidFill>
                <a:srgbClr val="3A7D4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15">
              <a:extLst>
                <a:ext uri="{FF2B5EF4-FFF2-40B4-BE49-F238E27FC236}">
                  <a16:creationId xmlns:a16="http://schemas.microsoft.com/office/drawing/2014/main" id="{C5DB8611-E64A-4497-C50E-789C60AC2624}"/>
                </a:ext>
              </a:extLst>
            </p:cNvPr>
            <p:cNvSpPr txBox="1"/>
            <p:nvPr/>
          </p:nvSpPr>
          <p:spPr>
            <a:xfrm>
              <a:off x="38100" y="-38100"/>
              <a:ext cx="736600" cy="81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6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2" name="Google Shape;162;p15">
            <a:extLst>
              <a:ext uri="{FF2B5EF4-FFF2-40B4-BE49-F238E27FC236}">
                <a16:creationId xmlns:a16="http://schemas.microsoft.com/office/drawing/2014/main" id="{F86E3E45-8427-AF73-2A09-D81A39332600}"/>
              </a:ext>
            </a:extLst>
          </p:cNvPr>
          <p:cNvGrpSpPr/>
          <p:nvPr/>
        </p:nvGrpSpPr>
        <p:grpSpPr>
          <a:xfrm>
            <a:off x="7161744" y="1504228"/>
            <a:ext cx="9805988" cy="5745084"/>
            <a:chOff x="0" y="-76200"/>
            <a:chExt cx="1950819" cy="2294841"/>
          </a:xfrm>
        </p:grpSpPr>
        <p:sp>
          <p:nvSpPr>
            <p:cNvPr id="163" name="Google Shape;163;p15">
              <a:extLst>
                <a:ext uri="{FF2B5EF4-FFF2-40B4-BE49-F238E27FC236}">
                  <a16:creationId xmlns:a16="http://schemas.microsoft.com/office/drawing/2014/main" id="{5515F9A2-1329-9D3B-F03E-1F2A20AF0897}"/>
                </a:ext>
              </a:extLst>
            </p:cNvPr>
            <p:cNvSpPr/>
            <p:nvPr/>
          </p:nvSpPr>
          <p:spPr>
            <a:xfrm>
              <a:off x="0" y="0"/>
              <a:ext cx="1950819" cy="2218641"/>
            </a:xfrm>
            <a:custGeom>
              <a:avLst/>
              <a:gdLst/>
              <a:ahLst/>
              <a:cxnLst/>
              <a:rect l="l" t="t" r="r" b="b"/>
              <a:pathLst>
                <a:path w="1950819" h="2218641" extrusionOk="0">
                  <a:moveTo>
                    <a:pt x="0" y="0"/>
                  </a:moveTo>
                  <a:lnTo>
                    <a:pt x="1950819" y="0"/>
                  </a:lnTo>
                  <a:lnTo>
                    <a:pt x="1950819" y="2218641"/>
                  </a:lnTo>
                  <a:lnTo>
                    <a:pt x="0" y="221864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04775" cap="flat" cmpd="sng">
              <a:solidFill>
                <a:srgbClr val="3A7D4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" name="Google Shape;164;p15">
              <a:extLst>
                <a:ext uri="{FF2B5EF4-FFF2-40B4-BE49-F238E27FC236}">
                  <a16:creationId xmlns:a16="http://schemas.microsoft.com/office/drawing/2014/main" id="{BDCC5714-AD2B-2AB9-D3A8-AFD5FDE94C7F}"/>
                </a:ext>
              </a:extLst>
            </p:cNvPr>
            <p:cNvSpPr txBox="1"/>
            <p:nvPr/>
          </p:nvSpPr>
          <p:spPr>
            <a:xfrm>
              <a:off x="0" y="-76200"/>
              <a:ext cx="812800" cy="889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6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67" name="Google Shape;167;p15">
            <a:extLst>
              <a:ext uri="{FF2B5EF4-FFF2-40B4-BE49-F238E27FC236}">
                <a16:creationId xmlns:a16="http://schemas.microsoft.com/office/drawing/2014/main" id="{5D8B429C-B574-6BDC-47C2-10F4C1EEC30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21274" t="33783" r="21274" b="33786"/>
          <a:stretch/>
        </p:blipFill>
        <p:spPr>
          <a:xfrm>
            <a:off x="-1901950" y="8309463"/>
            <a:ext cx="10506902" cy="3336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1" name="Google Shape;181;p15">
            <a:extLst>
              <a:ext uri="{FF2B5EF4-FFF2-40B4-BE49-F238E27FC236}">
                <a16:creationId xmlns:a16="http://schemas.microsoft.com/office/drawing/2014/main" id="{EAF46202-7F04-4627-FFB4-8125E87BC851}"/>
              </a:ext>
            </a:extLst>
          </p:cNvPr>
          <p:cNvGrpSpPr/>
          <p:nvPr/>
        </p:nvGrpSpPr>
        <p:grpSpPr>
          <a:xfrm>
            <a:off x="308966" y="881716"/>
            <a:ext cx="7321725" cy="6880972"/>
            <a:chOff x="-2144809" y="-980217"/>
            <a:chExt cx="9762300" cy="9174630"/>
          </a:xfrm>
        </p:grpSpPr>
        <p:sp>
          <p:nvSpPr>
            <p:cNvPr id="182" name="Google Shape;182;p15">
              <a:extLst>
                <a:ext uri="{FF2B5EF4-FFF2-40B4-BE49-F238E27FC236}">
                  <a16:creationId xmlns:a16="http://schemas.microsoft.com/office/drawing/2014/main" id="{8DE91327-5C61-88C3-D573-B96A957F9FAE}"/>
                </a:ext>
              </a:extLst>
            </p:cNvPr>
            <p:cNvSpPr txBox="1"/>
            <p:nvPr/>
          </p:nvSpPr>
          <p:spPr>
            <a:xfrm>
              <a:off x="-1801881" y="807775"/>
              <a:ext cx="8566097" cy="73866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>
                <a:lnSpc>
                  <a:spcPct val="200000"/>
                </a:lnSpc>
              </a:pPr>
              <a:r>
                <a:rPr lang="en-US" sz="1800" b="1" dirty="0">
                  <a:solidFill>
                    <a:srgbClr val="3A7D4D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📌  Most precipitation data is close to zero for all cities → Limited variation.</a:t>
              </a:r>
            </a:p>
            <a:p>
              <a:pPr lvl="0">
                <a:lnSpc>
                  <a:spcPct val="200000"/>
                </a:lnSpc>
              </a:pPr>
              <a:r>
                <a:rPr lang="en-US" sz="1800" b="1" dirty="0">
                  <a:solidFill>
                    <a:srgbClr val="3A7D4D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📌  AQHI shows almost no change when precipitation increases.</a:t>
              </a:r>
            </a:p>
            <a:p>
              <a:pPr lvl="0">
                <a:lnSpc>
                  <a:spcPct val="200000"/>
                </a:lnSpc>
              </a:pPr>
              <a:r>
                <a:rPr lang="en-US" sz="1800" b="1" dirty="0">
                  <a:solidFill>
                    <a:srgbClr val="3A7D4D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📌  Ottawa and Toronto show a nearly flat trend line (almost no effect).</a:t>
              </a:r>
            </a:p>
            <a:p>
              <a:pPr lvl="0">
                <a:lnSpc>
                  <a:spcPct val="200000"/>
                </a:lnSpc>
              </a:pPr>
              <a:r>
                <a:rPr lang="en-US" sz="1800" b="1" dirty="0">
                  <a:solidFill>
                    <a:srgbClr val="3A7D4D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📌  Vancouver &amp; Victoria show a slight increase in AQHI with higher rainfall —but the effect is weak.</a:t>
              </a:r>
            </a:p>
            <a:p>
              <a:pPr lvl="0">
                <a:lnSpc>
                  <a:spcPct val="200000"/>
                </a:lnSpc>
              </a:pPr>
              <a:r>
                <a:rPr lang="en-US" sz="1800" b="1" dirty="0">
                  <a:solidFill>
                    <a:srgbClr val="3A7D4D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📌  Calgary has no precipitation data, so no trend can be observed for that city.</a:t>
              </a:r>
              <a:endParaRPr sz="1800" dirty="0"/>
            </a:p>
          </p:txBody>
        </p:sp>
        <p:sp>
          <p:nvSpPr>
            <p:cNvPr id="183" name="Google Shape;183;p15">
              <a:extLst>
                <a:ext uri="{FF2B5EF4-FFF2-40B4-BE49-F238E27FC236}">
                  <a16:creationId xmlns:a16="http://schemas.microsoft.com/office/drawing/2014/main" id="{8AF92F14-5397-9348-1DD5-A41A5181071C}"/>
                </a:ext>
              </a:extLst>
            </p:cNvPr>
            <p:cNvSpPr txBox="1"/>
            <p:nvPr/>
          </p:nvSpPr>
          <p:spPr>
            <a:xfrm>
              <a:off x="-2144809" y="-980217"/>
              <a:ext cx="9762300" cy="6565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 algn="ctr"/>
              <a:r>
                <a:rPr lang="en-US" sz="3200" b="1" dirty="0">
                  <a:solidFill>
                    <a:srgbClr val="3A7D4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Sriracha"/>
                </a:rPr>
                <a:t>AQHI Response to Rainfall Amounts</a:t>
              </a:r>
              <a:endParaRPr sz="3200" dirty="0"/>
            </a:p>
          </p:txBody>
        </p:sp>
      </p:grpSp>
      <p:pic>
        <p:nvPicPr>
          <p:cNvPr id="3" name="Picture 2" descr="A graph with colored lines&#10;&#10;AI-generated content may be incorrect.">
            <a:extLst>
              <a:ext uri="{FF2B5EF4-FFF2-40B4-BE49-F238E27FC236}">
                <a16:creationId xmlns:a16="http://schemas.microsoft.com/office/drawing/2014/main" id="{07DEB145-A75D-CF03-8D95-5ED349D309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1744" y="1722279"/>
            <a:ext cx="9805988" cy="5486411"/>
          </a:xfrm>
          <a:prstGeom prst="rect">
            <a:avLst/>
          </a:prstGeom>
        </p:spPr>
      </p:pic>
      <p:pic>
        <p:nvPicPr>
          <p:cNvPr id="2" name="Google Shape;750;p34">
            <a:extLst>
              <a:ext uri="{FF2B5EF4-FFF2-40B4-BE49-F238E27FC236}">
                <a16:creationId xmlns:a16="http://schemas.microsoft.com/office/drawing/2014/main" id="{25C4A5B0-04BD-F5F5-26C7-1D4315269396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264581" y="7663432"/>
            <a:ext cx="2234093" cy="185714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284621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DB898"/>
        </a:solidFill>
        <a:effectLst/>
      </p:bgPr>
    </p:bg>
    <p:spTree>
      <p:nvGrpSpPr>
        <p:cNvPr id="1" name="Shape 158">
          <a:extLst>
            <a:ext uri="{FF2B5EF4-FFF2-40B4-BE49-F238E27FC236}">
              <a16:creationId xmlns:a16="http://schemas.microsoft.com/office/drawing/2014/main" id="{5E60463A-33CF-BFF4-244B-D1E7CF8129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9" name="Google Shape;159;p15">
            <a:extLst>
              <a:ext uri="{FF2B5EF4-FFF2-40B4-BE49-F238E27FC236}">
                <a16:creationId xmlns:a16="http://schemas.microsoft.com/office/drawing/2014/main" id="{D8AE75FB-3745-93F5-64D5-5E9F9D5CF828}"/>
              </a:ext>
            </a:extLst>
          </p:cNvPr>
          <p:cNvGrpSpPr/>
          <p:nvPr/>
        </p:nvGrpSpPr>
        <p:grpSpPr>
          <a:xfrm>
            <a:off x="421501" y="284297"/>
            <a:ext cx="17444998" cy="9573746"/>
            <a:chOff x="0" y="-38100"/>
            <a:chExt cx="4594567" cy="2521480"/>
          </a:xfrm>
        </p:grpSpPr>
        <p:sp>
          <p:nvSpPr>
            <p:cNvPr id="160" name="Google Shape;160;p15">
              <a:extLst>
                <a:ext uri="{FF2B5EF4-FFF2-40B4-BE49-F238E27FC236}">
                  <a16:creationId xmlns:a16="http://schemas.microsoft.com/office/drawing/2014/main" id="{F874D13C-349C-DD9C-7615-830E7EFB86E1}"/>
                </a:ext>
              </a:extLst>
            </p:cNvPr>
            <p:cNvSpPr/>
            <p:nvPr/>
          </p:nvSpPr>
          <p:spPr>
            <a:xfrm>
              <a:off x="0" y="0"/>
              <a:ext cx="4594567" cy="2483380"/>
            </a:xfrm>
            <a:custGeom>
              <a:avLst/>
              <a:gdLst/>
              <a:ahLst/>
              <a:cxnLst/>
              <a:rect l="l" t="t" r="r" b="b"/>
              <a:pathLst>
                <a:path w="4594567" h="2483380" extrusionOk="0">
                  <a:moveTo>
                    <a:pt x="4515149" y="0"/>
                  </a:moveTo>
                  <a:lnTo>
                    <a:pt x="79418" y="0"/>
                  </a:lnTo>
                  <a:cubicBezTo>
                    <a:pt x="79418" y="43699"/>
                    <a:pt x="44079" y="79418"/>
                    <a:pt x="0" y="79418"/>
                  </a:cubicBezTo>
                  <a:lnTo>
                    <a:pt x="0" y="2403962"/>
                  </a:lnTo>
                  <a:cubicBezTo>
                    <a:pt x="43699" y="2403962"/>
                    <a:pt x="79418" y="2439301"/>
                    <a:pt x="79418" y="2483380"/>
                  </a:cubicBezTo>
                  <a:lnTo>
                    <a:pt x="4515149" y="2483380"/>
                  </a:lnTo>
                  <a:cubicBezTo>
                    <a:pt x="4515149" y="2439681"/>
                    <a:pt x="4550488" y="2403962"/>
                    <a:pt x="4594567" y="2403962"/>
                  </a:cubicBezTo>
                  <a:lnTo>
                    <a:pt x="4594567" y="79418"/>
                  </a:lnTo>
                  <a:cubicBezTo>
                    <a:pt x="4550868" y="79418"/>
                    <a:pt x="4515149" y="44079"/>
                    <a:pt x="4515149" y="0"/>
                  </a:cubicBezTo>
                  <a:close/>
                </a:path>
              </a:pathLst>
            </a:custGeom>
            <a:solidFill>
              <a:srgbClr val="EBEAE6"/>
            </a:solidFill>
            <a:ln w="104775" cap="flat" cmpd="sng">
              <a:solidFill>
                <a:srgbClr val="3A7D4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15">
              <a:extLst>
                <a:ext uri="{FF2B5EF4-FFF2-40B4-BE49-F238E27FC236}">
                  <a16:creationId xmlns:a16="http://schemas.microsoft.com/office/drawing/2014/main" id="{7CD8BB09-F372-F0EE-3B3D-4C33B485650B}"/>
                </a:ext>
              </a:extLst>
            </p:cNvPr>
            <p:cNvSpPr txBox="1"/>
            <p:nvPr/>
          </p:nvSpPr>
          <p:spPr>
            <a:xfrm>
              <a:off x="38100" y="-38100"/>
              <a:ext cx="736600" cy="81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6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2" name="Google Shape;162;p15">
            <a:extLst>
              <a:ext uri="{FF2B5EF4-FFF2-40B4-BE49-F238E27FC236}">
                <a16:creationId xmlns:a16="http://schemas.microsoft.com/office/drawing/2014/main" id="{44399F4C-492A-4892-8648-888A3C35A822}"/>
              </a:ext>
            </a:extLst>
          </p:cNvPr>
          <p:cNvGrpSpPr/>
          <p:nvPr/>
        </p:nvGrpSpPr>
        <p:grpSpPr>
          <a:xfrm>
            <a:off x="7161744" y="1504228"/>
            <a:ext cx="9805988" cy="5745084"/>
            <a:chOff x="0" y="-76200"/>
            <a:chExt cx="1950819" cy="2294841"/>
          </a:xfrm>
        </p:grpSpPr>
        <p:sp>
          <p:nvSpPr>
            <p:cNvPr id="163" name="Google Shape;163;p15">
              <a:extLst>
                <a:ext uri="{FF2B5EF4-FFF2-40B4-BE49-F238E27FC236}">
                  <a16:creationId xmlns:a16="http://schemas.microsoft.com/office/drawing/2014/main" id="{D15CECF1-0F3D-C64F-AA44-6CD6C452BCC0}"/>
                </a:ext>
              </a:extLst>
            </p:cNvPr>
            <p:cNvSpPr/>
            <p:nvPr/>
          </p:nvSpPr>
          <p:spPr>
            <a:xfrm>
              <a:off x="0" y="0"/>
              <a:ext cx="1950819" cy="2218641"/>
            </a:xfrm>
            <a:custGeom>
              <a:avLst/>
              <a:gdLst/>
              <a:ahLst/>
              <a:cxnLst/>
              <a:rect l="l" t="t" r="r" b="b"/>
              <a:pathLst>
                <a:path w="1950819" h="2218641" extrusionOk="0">
                  <a:moveTo>
                    <a:pt x="0" y="0"/>
                  </a:moveTo>
                  <a:lnTo>
                    <a:pt x="1950819" y="0"/>
                  </a:lnTo>
                  <a:lnTo>
                    <a:pt x="1950819" y="2218641"/>
                  </a:lnTo>
                  <a:lnTo>
                    <a:pt x="0" y="221864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04775" cap="flat" cmpd="sng">
              <a:solidFill>
                <a:srgbClr val="3A7D4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" name="Google Shape;164;p15">
              <a:extLst>
                <a:ext uri="{FF2B5EF4-FFF2-40B4-BE49-F238E27FC236}">
                  <a16:creationId xmlns:a16="http://schemas.microsoft.com/office/drawing/2014/main" id="{B7072A14-C6D8-6A6B-275A-3D0C16B4249A}"/>
                </a:ext>
              </a:extLst>
            </p:cNvPr>
            <p:cNvSpPr txBox="1"/>
            <p:nvPr/>
          </p:nvSpPr>
          <p:spPr>
            <a:xfrm>
              <a:off x="0" y="-76200"/>
              <a:ext cx="812800" cy="889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6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66" name="Google Shape;166;p15">
            <a:extLst>
              <a:ext uri="{FF2B5EF4-FFF2-40B4-BE49-F238E27FC236}">
                <a16:creationId xmlns:a16="http://schemas.microsoft.com/office/drawing/2014/main" id="{07A3F509-123C-0AF6-9D95-484E39FC44C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558527" y="7508091"/>
            <a:ext cx="2132181" cy="27789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5">
            <a:extLst>
              <a:ext uri="{FF2B5EF4-FFF2-40B4-BE49-F238E27FC236}">
                <a16:creationId xmlns:a16="http://schemas.microsoft.com/office/drawing/2014/main" id="{919A432D-2E96-0D8B-08B7-BC90856D2E3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21274" t="33783" r="21274" b="33786"/>
          <a:stretch/>
        </p:blipFill>
        <p:spPr>
          <a:xfrm>
            <a:off x="-1901950" y="8309463"/>
            <a:ext cx="10506902" cy="3336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1" name="Google Shape;181;p15">
            <a:extLst>
              <a:ext uri="{FF2B5EF4-FFF2-40B4-BE49-F238E27FC236}">
                <a16:creationId xmlns:a16="http://schemas.microsoft.com/office/drawing/2014/main" id="{3D7318B6-1484-F6DB-B30E-BB175BCC843F}"/>
              </a:ext>
            </a:extLst>
          </p:cNvPr>
          <p:cNvGrpSpPr/>
          <p:nvPr/>
        </p:nvGrpSpPr>
        <p:grpSpPr>
          <a:xfrm>
            <a:off x="308966" y="881716"/>
            <a:ext cx="7321725" cy="6880972"/>
            <a:chOff x="-2144809" y="-980217"/>
            <a:chExt cx="9762300" cy="9174630"/>
          </a:xfrm>
        </p:grpSpPr>
        <p:sp>
          <p:nvSpPr>
            <p:cNvPr id="182" name="Google Shape;182;p15">
              <a:extLst>
                <a:ext uri="{FF2B5EF4-FFF2-40B4-BE49-F238E27FC236}">
                  <a16:creationId xmlns:a16="http://schemas.microsoft.com/office/drawing/2014/main" id="{299F6979-DAF5-E403-110C-B4B9A3172432}"/>
                </a:ext>
              </a:extLst>
            </p:cNvPr>
            <p:cNvSpPr txBox="1"/>
            <p:nvPr/>
          </p:nvSpPr>
          <p:spPr>
            <a:xfrm>
              <a:off x="-1801881" y="807775"/>
              <a:ext cx="8566097" cy="73866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>
                <a:lnSpc>
                  <a:spcPct val="200000"/>
                </a:lnSpc>
              </a:pPr>
              <a:r>
                <a:rPr lang="en-US" sz="1800" b="1" dirty="0">
                  <a:solidFill>
                    <a:srgbClr val="3A7D4D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📌  Temperature is the strongest predictor of AQHI→ Highest standardized beta &amp; positive correlation.</a:t>
              </a:r>
            </a:p>
            <a:p>
              <a:pPr lvl="0">
                <a:lnSpc>
                  <a:spcPct val="200000"/>
                </a:lnSpc>
              </a:pPr>
              <a:r>
                <a:rPr lang="en-US" sz="1800" b="1" dirty="0">
                  <a:solidFill>
                    <a:srgbClr val="3A7D4D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📌  Relative humidity has a strong negative relationship with AQHI→ Higher humidity → lower AQHI levels.</a:t>
              </a:r>
            </a:p>
            <a:p>
              <a:pPr lvl="0">
                <a:lnSpc>
                  <a:spcPct val="200000"/>
                </a:lnSpc>
              </a:pPr>
              <a:r>
                <a:rPr lang="en-US" sz="1800" b="1" dirty="0">
                  <a:solidFill>
                    <a:srgbClr val="3A7D4D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📌  Wind speed shows only a weak effect→ Slight positive correlation, small beta value.</a:t>
              </a:r>
            </a:p>
            <a:p>
              <a:pPr lvl="0">
                <a:lnSpc>
                  <a:spcPct val="200000"/>
                </a:lnSpc>
              </a:pPr>
              <a:r>
                <a:rPr lang="en-US" sz="1800" b="1" dirty="0">
                  <a:solidFill>
                    <a:srgbClr val="3A7D4D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📌  Precipitation has almost no influence on AQHI→ Correlation ≈ 0 and effect size near zero.</a:t>
              </a:r>
            </a:p>
            <a:p>
              <a:pPr lvl="0">
                <a:lnSpc>
                  <a:spcPct val="200000"/>
                </a:lnSpc>
              </a:pPr>
              <a:r>
                <a:rPr lang="en-US" sz="1800" b="1" dirty="0">
                  <a:solidFill>
                    <a:srgbClr val="3A7D4D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📌  Results are consistent across the cities, strengthening the overall conclusion.</a:t>
              </a:r>
              <a:endParaRPr sz="1800" dirty="0"/>
            </a:p>
          </p:txBody>
        </p:sp>
        <p:sp>
          <p:nvSpPr>
            <p:cNvPr id="183" name="Google Shape;183;p15">
              <a:extLst>
                <a:ext uri="{FF2B5EF4-FFF2-40B4-BE49-F238E27FC236}">
                  <a16:creationId xmlns:a16="http://schemas.microsoft.com/office/drawing/2014/main" id="{44CF6900-1B59-A78D-D01E-7A7975066189}"/>
                </a:ext>
              </a:extLst>
            </p:cNvPr>
            <p:cNvSpPr txBox="1"/>
            <p:nvPr/>
          </p:nvSpPr>
          <p:spPr>
            <a:xfrm>
              <a:off x="-2144809" y="-980217"/>
              <a:ext cx="9762300" cy="13131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 algn="ctr"/>
              <a:r>
                <a:rPr lang="en-US" sz="3200" b="1" dirty="0">
                  <a:solidFill>
                    <a:srgbClr val="3A7D4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Sriracha"/>
                </a:rPr>
                <a:t>Key Predictors of AQHI: Correlation and Standardized Effects</a:t>
              </a:r>
              <a:endParaRPr sz="3200" dirty="0"/>
            </a:p>
          </p:txBody>
        </p:sp>
      </p:grpSp>
      <p:pic>
        <p:nvPicPr>
          <p:cNvPr id="4" name="Picture 3" descr="A screenshot of a graph&#10;&#10;AI-generated content may be incorrect.">
            <a:extLst>
              <a:ext uri="{FF2B5EF4-FFF2-40B4-BE49-F238E27FC236}">
                <a16:creationId xmlns:a16="http://schemas.microsoft.com/office/drawing/2014/main" id="{F44A311C-7677-C3B5-2B8C-83AE013CEF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2621" y="1757816"/>
            <a:ext cx="9765111" cy="5486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48096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DB898"/>
        </a:solidFill>
        <a:effectLst/>
      </p:bgPr>
    </p:bg>
    <p:spTree>
      <p:nvGrpSpPr>
        <p:cNvPr id="1" name="Shape 401">
          <a:extLst>
            <a:ext uri="{FF2B5EF4-FFF2-40B4-BE49-F238E27FC236}">
              <a16:creationId xmlns:a16="http://schemas.microsoft.com/office/drawing/2014/main" id="{60563296-B700-2BE5-32A9-815D59F29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2" name="Google Shape;402;p24">
            <a:extLst>
              <a:ext uri="{FF2B5EF4-FFF2-40B4-BE49-F238E27FC236}">
                <a16:creationId xmlns:a16="http://schemas.microsoft.com/office/drawing/2014/main" id="{B43FD521-9845-059F-5AE5-26D06D66936B}"/>
              </a:ext>
            </a:extLst>
          </p:cNvPr>
          <p:cNvGrpSpPr/>
          <p:nvPr/>
        </p:nvGrpSpPr>
        <p:grpSpPr>
          <a:xfrm>
            <a:off x="421501" y="284297"/>
            <a:ext cx="17444998" cy="9573746"/>
            <a:chOff x="0" y="-192881"/>
            <a:chExt cx="23259997" cy="12764994"/>
          </a:xfrm>
        </p:grpSpPr>
        <p:grpSp>
          <p:nvGrpSpPr>
            <p:cNvPr id="403" name="Google Shape;403;p24">
              <a:extLst>
                <a:ext uri="{FF2B5EF4-FFF2-40B4-BE49-F238E27FC236}">
                  <a16:creationId xmlns:a16="http://schemas.microsoft.com/office/drawing/2014/main" id="{30D5FBBC-A239-E629-F4A9-B932A64D22FE}"/>
                </a:ext>
              </a:extLst>
            </p:cNvPr>
            <p:cNvGrpSpPr/>
            <p:nvPr/>
          </p:nvGrpSpPr>
          <p:grpSpPr>
            <a:xfrm>
              <a:off x="0" y="-192881"/>
              <a:ext cx="23259997" cy="12764994"/>
              <a:chOff x="0" y="-38100"/>
              <a:chExt cx="4594567" cy="2521480"/>
            </a:xfrm>
          </p:grpSpPr>
          <p:sp>
            <p:nvSpPr>
              <p:cNvPr id="404" name="Google Shape;404;p24">
                <a:extLst>
                  <a:ext uri="{FF2B5EF4-FFF2-40B4-BE49-F238E27FC236}">
                    <a16:creationId xmlns:a16="http://schemas.microsoft.com/office/drawing/2014/main" id="{F0254C39-0734-8E2B-3CBF-536874164101}"/>
                  </a:ext>
                </a:extLst>
              </p:cNvPr>
              <p:cNvSpPr/>
              <p:nvPr/>
            </p:nvSpPr>
            <p:spPr>
              <a:xfrm>
                <a:off x="0" y="0"/>
                <a:ext cx="4594567" cy="2483380"/>
              </a:xfrm>
              <a:custGeom>
                <a:avLst/>
                <a:gdLst/>
                <a:ahLst/>
                <a:cxnLst/>
                <a:rect l="l" t="t" r="r" b="b"/>
                <a:pathLst>
                  <a:path w="4594567" h="2483380" extrusionOk="0">
                    <a:moveTo>
                      <a:pt x="4515149" y="0"/>
                    </a:moveTo>
                    <a:lnTo>
                      <a:pt x="79418" y="0"/>
                    </a:lnTo>
                    <a:cubicBezTo>
                      <a:pt x="79418" y="43699"/>
                      <a:pt x="44079" y="79418"/>
                      <a:pt x="0" y="79418"/>
                    </a:cubicBezTo>
                    <a:lnTo>
                      <a:pt x="0" y="2403962"/>
                    </a:lnTo>
                    <a:cubicBezTo>
                      <a:pt x="43699" y="2403962"/>
                      <a:pt x="79418" y="2439301"/>
                      <a:pt x="79418" y="2483380"/>
                    </a:cubicBezTo>
                    <a:lnTo>
                      <a:pt x="4515149" y="2483380"/>
                    </a:lnTo>
                    <a:cubicBezTo>
                      <a:pt x="4515149" y="2439681"/>
                      <a:pt x="4550488" y="2403962"/>
                      <a:pt x="4594567" y="2403962"/>
                    </a:cubicBezTo>
                    <a:lnTo>
                      <a:pt x="4594567" y="79418"/>
                    </a:lnTo>
                    <a:cubicBezTo>
                      <a:pt x="4550868" y="79418"/>
                      <a:pt x="4515149" y="44079"/>
                      <a:pt x="4515149" y="0"/>
                    </a:cubicBezTo>
                    <a:close/>
                  </a:path>
                </a:pathLst>
              </a:custGeom>
              <a:solidFill>
                <a:srgbClr val="EBEAE6"/>
              </a:solidFill>
              <a:ln w="104775" cap="flat" cmpd="sng">
                <a:solidFill>
                  <a:srgbClr val="3A7D4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Google Shape;405;p24">
                <a:extLst>
                  <a:ext uri="{FF2B5EF4-FFF2-40B4-BE49-F238E27FC236}">
                    <a16:creationId xmlns:a16="http://schemas.microsoft.com/office/drawing/2014/main" id="{79140DD9-7B19-423B-E697-1577FE76F236}"/>
                  </a:ext>
                </a:extLst>
              </p:cNvPr>
              <p:cNvSpPr txBox="1"/>
              <p:nvPr/>
            </p:nvSpPr>
            <p:spPr>
              <a:xfrm>
                <a:off x="38100" y="-38100"/>
                <a:ext cx="736600" cy="81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96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06" name="Google Shape;406;p24">
              <a:extLst>
                <a:ext uri="{FF2B5EF4-FFF2-40B4-BE49-F238E27FC236}">
                  <a16:creationId xmlns:a16="http://schemas.microsoft.com/office/drawing/2014/main" id="{C0640041-6B5E-238C-4282-3C1AD074AB04}"/>
                </a:ext>
              </a:extLst>
            </p:cNvPr>
            <p:cNvGrpSpPr/>
            <p:nvPr/>
          </p:nvGrpSpPr>
          <p:grpSpPr>
            <a:xfrm>
              <a:off x="0" y="2985336"/>
              <a:ext cx="23259997" cy="7374390"/>
              <a:chOff x="0" y="-76200"/>
              <a:chExt cx="4594567" cy="1456670"/>
            </a:xfrm>
          </p:grpSpPr>
          <p:sp>
            <p:nvSpPr>
              <p:cNvPr id="407" name="Google Shape;407;p24">
                <a:extLst>
                  <a:ext uri="{FF2B5EF4-FFF2-40B4-BE49-F238E27FC236}">
                    <a16:creationId xmlns:a16="http://schemas.microsoft.com/office/drawing/2014/main" id="{D70C67E1-A402-3D30-A253-66E775EF8F67}"/>
                  </a:ext>
                </a:extLst>
              </p:cNvPr>
              <p:cNvSpPr/>
              <p:nvPr/>
            </p:nvSpPr>
            <p:spPr>
              <a:xfrm>
                <a:off x="0" y="0"/>
                <a:ext cx="4594567" cy="1380470"/>
              </a:xfrm>
              <a:custGeom>
                <a:avLst/>
                <a:gdLst/>
                <a:ahLst/>
                <a:cxnLst/>
                <a:rect l="l" t="t" r="r" b="b"/>
                <a:pathLst>
                  <a:path w="4594567" h="1380470" extrusionOk="0">
                    <a:moveTo>
                      <a:pt x="0" y="0"/>
                    </a:moveTo>
                    <a:lnTo>
                      <a:pt x="4594567" y="0"/>
                    </a:lnTo>
                    <a:lnTo>
                      <a:pt x="4594567" y="1380470"/>
                    </a:lnTo>
                    <a:lnTo>
                      <a:pt x="0" y="138047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04775" cap="flat" cmpd="sng">
                <a:solidFill>
                  <a:srgbClr val="3A7D4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8" name="Google Shape;408;p24">
                <a:extLst>
                  <a:ext uri="{FF2B5EF4-FFF2-40B4-BE49-F238E27FC236}">
                    <a16:creationId xmlns:a16="http://schemas.microsoft.com/office/drawing/2014/main" id="{02C06C6E-BBCB-0FF6-854E-459C8CC43881}"/>
                  </a:ext>
                </a:extLst>
              </p:cNvPr>
              <p:cNvSpPr txBox="1"/>
              <p:nvPr/>
            </p:nvSpPr>
            <p:spPr>
              <a:xfrm>
                <a:off x="0" y="-76200"/>
                <a:ext cx="812800" cy="889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96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11" name="Google Shape;411;p24">
            <a:extLst>
              <a:ext uri="{FF2B5EF4-FFF2-40B4-BE49-F238E27FC236}">
                <a16:creationId xmlns:a16="http://schemas.microsoft.com/office/drawing/2014/main" id="{1A9C025C-3AB1-0E9F-48B0-623EB308D604}"/>
              </a:ext>
            </a:extLst>
          </p:cNvPr>
          <p:cNvSpPr txBox="1"/>
          <p:nvPr/>
        </p:nvSpPr>
        <p:spPr>
          <a:xfrm>
            <a:off x="2315386" y="1276144"/>
            <a:ext cx="13657228" cy="1163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22003"/>
              </a:lnSpc>
            </a:pPr>
            <a:r>
              <a:rPr lang="en-US" sz="6199" b="1" dirty="0">
                <a:solidFill>
                  <a:srgbClr val="3A7D4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Sriracha"/>
              </a:rPr>
              <a:t>Research Question 2</a:t>
            </a:r>
            <a:endParaRPr lang="en-US" sz="6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E154EC-CEE6-6078-D406-D2F45015F4FC}"/>
              </a:ext>
            </a:extLst>
          </p:cNvPr>
          <p:cNvSpPr txBox="1"/>
          <p:nvPr/>
        </p:nvSpPr>
        <p:spPr>
          <a:xfrm>
            <a:off x="566162" y="3370398"/>
            <a:ext cx="17426563" cy="1537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22003"/>
              </a:lnSpc>
            </a:pPr>
            <a:r>
              <a:rPr lang="en-US" sz="4000" b="1" dirty="0">
                <a:solidFill>
                  <a:srgbClr val="3A7D4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Sriracha"/>
              </a:rPr>
              <a:t>Primary Question: Do inland cities experience higher AQHI levels than coastal cities?</a:t>
            </a:r>
            <a:endParaRPr lang="en-US" sz="4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860CD7-664B-852D-F889-51B3EBFA4FA9}"/>
              </a:ext>
            </a:extLst>
          </p:cNvPr>
          <p:cNvSpPr txBox="1"/>
          <p:nvPr/>
        </p:nvSpPr>
        <p:spPr>
          <a:xfrm>
            <a:off x="560775" y="5425676"/>
            <a:ext cx="16323449" cy="228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22003"/>
              </a:lnSpc>
            </a:pPr>
            <a:r>
              <a:rPr lang="en-US" sz="4000" b="1" dirty="0">
                <a:solidFill>
                  <a:srgbClr val="3A7D4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Sriracha"/>
              </a:rPr>
              <a:t>Follow up Question: Which city have the highest and lowest AQHI levels overall and how do these differences support the inland- coastal comparison ?</a:t>
            </a:r>
            <a:endParaRPr lang="en-US" sz="4000" dirty="0"/>
          </a:p>
        </p:txBody>
      </p:sp>
      <p:pic>
        <p:nvPicPr>
          <p:cNvPr id="2" name="Google Shape;753;p34">
            <a:extLst>
              <a:ext uri="{FF2B5EF4-FFF2-40B4-BE49-F238E27FC236}">
                <a16:creationId xmlns:a16="http://schemas.microsoft.com/office/drawing/2014/main" id="{62DAEBDF-25B5-7687-ED4D-63A267EC449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602495" y="473671"/>
            <a:ext cx="1003046" cy="824321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777;p34">
            <a:extLst>
              <a:ext uri="{FF2B5EF4-FFF2-40B4-BE49-F238E27FC236}">
                <a16:creationId xmlns:a16="http://schemas.microsoft.com/office/drawing/2014/main" id="{C5F64D42-D080-34A1-AA5F-F30D3D7FD01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388645" y="8332668"/>
            <a:ext cx="5157267" cy="1525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740;p34">
            <a:extLst>
              <a:ext uri="{FF2B5EF4-FFF2-40B4-BE49-F238E27FC236}">
                <a16:creationId xmlns:a16="http://schemas.microsoft.com/office/drawing/2014/main" id="{565F713F-FC53-EC8D-3A9A-2E8D07634284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82459" y="544584"/>
            <a:ext cx="2080890" cy="90424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927710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DB898"/>
        </a:solidFill>
        <a:effectLst/>
      </p:bgPr>
    </p:bg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2" name="Google Shape;422;p25"/>
          <p:cNvGrpSpPr/>
          <p:nvPr/>
        </p:nvGrpSpPr>
        <p:grpSpPr>
          <a:xfrm>
            <a:off x="12517201" y="284297"/>
            <a:ext cx="5349298" cy="9573746"/>
            <a:chOff x="0" y="-38100"/>
            <a:chExt cx="1408869" cy="2521480"/>
          </a:xfrm>
        </p:grpSpPr>
        <p:sp>
          <p:nvSpPr>
            <p:cNvPr id="423" name="Google Shape;423;p25"/>
            <p:cNvSpPr/>
            <p:nvPr/>
          </p:nvSpPr>
          <p:spPr>
            <a:xfrm>
              <a:off x="0" y="0"/>
              <a:ext cx="1408869" cy="2483380"/>
            </a:xfrm>
            <a:custGeom>
              <a:avLst/>
              <a:gdLst/>
              <a:ahLst/>
              <a:cxnLst/>
              <a:rect l="l" t="t" r="r" b="b"/>
              <a:pathLst>
                <a:path w="1408869" h="2483380" extrusionOk="0">
                  <a:moveTo>
                    <a:pt x="1329450" y="0"/>
                  </a:moveTo>
                  <a:lnTo>
                    <a:pt x="79418" y="0"/>
                  </a:lnTo>
                  <a:cubicBezTo>
                    <a:pt x="79418" y="43699"/>
                    <a:pt x="44079" y="79418"/>
                    <a:pt x="0" y="79418"/>
                  </a:cubicBezTo>
                  <a:lnTo>
                    <a:pt x="0" y="2403962"/>
                  </a:lnTo>
                  <a:cubicBezTo>
                    <a:pt x="43699" y="2403962"/>
                    <a:pt x="79418" y="2439301"/>
                    <a:pt x="79418" y="2483380"/>
                  </a:cubicBezTo>
                  <a:lnTo>
                    <a:pt x="1329450" y="2483380"/>
                  </a:lnTo>
                  <a:cubicBezTo>
                    <a:pt x="1329450" y="2439681"/>
                    <a:pt x="1364789" y="2403962"/>
                    <a:pt x="1408869" y="2403962"/>
                  </a:cubicBezTo>
                  <a:lnTo>
                    <a:pt x="1408869" y="79418"/>
                  </a:lnTo>
                  <a:cubicBezTo>
                    <a:pt x="1365169" y="79418"/>
                    <a:pt x="1329450" y="44079"/>
                    <a:pt x="1329450" y="0"/>
                  </a:cubicBezTo>
                  <a:close/>
                </a:path>
              </a:pathLst>
            </a:custGeom>
            <a:solidFill>
              <a:srgbClr val="EBEAE6"/>
            </a:solidFill>
            <a:ln w="104775" cap="flat" cmpd="sng">
              <a:solidFill>
                <a:srgbClr val="3A7D4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25"/>
            <p:cNvSpPr txBox="1"/>
            <p:nvPr/>
          </p:nvSpPr>
          <p:spPr>
            <a:xfrm>
              <a:off x="38100" y="-38100"/>
              <a:ext cx="736600" cy="81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6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26" name="Google Shape;426;p25"/>
          <p:cNvGrpSpPr/>
          <p:nvPr/>
        </p:nvGrpSpPr>
        <p:grpSpPr>
          <a:xfrm>
            <a:off x="13023052" y="1286718"/>
            <a:ext cx="4422740" cy="3498763"/>
            <a:chOff x="0" y="-4025787"/>
            <a:chExt cx="5896988" cy="4665018"/>
          </a:xfrm>
        </p:grpSpPr>
        <p:sp>
          <p:nvSpPr>
            <p:cNvPr id="427" name="Google Shape;427;p25"/>
            <p:cNvSpPr txBox="1"/>
            <p:nvPr/>
          </p:nvSpPr>
          <p:spPr>
            <a:xfrm>
              <a:off x="113588" y="-4025787"/>
              <a:ext cx="5783400" cy="13131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 algn="ctr"/>
              <a:r>
                <a:rPr lang="en-US" sz="3200" b="1" dirty="0">
                  <a:solidFill>
                    <a:srgbClr val="3A7D4D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Hypothesis test – Coastal vs Inland AQHI</a:t>
              </a:r>
              <a:endParaRPr sz="3200" dirty="0"/>
            </a:p>
          </p:txBody>
        </p:sp>
        <p:sp>
          <p:nvSpPr>
            <p:cNvPr id="428" name="Google Shape;428;p25"/>
            <p:cNvSpPr txBox="1"/>
            <p:nvPr/>
          </p:nvSpPr>
          <p:spPr>
            <a:xfrm>
              <a:off x="0" y="438150"/>
              <a:ext cx="5783400" cy="20108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429" name="Google Shape;429;p25"/>
          <p:cNvGrpSpPr/>
          <p:nvPr/>
        </p:nvGrpSpPr>
        <p:grpSpPr>
          <a:xfrm>
            <a:off x="14977769" y="-776971"/>
            <a:ext cx="3086099" cy="3375417"/>
            <a:chOff x="0" y="-76200"/>
            <a:chExt cx="812800" cy="889000"/>
          </a:xfrm>
        </p:grpSpPr>
        <p:sp>
          <p:nvSpPr>
            <p:cNvPr id="430" name="Google Shape;430;p25"/>
            <p:cNvSpPr/>
            <p:nvPr/>
          </p:nvSpPr>
          <p:spPr>
            <a:xfrm>
              <a:off x="0" y="0"/>
              <a:ext cx="112767" cy="391124"/>
            </a:xfrm>
            <a:custGeom>
              <a:avLst/>
              <a:gdLst/>
              <a:ahLst/>
              <a:cxnLst/>
              <a:rect l="l" t="t" r="r" b="b"/>
              <a:pathLst>
                <a:path w="112767" h="391124" extrusionOk="0">
                  <a:moveTo>
                    <a:pt x="56383" y="0"/>
                  </a:moveTo>
                  <a:lnTo>
                    <a:pt x="56383" y="0"/>
                  </a:lnTo>
                  <a:cubicBezTo>
                    <a:pt x="71337" y="0"/>
                    <a:pt x="85679" y="5940"/>
                    <a:pt x="96253" y="16514"/>
                  </a:cubicBezTo>
                  <a:cubicBezTo>
                    <a:pt x="106826" y="27088"/>
                    <a:pt x="112767" y="41430"/>
                    <a:pt x="112767" y="56383"/>
                  </a:cubicBezTo>
                  <a:lnTo>
                    <a:pt x="112767" y="334740"/>
                  </a:lnTo>
                  <a:cubicBezTo>
                    <a:pt x="112767" y="365880"/>
                    <a:pt x="87523" y="391124"/>
                    <a:pt x="56383" y="391124"/>
                  </a:cubicBezTo>
                  <a:lnTo>
                    <a:pt x="56383" y="391124"/>
                  </a:lnTo>
                  <a:cubicBezTo>
                    <a:pt x="41430" y="391124"/>
                    <a:pt x="27088" y="385183"/>
                    <a:pt x="16514" y="374609"/>
                  </a:cubicBezTo>
                  <a:cubicBezTo>
                    <a:pt x="5940" y="364035"/>
                    <a:pt x="0" y="349694"/>
                    <a:pt x="0" y="334740"/>
                  </a:cubicBezTo>
                  <a:lnTo>
                    <a:pt x="0" y="56383"/>
                  </a:lnTo>
                  <a:cubicBezTo>
                    <a:pt x="0" y="25244"/>
                    <a:pt x="25244" y="0"/>
                    <a:pt x="56383" y="0"/>
                  </a:cubicBezTo>
                  <a:close/>
                </a:path>
              </a:pathLst>
            </a:custGeom>
            <a:solidFill>
              <a:srgbClr val="EBEAE6"/>
            </a:solidFill>
            <a:ln w="104775" cap="flat" cmpd="sng">
              <a:solidFill>
                <a:srgbClr val="3A7D4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25"/>
            <p:cNvSpPr txBox="1"/>
            <p:nvPr/>
          </p:nvSpPr>
          <p:spPr>
            <a:xfrm>
              <a:off x="0" y="-76200"/>
              <a:ext cx="812800" cy="889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6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7" name="Google Shape;417;p25"/>
          <p:cNvGrpSpPr/>
          <p:nvPr/>
        </p:nvGrpSpPr>
        <p:grpSpPr>
          <a:xfrm>
            <a:off x="476312" y="1243825"/>
            <a:ext cx="11708767" cy="7566166"/>
            <a:chOff x="0" y="-38100"/>
            <a:chExt cx="3083790" cy="1992735"/>
          </a:xfrm>
        </p:grpSpPr>
        <p:sp>
          <p:nvSpPr>
            <p:cNvPr id="418" name="Google Shape;418;p25"/>
            <p:cNvSpPr/>
            <p:nvPr/>
          </p:nvSpPr>
          <p:spPr>
            <a:xfrm>
              <a:off x="0" y="0"/>
              <a:ext cx="3083790" cy="1954635"/>
            </a:xfrm>
            <a:custGeom>
              <a:avLst/>
              <a:gdLst/>
              <a:ahLst/>
              <a:cxnLst/>
              <a:rect l="l" t="t" r="r" b="b"/>
              <a:pathLst>
                <a:path w="3083790" h="1954635" extrusionOk="0">
                  <a:moveTo>
                    <a:pt x="3004372" y="0"/>
                  </a:moveTo>
                  <a:lnTo>
                    <a:pt x="79418" y="0"/>
                  </a:lnTo>
                  <a:cubicBezTo>
                    <a:pt x="79418" y="43699"/>
                    <a:pt x="44079" y="79418"/>
                    <a:pt x="0" y="79418"/>
                  </a:cubicBezTo>
                  <a:lnTo>
                    <a:pt x="0" y="1875217"/>
                  </a:lnTo>
                  <a:cubicBezTo>
                    <a:pt x="43699" y="1875217"/>
                    <a:pt x="79418" y="1910556"/>
                    <a:pt x="79418" y="1954635"/>
                  </a:cubicBezTo>
                  <a:lnTo>
                    <a:pt x="3004372" y="1954635"/>
                  </a:lnTo>
                  <a:cubicBezTo>
                    <a:pt x="3004372" y="1910935"/>
                    <a:pt x="3039711" y="1875217"/>
                    <a:pt x="3083790" y="1875217"/>
                  </a:cubicBezTo>
                  <a:lnTo>
                    <a:pt x="3083790" y="79418"/>
                  </a:lnTo>
                  <a:cubicBezTo>
                    <a:pt x="3040091" y="79418"/>
                    <a:pt x="3004372" y="44079"/>
                    <a:pt x="3004372" y="0"/>
                  </a:cubicBezTo>
                  <a:close/>
                </a:path>
              </a:pathLst>
            </a:custGeom>
            <a:solidFill>
              <a:srgbClr val="EBEAE6"/>
            </a:solidFill>
            <a:ln w="104775" cap="flat" cmpd="sng">
              <a:solidFill>
                <a:srgbClr val="3A7D4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25"/>
            <p:cNvSpPr txBox="1"/>
            <p:nvPr/>
          </p:nvSpPr>
          <p:spPr>
            <a:xfrm>
              <a:off x="38100" y="-38100"/>
              <a:ext cx="736600" cy="81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6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20" name="Google Shape;420;p25"/>
          <p:cNvSpPr/>
          <p:nvPr/>
        </p:nvSpPr>
        <p:spPr>
          <a:xfrm>
            <a:off x="1353226" y="2271603"/>
            <a:ext cx="9727208" cy="5486412"/>
          </a:xfrm>
          <a:custGeom>
            <a:avLst/>
            <a:gdLst/>
            <a:ahLst/>
            <a:cxnLst/>
            <a:rect l="l" t="t" r="r" b="b"/>
            <a:pathLst>
              <a:path w="2586616" h="1476985" extrusionOk="0">
                <a:moveTo>
                  <a:pt x="0" y="0"/>
                </a:moveTo>
                <a:lnTo>
                  <a:pt x="2586616" y="0"/>
                </a:lnTo>
                <a:lnTo>
                  <a:pt x="2586616" y="1476985"/>
                </a:lnTo>
                <a:lnTo>
                  <a:pt x="0" y="147698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04775" cap="flat" cmpd="sng">
            <a:solidFill>
              <a:srgbClr val="3A7D4D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432" name="Google Shape;432;p25"/>
          <p:cNvGrpSpPr/>
          <p:nvPr/>
        </p:nvGrpSpPr>
        <p:grpSpPr>
          <a:xfrm>
            <a:off x="2159331" y="30301"/>
            <a:ext cx="10179524" cy="3375417"/>
            <a:chOff x="0" y="-385762"/>
            <a:chExt cx="13572698" cy="4500557"/>
          </a:xfrm>
        </p:grpSpPr>
        <p:grpSp>
          <p:nvGrpSpPr>
            <p:cNvPr id="433" name="Google Shape;433;p25"/>
            <p:cNvGrpSpPr/>
            <p:nvPr/>
          </p:nvGrpSpPr>
          <p:grpSpPr>
            <a:xfrm>
              <a:off x="3152635" y="-385762"/>
              <a:ext cx="4114793" cy="4500557"/>
              <a:chOff x="0" y="-76200"/>
              <a:chExt cx="812800" cy="889000"/>
            </a:xfrm>
          </p:grpSpPr>
          <p:sp>
            <p:nvSpPr>
              <p:cNvPr id="434" name="Google Shape;434;p25"/>
              <p:cNvSpPr/>
              <p:nvPr/>
            </p:nvSpPr>
            <p:spPr>
              <a:xfrm>
                <a:off x="0" y="0"/>
                <a:ext cx="112767" cy="391124"/>
              </a:xfrm>
              <a:custGeom>
                <a:avLst/>
                <a:gdLst/>
                <a:ahLst/>
                <a:cxnLst/>
                <a:rect l="l" t="t" r="r" b="b"/>
                <a:pathLst>
                  <a:path w="112767" h="391124" extrusionOk="0">
                    <a:moveTo>
                      <a:pt x="56383" y="0"/>
                    </a:moveTo>
                    <a:lnTo>
                      <a:pt x="56383" y="0"/>
                    </a:lnTo>
                    <a:cubicBezTo>
                      <a:pt x="71337" y="0"/>
                      <a:pt x="85679" y="5940"/>
                      <a:pt x="96253" y="16514"/>
                    </a:cubicBezTo>
                    <a:cubicBezTo>
                      <a:pt x="106826" y="27088"/>
                      <a:pt x="112767" y="41430"/>
                      <a:pt x="112767" y="56383"/>
                    </a:cubicBezTo>
                    <a:lnTo>
                      <a:pt x="112767" y="334740"/>
                    </a:lnTo>
                    <a:cubicBezTo>
                      <a:pt x="112767" y="365880"/>
                      <a:pt x="87523" y="391124"/>
                      <a:pt x="56383" y="391124"/>
                    </a:cubicBezTo>
                    <a:lnTo>
                      <a:pt x="56383" y="391124"/>
                    </a:lnTo>
                    <a:cubicBezTo>
                      <a:pt x="41430" y="391124"/>
                      <a:pt x="27088" y="385183"/>
                      <a:pt x="16514" y="374609"/>
                    </a:cubicBezTo>
                    <a:cubicBezTo>
                      <a:pt x="5940" y="364035"/>
                      <a:pt x="0" y="349694"/>
                      <a:pt x="0" y="334740"/>
                    </a:cubicBezTo>
                    <a:lnTo>
                      <a:pt x="0" y="56383"/>
                    </a:lnTo>
                    <a:cubicBezTo>
                      <a:pt x="0" y="25244"/>
                      <a:pt x="25244" y="0"/>
                      <a:pt x="56383" y="0"/>
                    </a:cubicBezTo>
                    <a:close/>
                  </a:path>
                </a:pathLst>
              </a:custGeom>
              <a:solidFill>
                <a:srgbClr val="EBEAE6"/>
              </a:solidFill>
              <a:ln w="104775" cap="flat" cmpd="sng">
                <a:solidFill>
                  <a:srgbClr val="3A7D4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" name="Google Shape;435;p25"/>
              <p:cNvSpPr txBox="1"/>
              <p:nvPr/>
            </p:nvSpPr>
            <p:spPr>
              <a:xfrm>
                <a:off x="0" y="-76200"/>
                <a:ext cx="812800" cy="889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96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36" name="Google Shape;436;p25"/>
            <p:cNvGrpSpPr/>
            <p:nvPr/>
          </p:nvGrpSpPr>
          <p:grpSpPr>
            <a:xfrm>
              <a:off x="0" y="-385762"/>
              <a:ext cx="4114793" cy="4500557"/>
              <a:chOff x="0" y="-76200"/>
              <a:chExt cx="812800" cy="889000"/>
            </a:xfrm>
          </p:grpSpPr>
          <p:sp>
            <p:nvSpPr>
              <p:cNvPr id="437" name="Google Shape;437;p25"/>
              <p:cNvSpPr/>
              <p:nvPr/>
            </p:nvSpPr>
            <p:spPr>
              <a:xfrm>
                <a:off x="0" y="0"/>
                <a:ext cx="112767" cy="391124"/>
              </a:xfrm>
              <a:custGeom>
                <a:avLst/>
                <a:gdLst/>
                <a:ahLst/>
                <a:cxnLst/>
                <a:rect l="l" t="t" r="r" b="b"/>
                <a:pathLst>
                  <a:path w="112767" h="391124" extrusionOk="0">
                    <a:moveTo>
                      <a:pt x="56383" y="0"/>
                    </a:moveTo>
                    <a:lnTo>
                      <a:pt x="56383" y="0"/>
                    </a:lnTo>
                    <a:cubicBezTo>
                      <a:pt x="71337" y="0"/>
                      <a:pt x="85679" y="5940"/>
                      <a:pt x="96253" y="16514"/>
                    </a:cubicBezTo>
                    <a:cubicBezTo>
                      <a:pt x="106826" y="27088"/>
                      <a:pt x="112767" y="41430"/>
                      <a:pt x="112767" y="56383"/>
                    </a:cubicBezTo>
                    <a:lnTo>
                      <a:pt x="112767" y="334740"/>
                    </a:lnTo>
                    <a:cubicBezTo>
                      <a:pt x="112767" y="365880"/>
                      <a:pt x="87523" y="391124"/>
                      <a:pt x="56383" y="391124"/>
                    </a:cubicBezTo>
                    <a:lnTo>
                      <a:pt x="56383" y="391124"/>
                    </a:lnTo>
                    <a:cubicBezTo>
                      <a:pt x="41430" y="391124"/>
                      <a:pt x="27088" y="385183"/>
                      <a:pt x="16514" y="374609"/>
                    </a:cubicBezTo>
                    <a:cubicBezTo>
                      <a:pt x="5940" y="364035"/>
                      <a:pt x="0" y="349694"/>
                      <a:pt x="0" y="334740"/>
                    </a:cubicBezTo>
                    <a:lnTo>
                      <a:pt x="0" y="56383"/>
                    </a:lnTo>
                    <a:cubicBezTo>
                      <a:pt x="0" y="25244"/>
                      <a:pt x="25244" y="0"/>
                      <a:pt x="56383" y="0"/>
                    </a:cubicBezTo>
                    <a:close/>
                  </a:path>
                </a:pathLst>
              </a:custGeom>
              <a:solidFill>
                <a:srgbClr val="EBEAE6"/>
              </a:solidFill>
              <a:ln w="104775" cap="flat" cmpd="sng">
                <a:solidFill>
                  <a:srgbClr val="3A7D4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" name="Google Shape;438;p25"/>
              <p:cNvSpPr txBox="1"/>
              <p:nvPr/>
            </p:nvSpPr>
            <p:spPr>
              <a:xfrm>
                <a:off x="0" y="-76200"/>
                <a:ext cx="812800" cy="889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96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39" name="Google Shape;439;p25"/>
            <p:cNvGrpSpPr/>
            <p:nvPr/>
          </p:nvGrpSpPr>
          <p:grpSpPr>
            <a:xfrm>
              <a:off x="6305270" y="-385762"/>
              <a:ext cx="4114793" cy="4500557"/>
              <a:chOff x="0" y="-76200"/>
              <a:chExt cx="812800" cy="889000"/>
            </a:xfrm>
          </p:grpSpPr>
          <p:sp>
            <p:nvSpPr>
              <p:cNvPr id="440" name="Google Shape;440;p25"/>
              <p:cNvSpPr/>
              <p:nvPr/>
            </p:nvSpPr>
            <p:spPr>
              <a:xfrm>
                <a:off x="0" y="0"/>
                <a:ext cx="112767" cy="391124"/>
              </a:xfrm>
              <a:custGeom>
                <a:avLst/>
                <a:gdLst/>
                <a:ahLst/>
                <a:cxnLst/>
                <a:rect l="l" t="t" r="r" b="b"/>
                <a:pathLst>
                  <a:path w="112767" h="391124" extrusionOk="0">
                    <a:moveTo>
                      <a:pt x="56383" y="0"/>
                    </a:moveTo>
                    <a:lnTo>
                      <a:pt x="56383" y="0"/>
                    </a:lnTo>
                    <a:cubicBezTo>
                      <a:pt x="71337" y="0"/>
                      <a:pt x="85679" y="5940"/>
                      <a:pt x="96253" y="16514"/>
                    </a:cubicBezTo>
                    <a:cubicBezTo>
                      <a:pt x="106826" y="27088"/>
                      <a:pt x="112767" y="41430"/>
                      <a:pt x="112767" y="56383"/>
                    </a:cubicBezTo>
                    <a:lnTo>
                      <a:pt x="112767" y="334740"/>
                    </a:lnTo>
                    <a:cubicBezTo>
                      <a:pt x="112767" y="365880"/>
                      <a:pt x="87523" y="391124"/>
                      <a:pt x="56383" y="391124"/>
                    </a:cubicBezTo>
                    <a:lnTo>
                      <a:pt x="56383" y="391124"/>
                    </a:lnTo>
                    <a:cubicBezTo>
                      <a:pt x="41430" y="391124"/>
                      <a:pt x="27088" y="385183"/>
                      <a:pt x="16514" y="374609"/>
                    </a:cubicBezTo>
                    <a:cubicBezTo>
                      <a:pt x="5940" y="364035"/>
                      <a:pt x="0" y="349694"/>
                      <a:pt x="0" y="334740"/>
                    </a:cubicBezTo>
                    <a:lnTo>
                      <a:pt x="0" y="56383"/>
                    </a:lnTo>
                    <a:cubicBezTo>
                      <a:pt x="0" y="25244"/>
                      <a:pt x="25244" y="0"/>
                      <a:pt x="56383" y="0"/>
                    </a:cubicBezTo>
                    <a:close/>
                  </a:path>
                </a:pathLst>
              </a:custGeom>
              <a:solidFill>
                <a:srgbClr val="EBEAE6"/>
              </a:solidFill>
              <a:ln w="104775" cap="flat" cmpd="sng">
                <a:solidFill>
                  <a:srgbClr val="3A7D4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" name="Google Shape;441;p25"/>
              <p:cNvSpPr txBox="1"/>
              <p:nvPr/>
            </p:nvSpPr>
            <p:spPr>
              <a:xfrm>
                <a:off x="0" y="-76200"/>
                <a:ext cx="812800" cy="889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96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42" name="Google Shape;442;p25"/>
            <p:cNvGrpSpPr/>
            <p:nvPr/>
          </p:nvGrpSpPr>
          <p:grpSpPr>
            <a:xfrm>
              <a:off x="9457905" y="-385762"/>
              <a:ext cx="4114793" cy="4500557"/>
              <a:chOff x="0" y="-76200"/>
              <a:chExt cx="812800" cy="889000"/>
            </a:xfrm>
          </p:grpSpPr>
          <p:sp>
            <p:nvSpPr>
              <p:cNvPr id="443" name="Google Shape;443;p25"/>
              <p:cNvSpPr/>
              <p:nvPr/>
            </p:nvSpPr>
            <p:spPr>
              <a:xfrm>
                <a:off x="0" y="0"/>
                <a:ext cx="112767" cy="391124"/>
              </a:xfrm>
              <a:custGeom>
                <a:avLst/>
                <a:gdLst/>
                <a:ahLst/>
                <a:cxnLst/>
                <a:rect l="l" t="t" r="r" b="b"/>
                <a:pathLst>
                  <a:path w="112767" h="391124" extrusionOk="0">
                    <a:moveTo>
                      <a:pt x="56383" y="0"/>
                    </a:moveTo>
                    <a:lnTo>
                      <a:pt x="56383" y="0"/>
                    </a:lnTo>
                    <a:cubicBezTo>
                      <a:pt x="71337" y="0"/>
                      <a:pt x="85679" y="5940"/>
                      <a:pt x="96253" y="16514"/>
                    </a:cubicBezTo>
                    <a:cubicBezTo>
                      <a:pt x="106826" y="27088"/>
                      <a:pt x="112767" y="41430"/>
                      <a:pt x="112767" y="56383"/>
                    </a:cubicBezTo>
                    <a:lnTo>
                      <a:pt x="112767" y="334740"/>
                    </a:lnTo>
                    <a:cubicBezTo>
                      <a:pt x="112767" y="365880"/>
                      <a:pt x="87523" y="391124"/>
                      <a:pt x="56383" y="391124"/>
                    </a:cubicBezTo>
                    <a:lnTo>
                      <a:pt x="56383" y="391124"/>
                    </a:lnTo>
                    <a:cubicBezTo>
                      <a:pt x="41430" y="391124"/>
                      <a:pt x="27088" y="385183"/>
                      <a:pt x="16514" y="374609"/>
                    </a:cubicBezTo>
                    <a:cubicBezTo>
                      <a:pt x="5940" y="364035"/>
                      <a:pt x="0" y="349694"/>
                      <a:pt x="0" y="334740"/>
                    </a:cubicBezTo>
                    <a:lnTo>
                      <a:pt x="0" y="56383"/>
                    </a:lnTo>
                    <a:cubicBezTo>
                      <a:pt x="0" y="25244"/>
                      <a:pt x="25244" y="0"/>
                      <a:pt x="56383" y="0"/>
                    </a:cubicBezTo>
                    <a:close/>
                  </a:path>
                </a:pathLst>
              </a:custGeom>
              <a:solidFill>
                <a:srgbClr val="EBEAE6"/>
              </a:solidFill>
              <a:ln w="104775" cap="flat" cmpd="sng">
                <a:solidFill>
                  <a:srgbClr val="3A7D4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" name="Google Shape;444;p25"/>
              <p:cNvSpPr txBox="1"/>
              <p:nvPr/>
            </p:nvSpPr>
            <p:spPr>
              <a:xfrm>
                <a:off x="0" y="-76200"/>
                <a:ext cx="812800" cy="889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96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A930CD8E-99CB-9FC6-0BA5-4CDC6D318703}"/>
              </a:ext>
            </a:extLst>
          </p:cNvPr>
          <p:cNvSpPr txBox="1"/>
          <p:nvPr/>
        </p:nvSpPr>
        <p:spPr>
          <a:xfrm>
            <a:off x="12661862" y="2560924"/>
            <a:ext cx="5172412" cy="64244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200000"/>
              </a:lnSpc>
            </a:pPr>
            <a:r>
              <a:rPr lang="en-US" sz="1600" b="1" dirty="0">
                <a:solidFill>
                  <a:srgbClr val="3A7D4D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📌  Research Question: “Do inland cities have significantly higher AQHI levels than coastal cities?”</a:t>
            </a:r>
          </a:p>
          <a:p>
            <a:pPr lvl="0">
              <a:lnSpc>
                <a:spcPct val="200000"/>
              </a:lnSpc>
            </a:pPr>
            <a:r>
              <a:rPr lang="en-US" sz="1600" b="1" dirty="0">
                <a:solidFill>
                  <a:srgbClr val="3A7D4D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📌 </a:t>
            </a:r>
            <a:r>
              <a:rPr lang="en-US" sz="1600" b="1" dirty="0">
                <a:solidFill>
                  <a:srgbClr val="3A7D4D"/>
                </a:solidFill>
                <a:latin typeface="Source Sans Pro"/>
                <a:ea typeface="Source Sans Pro"/>
                <a:sym typeface="Source Sans Pro"/>
              </a:rPr>
              <a:t>H₀ (Null Hypothesis): There is no difference in mean AQHI between coastal and inland cities.</a:t>
            </a:r>
          </a:p>
          <a:p>
            <a:pPr lvl="0">
              <a:lnSpc>
                <a:spcPct val="200000"/>
              </a:lnSpc>
            </a:pPr>
            <a:r>
              <a:rPr lang="en-US" sz="1600" b="1" dirty="0">
                <a:solidFill>
                  <a:srgbClr val="3A7D4D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📌 </a:t>
            </a:r>
            <a:r>
              <a:rPr lang="en-US" sz="1600" b="1" dirty="0">
                <a:solidFill>
                  <a:srgbClr val="3A7D4D"/>
                </a:solidFill>
                <a:latin typeface="Source Sans Pro"/>
                <a:ea typeface="Source Sans Pro"/>
                <a:sym typeface="Source Sans Pro"/>
              </a:rPr>
              <a:t>H₁ (Alternative Hypothesis): Inland cities have a higher mean AQHI than coastal cities.</a:t>
            </a:r>
          </a:p>
          <a:p>
            <a:pPr lvl="0">
              <a:lnSpc>
                <a:spcPct val="200000"/>
              </a:lnSpc>
            </a:pPr>
            <a:r>
              <a:rPr lang="en-US" sz="1600" b="1" dirty="0">
                <a:solidFill>
                  <a:srgbClr val="3A7D4D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📌 </a:t>
            </a:r>
            <a:r>
              <a:rPr lang="en-US" sz="1600" b="1" dirty="0">
                <a:solidFill>
                  <a:srgbClr val="3A7D4D"/>
                </a:solidFill>
                <a:latin typeface="Source Sans Pro"/>
                <a:ea typeface="Source Sans Pro"/>
                <a:sym typeface="Source Sans Pro"/>
              </a:rPr>
              <a:t>Coastal Mean AQHI: 1.60</a:t>
            </a:r>
          </a:p>
          <a:p>
            <a:pPr lvl="0">
              <a:lnSpc>
                <a:spcPct val="200000"/>
              </a:lnSpc>
            </a:pPr>
            <a:r>
              <a:rPr lang="en-US" sz="1600" b="1" dirty="0">
                <a:solidFill>
                  <a:srgbClr val="3A7D4D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📌 </a:t>
            </a:r>
            <a:r>
              <a:rPr lang="en-US" sz="1600" b="1" dirty="0">
                <a:solidFill>
                  <a:srgbClr val="3A7D4D"/>
                </a:solidFill>
                <a:latin typeface="Source Sans Pro"/>
                <a:ea typeface="Source Sans Pro"/>
                <a:sym typeface="Source Sans Pro"/>
              </a:rPr>
              <a:t>Inland Mean AQHI: 1.92</a:t>
            </a:r>
          </a:p>
          <a:p>
            <a:pPr lvl="0">
              <a:lnSpc>
                <a:spcPct val="200000"/>
              </a:lnSpc>
            </a:pPr>
            <a:r>
              <a:rPr lang="en-US" sz="1600" b="1" dirty="0">
                <a:solidFill>
                  <a:srgbClr val="3A7D4D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📌 </a:t>
            </a:r>
            <a:r>
              <a:rPr lang="en-US" sz="1600" b="1" dirty="0">
                <a:solidFill>
                  <a:srgbClr val="3A7D4D"/>
                </a:solidFill>
                <a:latin typeface="Source Sans Pro"/>
                <a:ea typeface="Source Sans Pro"/>
                <a:sym typeface="Source Sans Pro"/>
              </a:rPr>
              <a:t>t-value: –8.97</a:t>
            </a:r>
          </a:p>
          <a:p>
            <a:pPr lvl="0">
              <a:lnSpc>
                <a:spcPct val="200000"/>
              </a:lnSpc>
            </a:pPr>
            <a:r>
              <a:rPr lang="en-US" sz="1600" b="1" dirty="0">
                <a:solidFill>
                  <a:srgbClr val="3A7D4D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📌 </a:t>
            </a:r>
            <a:r>
              <a:rPr lang="en-US" sz="1600" b="1" dirty="0">
                <a:solidFill>
                  <a:srgbClr val="3A7D4D"/>
                </a:solidFill>
                <a:latin typeface="Source Sans Pro"/>
                <a:ea typeface="Source Sans Pro"/>
                <a:sym typeface="Source Sans Pro"/>
              </a:rPr>
              <a:t>p-value: &lt; 2.2e-16 (highly significant)</a:t>
            </a:r>
          </a:p>
          <a:p>
            <a:pPr lvl="0">
              <a:lnSpc>
                <a:spcPct val="200000"/>
              </a:lnSpc>
            </a:pPr>
            <a:r>
              <a:rPr lang="en-US" sz="1600" b="1" dirty="0">
                <a:solidFill>
                  <a:srgbClr val="3A7D4D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📌 </a:t>
            </a:r>
            <a:r>
              <a:rPr lang="en-US" sz="1600" b="1" dirty="0">
                <a:solidFill>
                  <a:srgbClr val="3A7D4D"/>
                </a:solidFill>
                <a:latin typeface="Source Sans Pro"/>
                <a:ea typeface="Source Sans Pro"/>
                <a:sym typeface="Source Sans Pro"/>
              </a:rPr>
              <a:t>95% CI: [–0.388, –0.249] (does not include 0)</a:t>
            </a:r>
          </a:p>
          <a:p>
            <a:pPr lvl="0">
              <a:lnSpc>
                <a:spcPct val="200000"/>
              </a:lnSpc>
            </a:pPr>
            <a:r>
              <a:rPr lang="en-US" sz="1600" b="1" dirty="0">
                <a:solidFill>
                  <a:srgbClr val="3A7D4D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📌 </a:t>
            </a:r>
            <a:r>
              <a:rPr lang="en-US" sz="1600" b="1" dirty="0">
                <a:solidFill>
                  <a:srgbClr val="3A7D4D"/>
                </a:solidFill>
                <a:latin typeface="Source Sans Pro"/>
                <a:ea typeface="Source Sans Pro"/>
                <a:sym typeface="Source Sans Pro"/>
              </a:rPr>
              <a:t>Conclusion: Inland cities have significantly higher AQHI levels than coastal cities → Reject H₀.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A5C051-FF84-A64B-E8CF-93EB65A31F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3226" y="2271603"/>
            <a:ext cx="9727208" cy="5486412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DB898"/>
        </a:solidFill>
        <a:effectLst/>
      </p:bgPr>
    </p:bg>
    <p:spTree>
      <p:nvGrpSpPr>
        <p:cNvPr id="1" name="Shape 416">
          <a:extLst>
            <a:ext uri="{FF2B5EF4-FFF2-40B4-BE49-F238E27FC236}">
              <a16:creationId xmlns:a16="http://schemas.microsoft.com/office/drawing/2014/main" id="{B5647797-5474-90CE-8CFD-1F3D919A9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2" name="Google Shape;422;p25">
            <a:extLst>
              <a:ext uri="{FF2B5EF4-FFF2-40B4-BE49-F238E27FC236}">
                <a16:creationId xmlns:a16="http://schemas.microsoft.com/office/drawing/2014/main" id="{B7613118-E395-7996-078A-1051F3847A63}"/>
              </a:ext>
            </a:extLst>
          </p:cNvPr>
          <p:cNvGrpSpPr/>
          <p:nvPr/>
        </p:nvGrpSpPr>
        <p:grpSpPr>
          <a:xfrm>
            <a:off x="12517201" y="284297"/>
            <a:ext cx="5349298" cy="9573746"/>
            <a:chOff x="0" y="-38100"/>
            <a:chExt cx="1408869" cy="2521480"/>
          </a:xfrm>
        </p:grpSpPr>
        <p:sp>
          <p:nvSpPr>
            <p:cNvPr id="423" name="Google Shape;423;p25">
              <a:extLst>
                <a:ext uri="{FF2B5EF4-FFF2-40B4-BE49-F238E27FC236}">
                  <a16:creationId xmlns:a16="http://schemas.microsoft.com/office/drawing/2014/main" id="{E48A78A0-C00D-CBC0-8567-A84897640F37}"/>
                </a:ext>
              </a:extLst>
            </p:cNvPr>
            <p:cNvSpPr/>
            <p:nvPr/>
          </p:nvSpPr>
          <p:spPr>
            <a:xfrm>
              <a:off x="0" y="0"/>
              <a:ext cx="1408869" cy="2483380"/>
            </a:xfrm>
            <a:custGeom>
              <a:avLst/>
              <a:gdLst/>
              <a:ahLst/>
              <a:cxnLst/>
              <a:rect l="l" t="t" r="r" b="b"/>
              <a:pathLst>
                <a:path w="1408869" h="2483380" extrusionOk="0">
                  <a:moveTo>
                    <a:pt x="1329450" y="0"/>
                  </a:moveTo>
                  <a:lnTo>
                    <a:pt x="79418" y="0"/>
                  </a:lnTo>
                  <a:cubicBezTo>
                    <a:pt x="79418" y="43699"/>
                    <a:pt x="44079" y="79418"/>
                    <a:pt x="0" y="79418"/>
                  </a:cubicBezTo>
                  <a:lnTo>
                    <a:pt x="0" y="2403962"/>
                  </a:lnTo>
                  <a:cubicBezTo>
                    <a:pt x="43699" y="2403962"/>
                    <a:pt x="79418" y="2439301"/>
                    <a:pt x="79418" y="2483380"/>
                  </a:cubicBezTo>
                  <a:lnTo>
                    <a:pt x="1329450" y="2483380"/>
                  </a:lnTo>
                  <a:cubicBezTo>
                    <a:pt x="1329450" y="2439681"/>
                    <a:pt x="1364789" y="2403962"/>
                    <a:pt x="1408869" y="2403962"/>
                  </a:cubicBezTo>
                  <a:lnTo>
                    <a:pt x="1408869" y="79418"/>
                  </a:lnTo>
                  <a:cubicBezTo>
                    <a:pt x="1365169" y="79418"/>
                    <a:pt x="1329450" y="44079"/>
                    <a:pt x="1329450" y="0"/>
                  </a:cubicBezTo>
                  <a:close/>
                </a:path>
              </a:pathLst>
            </a:custGeom>
            <a:solidFill>
              <a:srgbClr val="EBEAE6"/>
            </a:solidFill>
            <a:ln w="104775" cap="flat" cmpd="sng">
              <a:solidFill>
                <a:srgbClr val="3A7D4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25">
              <a:extLst>
                <a:ext uri="{FF2B5EF4-FFF2-40B4-BE49-F238E27FC236}">
                  <a16:creationId xmlns:a16="http://schemas.microsoft.com/office/drawing/2014/main" id="{07D790A4-32D5-88FF-8ABB-BC2359325268}"/>
                </a:ext>
              </a:extLst>
            </p:cNvPr>
            <p:cNvSpPr txBox="1"/>
            <p:nvPr/>
          </p:nvSpPr>
          <p:spPr>
            <a:xfrm>
              <a:off x="38100" y="-38100"/>
              <a:ext cx="736600" cy="81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6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26" name="Google Shape;426;p25">
            <a:extLst>
              <a:ext uri="{FF2B5EF4-FFF2-40B4-BE49-F238E27FC236}">
                <a16:creationId xmlns:a16="http://schemas.microsoft.com/office/drawing/2014/main" id="{3B403C1F-6537-1486-EAEE-BD17E5B4A986}"/>
              </a:ext>
            </a:extLst>
          </p:cNvPr>
          <p:cNvGrpSpPr/>
          <p:nvPr/>
        </p:nvGrpSpPr>
        <p:grpSpPr>
          <a:xfrm>
            <a:off x="13023052" y="1286718"/>
            <a:ext cx="4422740" cy="3498763"/>
            <a:chOff x="0" y="-4025787"/>
            <a:chExt cx="5896988" cy="4665018"/>
          </a:xfrm>
        </p:grpSpPr>
        <p:sp>
          <p:nvSpPr>
            <p:cNvPr id="427" name="Google Shape;427;p25">
              <a:extLst>
                <a:ext uri="{FF2B5EF4-FFF2-40B4-BE49-F238E27FC236}">
                  <a16:creationId xmlns:a16="http://schemas.microsoft.com/office/drawing/2014/main" id="{8CBAB372-9DC5-26D3-5DC2-F98F1D4EEE3D}"/>
                </a:ext>
              </a:extLst>
            </p:cNvPr>
            <p:cNvSpPr txBox="1"/>
            <p:nvPr/>
          </p:nvSpPr>
          <p:spPr>
            <a:xfrm>
              <a:off x="113588" y="-4025787"/>
              <a:ext cx="5783400" cy="26263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 algn="ctr"/>
              <a:r>
                <a:rPr lang="en-US" sz="3200" b="1" dirty="0">
                  <a:solidFill>
                    <a:srgbClr val="3A7D4D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Do inland cities experience higher AQHI levels than coastal cities?</a:t>
              </a:r>
              <a:endParaRPr sz="3200" dirty="0"/>
            </a:p>
          </p:txBody>
        </p:sp>
        <p:sp>
          <p:nvSpPr>
            <p:cNvPr id="428" name="Google Shape;428;p25">
              <a:extLst>
                <a:ext uri="{FF2B5EF4-FFF2-40B4-BE49-F238E27FC236}">
                  <a16:creationId xmlns:a16="http://schemas.microsoft.com/office/drawing/2014/main" id="{9662BE1E-948E-2033-43BA-2338816F96DF}"/>
                </a:ext>
              </a:extLst>
            </p:cNvPr>
            <p:cNvSpPr txBox="1"/>
            <p:nvPr/>
          </p:nvSpPr>
          <p:spPr>
            <a:xfrm>
              <a:off x="0" y="438150"/>
              <a:ext cx="5783400" cy="20108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429" name="Google Shape;429;p25">
            <a:extLst>
              <a:ext uri="{FF2B5EF4-FFF2-40B4-BE49-F238E27FC236}">
                <a16:creationId xmlns:a16="http://schemas.microsoft.com/office/drawing/2014/main" id="{1F805481-9259-B07F-5349-D21BB008FBC1}"/>
              </a:ext>
            </a:extLst>
          </p:cNvPr>
          <p:cNvGrpSpPr/>
          <p:nvPr/>
        </p:nvGrpSpPr>
        <p:grpSpPr>
          <a:xfrm>
            <a:off x="14977769" y="-776971"/>
            <a:ext cx="3086099" cy="3375417"/>
            <a:chOff x="0" y="-76200"/>
            <a:chExt cx="812800" cy="889000"/>
          </a:xfrm>
        </p:grpSpPr>
        <p:sp>
          <p:nvSpPr>
            <p:cNvPr id="430" name="Google Shape;430;p25">
              <a:extLst>
                <a:ext uri="{FF2B5EF4-FFF2-40B4-BE49-F238E27FC236}">
                  <a16:creationId xmlns:a16="http://schemas.microsoft.com/office/drawing/2014/main" id="{763A0B0A-6150-511A-DAFF-2E7ACBF3EB5C}"/>
                </a:ext>
              </a:extLst>
            </p:cNvPr>
            <p:cNvSpPr/>
            <p:nvPr/>
          </p:nvSpPr>
          <p:spPr>
            <a:xfrm>
              <a:off x="0" y="0"/>
              <a:ext cx="112767" cy="391124"/>
            </a:xfrm>
            <a:custGeom>
              <a:avLst/>
              <a:gdLst/>
              <a:ahLst/>
              <a:cxnLst/>
              <a:rect l="l" t="t" r="r" b="b"/>
              <a:pathLst>
                <a:path w="112767" h="391124" extrusionOk="0">
                  <a:moveTo>
                    <a:pt x="56383" y="0"/>
                  </a:moveTo>
                  <a:lnTo>
                    <a:pt x="56383" y="0"/>
                  </a:lnTo>
                  <a:cubicBezTo>
                    <a:pt x="71337" y="0"/>
                    <a:pt x="85679" y="5940"/>
                    <a:pt x="96253" y="16514"/>
                  </a:cubicBezTo>
                  <a:cubicBezTo>
                    <a:pt x="106826" y="27088"/>
                    <a:pt x="112767" y="41430"/>
                    <a:pt x="112767" y="56383"/>
                  </a:cubicBezTo>
                  <a:lnTo>
                    <a:pt x="112767" y="334740"/>
                  </a:lnTo>
                  <a:cubicBezTo>
                    <a:pt x="112767" y="365880"/>
                    <a:pt x="87523" y="391124"/>
                    <a:pt x="56383" y="391124"/>
                  </a:cubicBezTo>
                  <a:lnTo>
                    <a:pt x="56383" y="391124"/>
                  </a:lnTo>
                  <a:cubicBezTo>
                    <a:pt x="41430" y="391124"/>
                    <a:pt x="27088" y="385183"/>
                    <a:pt x="16514" y="374609"/>
                  </a:cubicBezTo>
                  <a:cubicBezTo>
                    <a:pt x="5940" y="364035"/>
                    <a:pt x="0" y="349694"/>
                    <a:pt x="0" y="334740"/>
                  </a:cubicBezTo>
                  <a:lnTo>
                    <a:pt x="0" y="56383"/>
                  </a:lnTo>
                  <a:cubicBezTo>
                    <a:pt x="0" y="25244"/>
                    <a:pt x="25244" y="0"/>
                    <a:pt x="56383" y="0"/>
                  </a:cubicBezTo>
                  <a:close/>
                </a:path>
              </a:pathLst>
            </a:custGeom>
            <a:solidFill>
              <a:srgbClr val="EBEAE6"/>
            </a:solidFill>
            <a:ln w="104775" cap="flat" cmpd="sng">
              <a:solidFill>
                <a:srgbClr val="3A7D4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25">
              <a:extLst>
                <a:ext uri="{FF2B5EF4-FFF2-40B4-BE49-F238E27FC236}">
                  <a16:creationId xmlns:a16="http://schemas.microsoft.com/office/drawing/2014/main" id="{31252061-D7C3-6437-4791-3000B7BC8BE4}"/>
                </a:ext>
              </a:extLst>
            </p:cNvPr>
            <p:cNvSpPr txBox="1"/>
            <p:nvPr/>
          </p:nvSpPr>
          <p:spPr>
            <a:xfrm>
              <a:off x="0" y="-76200"/>
              <a:ext cx="812800" cy="889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6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40AF1144-6CFD-C077-6EDA-B80C0D6A3BDF}"/>
              </a:ext>
            </a:extLst>
          </p:cNvPr>
          <p:cNvGrpSpPr/>
          <p:nvPr/>
        </p:nvGrpSpPr>
        <p:grpSpPr>
          <a:xfrm>
            <a:off x="293421" y="121749"/>
            <a:ext cx="11862543" cy="8779690"/>
            <a:chOff x="421501" y="991904"/>
            <a:chExt cx="11862543" cy="8779690"/>
          </a:xfrm>
        </p:grpSpPr>
        <p:grpSp>
          <p:nvGrpSpPr>
            <p:cNvPr id="417" name="Google Shape;417;p25">
              <a:extLst>
                <a:ext uri="{FF2B5EF4-FFF2-40B4-BE49-F238E27FC236}">
                  <a16:creationId xmlns:a16="http://schemas.microsoft.com/office/drawing/2014/main" id="{D57BB920-A6CC-279E-8B9B-70ECB111538B}"/>
                </a:ext>
              </a:extLst>
            </p:cNvPr>
            <p:cNvGrpSpPr/>
            <p:nvPr/>
          </p:nvGrpSpPr>
          <p:grpSpPr>
            <a:xfrm>
              <a:off x="421501" y="2205428"/>
              <a:ext cx="11708767" cy="7566166"/>
              <a:chOff x="0" y="-38100"/>
              <a:chExt cx="3083790" cy="1992735"/>
            </a:xfrm>
          </p:grpSpPr>
          <p:sp>
            <p:nvSpPr>
              <p:cNvPr id="418" name="Google Shape;418;p25">
                <a:extLst>
                  <a:ext uri="{FF2B5EF4-FFF2-40B4-BE49-F238E27FC236}">
                    <a16:creationId xmlns:a16="http://schemas.microsoft.com/office/drawing/2014/main" id="{EF0C3BF2-7C72-D515-7CDD-15CDD66141DB}"/>
                  </a:ext>
                </a:extLst>
              </p:cNvPr>
              <p:cNvSpPr/>
              <p:nvPr/>
            </p:nvSpPr>
            <p:spPr>
              <a:xfrm>
                <a:off x="0" y="0"/>
                <a:ext cx="3083790" cy="1954635"/>
              </a:xfrm>
              <a:custGeom>
                <a:avLst/>
                <a:gdLst/>
                <a:ahLst/>
                <a:cxnLst/>
                <a:rect l="l" t="t" r="r" b="b"/>
                <a:pathLst>
                  <a:path w="3083790" h="1954635" extrusionOk="0">
                    <a:moveTo>
                      <a:pt x="3004372" y="0"/>
                    </a:moveTo>
                    <a:lnTo>
                      <a:pt x="79418" y="0"/>
                    </a:lnTo>
                    <a:cubicBezTo>
                      <a:pt x="79418" y="43699"/>
                      <a:pt x="44079" y="79418"/>
                      <a:pt x="0" y="79418"/>
                    </a:cubicBezTo>
                    <a:lnTo>
                      <a:pt x="0" y="1875217"/>
                    </a:lnTo>
                    <a:cubicBezTo>
                      <a:pt x="43699" y="1875217"/>
                      <a:pt x="79418" y="1910556"/>
                      <a:pt x="79418" y="1954635"/>
                    </a:cubicBezTo>
                    <a:lnTo>
                      <a:pt x="3004372" y="1954635"/>
                    </a:lnTo>
                    <a:cubicBezTo>
                      <a:pt x="3004372" y="1910935"/>
                      <a:pt x="3039711" y="1875217"/>
                      <a:pt x="3083790" y="1875217"/>
                    </a:cubicBezTo>
                    <a:lnTo>
                      <a:pt x="3083790" y="79418"/>
                    </a:lnTo>
                    <a:cubicBezTo>
                      <a:pt x="3040091" y="79418"/>
                      <a:pt x="3004372" y="44079"/>
                      <a:pt x="3004372" y="0"/>
                    </a:cubicBezTo>
                    <a:close/>
                  </a:path>
                </a:pathLst>
              </a:custGeom>
              <a:solidFill>
                <a:srgbClr val="EBEAE6"/>
              </a:solidFill>
              <a:ln w="104775" cap="flat" cmpd="sng">
                <a:solidFill>
                  <a:srgbClr val="3A7D4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" name="Google Shape;419;p25">
                <a:extLst>
                  <a:ext uri="{FF2B5EF4-FFF2-40B4-BE49-F238E27FC236}">
                    <a16:creationId xmlns:a16="http://schemas.microsoft.com/office/drawing/2014/main" id="{3FB3EC9F-F0E5-93C1-5F86-9102F5BD562B}"/>
                  </a:ext>
                </a:extLst>
              </p:cNvPr>
              <p:cNvSpPr txBox="1"/>
              <p:nvPr/>
            </p:nvSpPr>
            <p:spPr>
              <a:xfrm>
                <a:off x="38100" y="-38100"/>
                <a:ext cx="736600" cy="81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96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20" name="Google Shape;420;p25">
              <a:extLst>
                <a:ext uri="{FF2B5EF4-FFF2-40B4-BE49-F238E27FC236}">
                  <a16:creationId xmlns:a16="http://schemas.microsoft.com/office/drawing/2014/main" id="{0A90CB06-5D6B-CA8C-25DD-D3350B835872}"/>
                </a:ext>
              </a:extLst>
            </p:cNvPr>
            <p:cNvSpPr/>
            <p:nvPr/>
          </p:nvSpPr>
          <p:spPr>
            <a:xfrm>
              <a:off x="1231031" y="3233206"/>
              <a:ext cx="9794592" cy="5486412"/>
            </a:xfrm>
            <a:custGeom>
              <a:avLst/>
              <a:gdLst/>
              <a:ahLst/>
              <a:cxnLst/>
              <a:rect l="l" t="t" r="r" b="b"/>
              <a:pathLst>
                <a:path w="2586616" h="1476985" extrusionOk="0">
                  <a:moveTo>
                    <a:pt x="0" y="0"/>
                  </a:moveTo>
                  <a:lnTo>
                    <a:pt x="2586616" y="0"/>
                  </a:lnTo>
                  <a:lnTo>
                    <a:pt x="2586616" y="1476985"/>
                  </a:lnTo>
                  <a:lnTo>
                    <a:pt x="0" y="147698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04775" cap="flat" cmpd="sng">
              <a:solidFill>
                <a:srgbClr val="3A7D4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3" name="Picture 2" descr="A graph of a graph&#10;&#10;AI-generated content may be incorrect.">
              <a:extLst>
                <a:ext uri="{FF2B5EF4-FFF2-40B4-BE49-F238E27FC236}">
                  <a16:creationId xmlns:a16="http://schemas.microsoft.com/office/drawing/2014/main" id="{F17D9C05-7B7C-E6FC-D95B-764DA45CC87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31031" y="3233206"/>
              <a:ext cx="9794592" cy="5486411"/>
            </a:xfrm>
            <a:prstGeom prst="rect">
              <a:avLst/>
            </a:prstGeom>
          </p:spPr>
        </p:pic>
        <p:grpSp>
          <p:nvGrpSpPr>
            <p:cNvPr id="432" name="Google Shape;432;p25">
              <a:extLst>
                <a:ext uri="{FF2B5EF4-FFF2-40B4-BE49-F238E27FC236}">
                  <a16:creationId xmlns:a16="http://schemas.microsoft.com/office/drawing/2014/main" id="{8738F7E8-BF7C-15F8-F828-7F8754FEDBCB}"/>
                </a:ext>
              </a:extLst>
            </p:cNvPr>
            <p:cNvGrpSpPr/>
            <p:nvPr/>
          </p:nvGrpSpPr>
          <p:grpSpPr>
            <a:xfrm>
              <a:off x="2104520" y="991904"/>
              <a:ext cx="10179524" cy="3375417"/>
              <a:chOff x="0" y="-385762"/>
              <a:chExt cx="13572698" cy="4500557"/>
            </a:xfrm>
          </p:grpSpPr>
          <p:grpSp>
            <p:nvGrpSpPr>
              <p:cNvPr id="433" name="Google Shape;433;p25">
                <a:extLst>
                  <a:ext uri="{FF2B5EF4-FFF2-40B4-BE49-F238E27FC236}">
                    <a16:creationId xmlns:a16="http://schemas.microsoft.com/office/drawing/2014/main" id="{F1C2E124-BC03-8287-5F4F-5EEDCDFCB354}"/>
                  </a:ext>
                </a:extLst>
              </p:cNvPr>
              <p:cNvGrpSpPr/>
              <p:nvPr/>
            </p:nvGrpSpPr>
            <p:grpSpPr>
              <a:xfrm>
                <a:off x="3152635" y="-385762"/>
                <a:ext cx="4114793" cy="4500557"/>
                <a:chOff x="0" y="-76200"/>
                <a:chExt cx="812800" cy="889000"/>
              </a:xfrm>
            </p:grpSpPr>
            <p:sp>
              <p:nvSpPr>
                <p:cNvPr id="434" name="Google Shape;434;p25">
                  <a:extLst>
                    <a:ext uri="{FF2B5EF4-FFF2-40B4-BE49-F238E27FC236}">
                      <a16:creationId xmlns:a16="http://schemas.microsoft.com/office/drawing/2014/main" id="{01850BEC-80F2-9469-995A-F40918FEF026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12767" cy="3911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767" h="391124" extrusionOk="0">
                      <a:moveTo>
                        <a:pt x="56383" y="0"/>
                      </a:moveTo>
                      <a:lnTo>
                        <a:pt x="56383" y="0"/>
                      </a:lnTo>
                      <a:cubicBezTo>
                        <a:pt x="71337" y="0"/>
                        <a:pt x="85679" y="5940"/>
                        <a:pt x="96253" y="16514"/>
                      </a:cubicBezTo>
                      <a:cubicBezTo>
                        <a:pt x="106826" y="27088"/>
                        <a:pt x="112767" y="41430"/>
                        <a:pt x="112767" y="56383"/>
                      </a:cubicBezTo>
                      <a:lnTo>
                        <a:pt x="112767" y="334740"/>
                      </a:lnTo>
                      <a:cubicBezTo>
                        <a:pt x="112767" y="365880"/>
                        <a:pt x="87523" y="391124"/>
                        <a:pt x="56383" y="391124"/>
                      </a:cubicBezTo>
                      <a:lnTo>
                        <a:pt x="56383" y="391124"/>
                      </a:lnTo>
                      <a:cubicBezTo>
                        <a:pt x="41430" y="391124"/>
                        <a:pt x="27088" y="385183"/>
                        <a:pt x="16514" y="374609"/>
                      </a:cubicBezTo>
                      <a:cubicBezTo>
                        <a:pt x="5940" y="364035"/>
                        <a:pt x="0" y="349694"/>
                        <a:pt x="0" y="334740"/>
                      </a:cubicBezTo>
                      <a:lnTo>
                        <a:pt x="0" y="56383"/>
                      </a:lnTo>
                      <a:cubicBezTo>
                        <a:pt x="0" y="25244"/>
                        <a:pt x="25244" y="0"/>
                        <a:pt x="56383" y="0"/>
                      </a:cubicBezTo>
                      <a:close/>
                    </a:path>
                  </a:pathLst>
                </a:custGeom>
                <a:solidFill>
                  <a:srgbClr val="EBEAE6"/>
                </a:solidFill>
                <a:ln w="104775" cap="flat" cmpd="sng">
                  <a:solidFill>
                    <a:srgbClr val="3A7D4D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5" name="Google Shape;435;p25">
                  <a:extLst>
                    <a:ext uri="{FF2B5EF4-FFF2-40B4-BE49-F238E27FC236}">
                      <a16:creationId xmlns:a16="http://schemas.microsoft.com/office/drawing/2014/main" id="{7313A755-B3A1-040F-1151-CA0CF89EB4F4}"/>
                    </a:ext>
                  </a:extLst>
                </p:cNvPr>
                <p:cNvSpPr txBox="1"/>
                <p:nvPr/>
              </p:nvSpPr>
              <p:spPr>
                <a:xfrm>
                  <a:off x="0" y="-76200"/>
                  <a:ext cx="812800" cy="889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50800" tIns="50800" rIns="50800" bIns="508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96777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36" name="Google Shape;436;p25">
                <a:extLst>
                  <a:ext uri="{FF2B5EF4-FFF2-40B4-BE49-F238E27FC236}">
                    <a16:creationId xmlns:a16="http://schemas.microsoft.com/office/drawing/2014/main" id="{9BDEA806-CFC7-E5E7-C27E-BB3CFB170373}"/>
                  </a:ext>
                </a:extLst>
              </p:cNvPr>
              <p:cNvGrpSpPr/>
              <p:nvPr/>
            </p:nvGrpSpPr>
            <p:grpSpPr>
              <a:xfrm>
                <a:off x="0" y="-385762"/>
                <a:ext cx="4114793" cy="4500557"/>
                <a:chOff x="0" y="-76200"/>
                <a:chExt cx="812800" cy="889000"/>
              </a:xfrm>
            </p:grpSpPr>
            <p:sp>
              <p:nvSpPr>
                <p:cNvPr id="437" name="Google Shape;437;p25">
                  <a:extLst>
                    <a:ext uri="{FF2B5EF4-FFF2-40B4-BE49-F238E27FC236}">
                      <a16:creationId xmlns:a16="http://schemas.microsoft.com/office/drawing/2014/main" id="{D31D4D09-15DC-4F2D-189A-181AF31E4C09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12767" cy="3911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767" h="391124" extrusionOk="0">
                      <a:moveTo>
                        <a:pt x="56383" y="0"/>
                      </a:moveTo>
                      <a:lnTo>
                        <a:pt x="56383" y="0"/>
                      </a:lnTo>
                      <a:cubicBezTo>
                        <a:pt x="71337" y="0"/>
                        <a:pt x="85679" y="5940"/>
                        <a:pt x="96253" y="16514"/>
                      </a:cubicBezTo>
                      <a:cubicBezTo>
                        <a:pt x="106826" y="27088"/>
                        <a:pt x="112767" y="41430"/>
                        <a:pt x="112767" y="56383"/>
                      </a:cubicBezTo>
                      <a:lnTo>
                        <a:pt x="112767" y="334740"/>
                      </a:lnTo>
                      <a:cubicBezTo>
                        <a:pt x="112767" y="365880"/>
                        <a:pt x="87523" y="391124"/>
                        <a:pt x="56383" y="391124"/>
                      </a:cubicBezTo>
                      <a:lnTo>
                        <a:pt x="56383" y="391124"/>
                      </a:lnTo>
                      <a:cubicBezTo>
                        <a:pt x="41430" y="391124"/>
                        <a:pt x="27088" y="385183"/>
                        <a:pt x="16514" y="374609"/>
                      </a:cubicBezTo>
                      <a:cubicBezTo>
                        <a:pt x="5940" y="364035"/>
                        <a:pt x="0" y="349694"/>
                        <a:pt x="0" y="334740"/>
                      </a:cubicBezTo>
                      <a:lnTo>
                        <a:pt x="0" y="56383"/>
                      </a:lnTo>
                      <a:cubicBezTo>
                        <a:pt x="0" y="25244"/>
                        <a:pt x="25244" y="0"/>
                        <a:pt x="56383" y="0"/>
                      </a:cubicBezTo>
                      <a:close/>
                    </a:path>
                  </a:pathLst>
                </a:custGeom>
                <a:solidFill>
                  <a:srgbClr val="EBEAE6"/>
                </a:solidFill>
                <a:ln w="104775" cap="flat" cmpd="sng">
                  <a:solidFill>
                    <a:srgbClr val="3A7D4D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8" name="Google Shape;438;p25">
                  <a:extLst>
                    <a:ext uri="{FF2B5EF4-FFF2-40B4-BE49-F238E27FC236}">
                      <a16:creationId xmlns:a16="http://schemas.microsoft.com/office/drawing/2014/main" id="{82FEA4EA-D9E2-7BEF-F4D3-6BA82F78CEFF}"/>
                    </a:ext>
                  </a:extLst>
                </p:cNvPr>
                <p:cNvSpPr txBox="1"/>
                <p:nvPr/>
              </p:nvSpPr>
              <p:spPr>
                <a:xfrm>
                  <a:off x="0" y="-76200"/>
                  <a:ext cx="812800" cy="889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50800" tIns="50800" rIns="50800" bIns="508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96777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39" name="Google Shape;439;p25">
                <a:extLst>
                  <a:ext uri="{FF2B5EF4-FFF2-40B4-BE49-F238E27FC236}">
                    <a16:creationId xmlns:a16="http://schemas.microsoft.com/office/drawing/2014/main" id="{854E7891-540B-0E2B-3C88-71C4224FE421}"/>
                  </a:ext>
                </a:extLst>
              </p:cNvPr>
              <p:cNvGrpSpPr/>
              <p:nvPr/>
            </p:nvGrpSpPr>
            <p:grpSpPr>
              <a:xfrm>
                <a:off x="6305270" y="-385762"/>
                <a:ext cx="4114793" cy="4500557"/>
                <a:chOff x="0" y="-76200"/>
                <a:chExt cx="812800" cy="889000"/>
              </a:xfrm>
            </p:grpSpPr>
            <p:sp>
              <p:nvSpPr>
                <p:cNvPr id="440" name="Google Shape;440;p25">
                  <a:extLst>
                    <a:ext uri="{FF2B5EF4-FFF2-40B4-BE49-F238E27FC236}">
                      <a16:creationId xmlns:a16="http://schemas.microsoft.com/office/drawing/2014/main" id="{91DB3F32-0503-DB32-08BB-9E7049E1A5DB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12767" cy="3911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767" h="391124" extrusionOk="0">
                      <a:moveTo>
                        <a:pt x="56383" y="0"/>
                      </a:moveTo>
                      <a:lnTo>
                        <a:pt x="56383" y="0"/>
                      </a:lnTo>
                      <a:cubicBezTo>
                        <a:pt x="71337" y="0"/>
                        <a:pt x="85679" y="5940"/>
                        <a:pt x="96253" y="16514"/>
                      </a:cubicBezTo>
                      <a:cubicBezTo>
                        <a:pt x="106826" y="27088"/>
                        <a:pt x="112767" y="41430"/>
                        <a:pt x="112767" y="56383"/>
                      </a:cubicBezTo>
                      <a:lnTo>
                        <a:pt x="112767" y="334740"/>
                      </a:lnTo>
                      <a:cubicBezTo>
                        <a:pt x="112767" y="365880"/>
                        <a:pt x="87523" y="391124"/>
                        <a:pt x="56383" y="391124"/>
                      </a:cubicBezTo>
                      <a:lnTo>
                        <a:pt x="56383" y="391124"/>
                      </a:lnTo>
                      <a:cubicBezTo>
                        <a:pt x="41430" y="391124"/>
                        <a:pt x="27088" y="385183"/>
                        <a:pt x="16514" y="374609"/>
                      </a:cubicBezTo>
                      <a:cubicBezTo>
                        <a:pt x="5940" y="364035"/>
                        <a:pt x="0" y="349694"/>
                        <a:pt x="0" y="334740"/>
                      </a:cubicBezTo>
                      <a:lnTo>
                        <a:pt x="0" y="56383"/>
                      </a:lnTo>
                      <a:cubicBezTo>
                        <a:pt x="0" y="25244"/>
                        <a:pt x="25244" y="0"/>
                        <a:pt x="56383" y="0"/>
                      </a:cubicBezTo>
                      <a:close/>
                    </a:path>
                  </a:pathLst>
                </a:custGeom>
                <a:solidFill>
                  <a:srgbClr val="EBEAE6"/>
                </a:solidFill>
                <a:ln w="104775" cap="flat" cmpd="sng">
                  <a:solidFill>
                    <a:srgbClr val="3A7D4D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1" name="Google Shape;441;p25">
                  <a:extLst>
                    <a:ext uri="{FF2B5EF4-FFF2-40B4-BE49-F238E27FC236}">
                      <a16:creationId xmlns:a16="http://schemas.microsoft.com/office/drawing/2014/main" id="{DBF722D7-9B47-F8E6-DE54-5FA95F208F6B}"/>
                    </a:ext>
                  </a:extLst>
                </p:cNvPr>
                <p:cNvSpPr txBox="1"/>
                <p:nvPr/>
              </p:nvSpPr>
              <p:spPr>
                <a:xfrm>
                  <a:off x="0" y="-76200"/>
                  <a:ext cx="812800" cy="889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50800" tIns="50800" rIns="50800" bIns="508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96777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42" name="Google Shape;442;p25">
                <a:extLst>
                  <a:ext uri="{FF2B5EF4-FFF2-40B4-BE49-F238E27FC236}">
                    <a16:creationId xmlns:a16="http://schemas.microsoft.com/office/drawing/2014/main" id="{433F2347-C8EC-2669-EFD3-11B25201D346}"/>
                  </a:ext>
                </a:extLst>
              </p:cNvPr>
              <p:cNvGrpSpPr/>
              <p:nvPr/>
            </p:nvGrpSpPr>
            <p:grpSpPr>
              <a:xfrm>
                <a:off x="9457905" y="-385762"/>
                <a:ext cx="4114793" cy="4500557"/>
                <a:chOff x="0" y="-76200"/>
                <a:chExt cx="812800" cy="889000"/>
              </a:xfrm>
            </p:grpSpPr>
            <p:sp>
              <p:nvSpPr>
                <p:cNvPr id="443" name="Google Shape;443;p25">
                  <a:extLst>
                    <a:ext uri="{FF2B5EF4-FFF2-40B4-BE49-F238E27FC236}">
                      <a16:creationId xmlns:a16="http://schemas.microsoft.com/office/drawing/2014/main" id="{77D69667-EA58-D4A4-B344-0A01EC8528AB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12767" cy="3911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767" h="391124" extrusionOk="0">
                      <a:moveTo>
                        <a:pt x="56383" y="0"/>
                      </a:moveTo>
                      <a:lnTo>
                        <a:pt x="56383" y="0"/>
                      </a:lnTo>
                      <a:cubicBezTo>
                        <a:pt x="71337" y="0"/>
                        <a:pt x="85679" y="5940"/>
                        <a:pt x="96253" y="16514"/>
                      </a:cubicBezTo>
                      <a:cubicBezTo>
                        <a:pt x="106826" y="27088"/>
                        <a:pt x="112767" y="41430"/>
                        <a:pt x="112767" y="56383"/>
                      </a:cubicBezTo>
                      <a:lnTo>
                        <a:pt x="112767" y="334740"/>
                      </a:lnTo>
                      <a:cubicBezTo>
                        <a:pt x="112767" y="365880"/>
                        <a:pt x="87523" y="391124"/>
                        <a:pt x="56383" y="391124"/>
                      </a:cubicBezTo>
                      <a:lnTo>
                        <a:pt x="56383" y="391124"/>
                      </a:lnTo>
                      <a:cubicBezTo>
                        <a:pt x="41430" y="391124"/>
                        <a:pt x="27088" y="385183"/>
                        <a:pt x="16514" y="374609"/>
                      </a:cubicBezTo>
                      <a:cubicBezTo>
                        <a:pt x="5940" y="364035"/>
                        <a:pt x="0" y="349694"/>
                        <a:pt x="0" y="334740"/>
                      </a:cubicBezTo>
                      <a:lnTo>
                        <a:pt x="0" y="56383"/>
                      </a:lnTo>
                      <a:cubicBezTo>
                        <a:pt x="0" y="25244"/>
                        <a:pt x="25244" y="0"/>
                        <a:pt x="56383" y="0"/>
                      </a:cubicBezTo>
                      <a:close/>
                    </a:path>
                  </a:pathLst>
                </a:custGeom>
                <a:solidFill>
                  <a:srgbClr val="EBEAE6"/>
                </a:solidFill>
                <a:ln w="104775" cap="flat" cmpd="sng">
                  <a:solidFill>
                    <a:srgbClr val="3A7D4D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4" name="Google Shape;444;p25">
                  <a:extLst>
                    <a:ext uri="{FF2B5EF4-FFF2-40B4-BE49-F238E27FC236}">
                      <a16:creationId xmlns:a16="http://schemas.microsoft.com/office/drawing/2014/main" id="{A48EA857-503C-7027-4F36-B1D8FB6CD959}"/>
                    </a:ext>
                  </a:extLst>
                </p:cNvPr>
                <p:cNvSpPr txBox="1"/>
                <p:nvPr/>
              </p:nvSpPr>
              <p:spPr>
                <a:xfrm>
                  <a:off x="0" y="-76200"/>
                  <a:ext cx="812800" cy="889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50800" tIns="50800" rIns="50800" bIns="508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96777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51333B67-F343-63B6-8511-0142C5B1B812}"/>
              </a:ext>
            </a:extLst>
          </p:cNvPr>
          <p:cNvSpPr txBox="1"/>
          <p:nvPr/>
        </p:nvSpPr>
        <p:spPr>
          <a:xfrm>
            <a:off x="12872433" y="3733021"/>
            <a:ext cx="5172412" cy="4940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200000"/>
              </a:lnSpc>
            </a:pPr>
            <a:r>
              <a:rPr lang="en-US" sz="1600" b="1" dirty="0">
                <a:solidFill>
                  <a:srgbClr val="3A7D4D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📌  Inland AQHI distribution shifts to the right</a:t>
            </a:r>
          </a:p>
          <a:p>
            <a:pPr lvl="0">
              <a:lnSpc>
                <a:spcPct val="200000"/>
              </a:lnSpc>
            </a:pPr>
            <a:r>
              <a:rPr lang="en-US" sz="1600" b="1" dirty="0">
                <a:solidFill>
                  <a:srgbClr val="3A7D4D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📌  Inland mean AQHI = 1.92 vs coastal 1.60</a:t>
            </a:r>
          </a:p>
          <a:p>
            <a:pPr lvl="0">
              <a:lnSpc>
                <a:spcPct val="200000"/>
              </a:lnSpc>
            </a:pPr>
            <a:r>
              <a:rPr lang="en-US" sz="1600" b="1" dirty="0">
                <a:solidFill>
                  <a:srgbClr val="3A7D4D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📌  Difference is statistically significant (p &lt; 0.001)</a:t>
            </a:r>
          </a:p>
          <a:p>
            <a:pPr lvl="0">
              <a:lnSpc>
                <a:spcPct val="200000"/>
              </a:lnSpc>
            </a:pPr>
            <a:r>
              <a:rPr lang="en-US" sz="1600" b="1" dirty="0">
                <a:solidFill>
                  <a:srgbClr val="3A7D4D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📌  Supports hypothesis: inland cities accumulate more pollution</a:t>
            </a:r>
          </a:p>
          <a:p>
            <a:pPr lvl="0">
              <a:lnSpc>
                <a:spcPct val="200000"/>
              </a:lnSpc>
            </a:pPr>
            <a:r>
              <a:rPr lang="en-US" sz="1600" b="1" dirty="0">
                <a:solidFill>
                  <a:srgbClr val="3A7D4D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📌  Coastal cities have a tighter, more concentrated distribution around low AQHI (1.3–1.7).</a:t>
            </a:r>
          </a:p>
          <a:p>
            <a:pPr lvl="0">
              <a:lnSpc>
                <a:spcPct val="200000"/>
              </a:lnSpc>
            </a:pPr>
            <a:r>
              <a:rPr lang="en-US" sz="1600" b="1" dirty="0">
                <a:solidFill>
                  <a:srgbClr val="3A7D4D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📌  Inland cities show a wider spread with more high-AQHI observations (2.2–3.5).</a:t>
            </a:r>
          </a:p>
          <a:p>
            <a:pPr lvl="0">
              <a:lnSpc>
                <a:spcPct val="200000"/>
              </a:lnSpc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8863330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DB898"/>
        </a:solidFill>
        <a:effectLst/>
      </p:bgPr>
    </p:bg>
    <p:spTree>
      <p:nvGrpSpPr>
        <p:cNvPr id="1" name="Shape 416">
          <a:extLst>
            <a:ext uri="{FF2B5EF4-FFF2-40B4-BE49-F238E27FC236}">
              <a16:creationId xmlns:a16="http://schemas.microsoft.com/office/drawing/2014/main" id="{76D27DC9-29D7-F575-EF71-51BF6FB39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2" name="Google Shape;422;p25">
            <a:extLst>
              <a:ext uri="{FF2B5EF4-FFF2-40B4-BE49-F238E27FC236}">
                <a16:creationId xmlns:a16="http://schemas.microsoft.com/office/drawing/2014/main" id="{5D8C1BD3-7384-C444-2D84-219BDE1825F2}"/>
              </a:ext>
            </a:extLst>
          </p:cNvPr>
          <p:cNvGrpSpPr/>
          <p:nvPr/>
        </p:nvGrpSpPr>
        <p:grpSpPr>
          <a:xfrm>
            <a:off x="12517201" y="284297"/>
            <a:ext cx="5349298" cy="9573746"/>
            <a:chOff x="0" y="-38100"/>
            <a:chExt cx="1408869" cy="2521480"/>
          </a:xfrm>
        </p:grpSpPr>
        <p:sp>
          <p:nvSpPr>
            <p:cNvPr id="423" name="Google Shape;423;p25">
              <a:extLst>
                <a:ext uri="{FF2B5EF4-FFF2-40B4-BE49-F238E27FC236}">
                  <a16:creationId xmlns:a16="http://schemas.microsoft.com/office/drawing/2014/main" id="{909C6755-4B21-5724-E9F9-D7BE92809853}"/>
                </a:ext>
              </a:extLst>
            </p:cNvPr>
            <p:cNvSpPr/>
            <p:nvPr/>
          </p:nvSpPr>
          <p:spPr>
            <a:xfrm>
              <a:off x="0" y="0"/>
              <a:ext cx="1408869" cy="2483380"/>
            </a:xfrm>
            <a:custGeom>
              <a:avLst/>
              <a:gdLst/>
              <a:ahLst/>
              <a:cxnLst/>
              <a:rect l="l" t="t" r="r" b="b"/>
              <a:pathLst>
                <a:path w="1408869" h="2483380" extrusionOk="0">
                  <a:moveTo>
                    <a:pt x="1329450" y="0"/>
                  </a:moveTo>
                  <a:lnTo>
                    <a:pt x="79418" y="0"/>
                  </a:lnTo>
                  <a:cubicBezTo>
                    <a:pt x="79418" y="43699"/>
                    <a:pt x="44079" y="79418"/>
                    <a:pt x="0" y="79418"/>
                  </a:cubicBezTo>
                  <a:lnTo>
                    <a:pt x="0" y="2403962"/>
                  </a:lnTo>
                  <a:cubicBezTo>
                    <a:pt x="43699" y="2403962"/>
                    <a:pt x="79418" y="2439301"/>
                    <a:pt x="79418" y="2483380"/>
                  </a:cubicBezTo>
                  <a:lnTo>
                    <a:pt x="1329450" y="2483380"/>
                  </a:lnTo>
                  <a:cubicBezTo>
                    <a:pt x="1329450" y="2439681"/>
                    <a:pt x="1364789" y="2403962"/>
                    <a:pt x="1408869" y="2403962"/>
                  </a:cubicBezTo>
                  <a:lnTo>
                    <a:pt x="1408869" y="79418"/>
                  </a:lnTo>
                  <a:cubicBezTo>
                    <a:pt x="1365169" y="79418"/>
                    <a:pt x="1329450" y="44079"/>
                    <a:pt x="1329450" y="0"/>
                  </a:cubicBezTo>
                  <a:close/>
                </a:path>
              </a:pathLst>
            </a:custGeom>
            <a:solidFill>
              <a:srgbClr val="EBEAE6"/>
            </a:solidFill>
            <a:ln w="104775" cap="flat" cmpd="sng">
              <a:solidFill>
                <a:srgbClr val="3A7D4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25">
              <a:extLst>
                <a:ext uri="{FF2B5EF4-FFF2-40B4-BE49-F238E27FC236}">
                  <a16:creationId xmlns:a16="http://schemas.microsoft.com/office/drawing/2014/main" id="{FA333F57-2850-A187-8A39-418FDEF68F62}"/>
                </a:ext>
              </a:extLst>
            </p:cNvPr>
            <p:cNvSpPr txBox="1"/>
            <p:nvPr/>
          </p:nvSpPr>
          <p:spPr>
            <a:xfrm>
              <a:off x="38100" y="-38100"/>
              <a:ext cx="736600" cy="81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6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26" name="Google Shape;426;p25">
            <a:extLst>
              <a:ext uri="{FF2B5EF4-FFF2-40B4-BE49-F238E27FC236}">
                <a16:creationId xmlns:a16="http://schemas.microsoft.com/office/drawing/2014/main" id="{4F6462FB-D0B0-722C-3535-AEEB76832183}"/>
              </a:ext>
            </a:extLst>
          </p:cNvPr>
          <p:cNvGrpSpPr/>
          <p:nvPr/>
        </p:nvGrpSpPr>
        <p:grpSpPr>
          <a:xfrm>
            <a:off x="13023052" y="1286718"/>
            <a:ext cx="4422740" cy="3498763"/>
            <a:chOff x="0" y="-4025787"/>
            <a:chExt cx="5896988" cy="4665018"/>
          </a:xfrm>
        </p:grpSpPr>
        <p:sp>
          <p:nvSpPr>
            <p:cNvPr id="427" name="Google Shape;427;p25">
              <a:extLst>
                <a:ext uri="{FF2B5EF4-FFF2-40B4-BE49-F238E27FC236}">
                  <a16:creationId xmlns:a16="http://schemas.microsoft.com/office/drawing/2014/main" id="{C4179C38-6145-33D2-BE20-FEFCC78300E4}"/>
                </a:ext>
              </a:extLst>
            </p:cNvPr>
            <p:cNvSpPr txBox="1"/>
            <p:nvPr/>
          </p:nvSpPr>
          <p:spPr>
            <a:xfrm>
              <a:off x="113588" y="-4025787"/>
              <a:ext cx="5783400" cy="196977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 algn="ctr"/>
              <a:r>
                <a:rPr lang="en-US" sz="3200" b="1" dirty="0">
                  <a:solidFill>
                    <a:srgbClr val="3A7D4D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How Do AQHI Distributions Differ Across Cities?</a:t>
              </a:r>
              <a:endParaRPr sz="3200" dirty="0"/>
            </a:p>
          </p:txBody>
        </p:sp>
        <p:sp>
          <p:nvSpPr>
            <p:cNvPr id="428" name="Google Shape;428;p25">
              <a:extLst>
                <a:ext uri="{FF2B5EF4-FFF2-40B4-BE49-F238E27FC236}">
                  <a16:creationId xmlns:a16="http://schemas.microsoft.com/office/drawing/2014/main" id="{4B9E0492-E84F-7BB9-BC10-BEA0F41022E6}"/>
                </a:ext>
              </a:extLst>
            </p:cNvPr>
            <p:cNvSpPr txBox="1"/>
            <p:nvPr/>
          </p:nvSpPr>
          <p:spPr>
            <a:xfrm>
              <a:off x="0" y="438150"/>
              <a:ext cx="5783400" cy="20108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429" name="Google Shape;429;p25">
            <a:extLst>
              <a:ext uri="{FF2B5EF4-FFF2-40B4-BE49-F238E27FC236}">
                <a16:creationId xmlns:a16="http://schemas.microsoft.com/office/drawing/2014/main" id="{16E26D30-4A40-6D13-5B9F-8F5B2A38867E}"/>
              </a:ext>
            </a:extLst>
          </p:cNvPr>
          <p:cNvGrpSpPr/>
          <p:nvPr/>
        </p:nvGrpSpPr>
        <p:grpSpPr>
          <a:xfrm>
            <a:off x="14977769" y="-776971"/>
            <a:ext cx="3086099" cy="3375417"/>
            <a:chOff x="0" y="-76200"/>
            <a:chExt cx="812800" cy="889000"/>
          </a:xfrm>
        </p:grpSpPr>
        <p:sp>
          <p:nvSpPr>
            <p:cNvPr id="430" name="Google Shape;430;p25">
              <a:extLst>
                <a:ext uri="{FF2B5EF4-FFF2-40B4-BE49-F238E27FC236}">
                  <a16:creationId xmlns:a16="http://schemas.microsoft.com/office/drawing/2014/main" id="{640F24F4-D163-17F5-C049-FB12203E7754}"/>
                </a:ext>
              </a:extLst>
            </p:cNvPr>
            <p:cNvSpPr/>
            <p:nvPr/>
          </p:nvSpPr>
          <p:spPr>
            <a:xfrm>
              <a:off x="0" y="0"/>
              <a:ext cx="112767" cy="391124"/>
            </a:xfrm>
            <a:custGeom>
              <a:avLst/>
              <a:gdLst/>
              <a:ahLst/>
              <a:cxnLst/>
              <a:rect l="l" t="t" r="r" b="b"/>
              <a:pathLst>
                <a:path w="112767" h="391124" extrusionOk="0">
                  <a:moveTo>
                    <a:pt x="56383" y="0"/>
                  </a:moveTo>
                  <a:lnTo>
                    <a:pt x="56383" y="0"/>
                  </a:lnTo>
                  <a:cubicBezTo>
                    <a:pt x="71337" y="0"/>
                    <a:pt x="85679" y="5940"/>
                    <a:pt x="96253" y="16514"/>
                  </a:cubicBezTo>
                  <a:cubicBezTo>
                    <a:pt x="106826" y="27088"/>
                    <a:pt x="112767" y="41430"/>
                    <a:pt x="112767" y="56383"/>
                  </a:cubicBezTo>
                  <a:lnTo>
                    <a:pt x="112767" y="334740"/>
                  </a:lnTo>
                  <a:cubicBezTo>
                    <a:pt x="112767" y="365880"/>
                    <a:pt x="87523" y="391124"/>
                    <a:pt x="56383" y="391124"/>
                  </a:cubicBezTo>
                  <a:lnTo>
                    <a:pt x="56383" y="391124"/>
                  </a:lnTo>
                  <a:cubicBezTo>
                    <a:pt x="41430" y="391124"/>
                    <a:pt x="27088" y="385183"/>
                    <a:pt x="16514" y="374609"/>
                  </a:cubicBezTo>
                  <a:cubicBezTo>
                    <a:pt x="5940" y="364035"/>
                    <a:pt x="0" y="349694"/>
                    <a:pt x="0" y="334740"/>
                  </a:cubicBezTo>
                  <a:lnTo>
                    <a:pt x="0" y="56383"/>
                  </a:lnTo>
                  <a:cubicBezTo>
                    <a:pt x="0" y="25244"/>
                    <a:pt x="25244" y="0"/>
                    <a:pt x="56383" y="0"/>
                  </a:cubicBezTo>
                  <a:close/>
                </a:path>
              </a:pathLst>
            </a:custGeom>
            <a:solidFill>
              <a:srgbClr val="EBEAE6"/>
            </a:solidFill>
            <a:ln w="104775" cap="flat" cmpd="sng">
              <a:solidFill>
                <a:srgbClr val="3A7D4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25">
              <a:extLst>
                <a:ext uri="{FF2B5EF4-FFF2-40B4-BE49-F238E27FC236}">
                  <a16:creationId xmlns:a16="http://schemas.microsoft.com/office/drawing/2014/main" id="{92E706A5-E238-074D-7B83-EA0C4AD5CBA6}"/>
                </a:ext>
              </a:extLst>
            </p:cNvPr>
            <p:cNvSpPr txBox="1"/>
            <p:nvPr/>
          </p:nvSpPr>
          <p:spPr>
            <a:xfrm>
              <a:off x="0" y="-76200"/>
              <a:ext cx="812800" cy="889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6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7" name="Google Shape;417;p25">
            <a:extLst>
              <a:ext uri="{FF2B5EF4-FFF2-40B4-BE49-F238E27FC236}">
                <a16:creationId xmlns:a16="http://schemas.microsoft.com/office/drawing/2014/main" id="{5B69D232-B202-EE90-6C41-586BFF40499B}"/>
              </a:ext>
            </a:extLst>
          </p:cNvPr>
          <p:cNvGrpSpPr/>
          <p:nvPr/>
        </p:nvGrpSpPr>
        <p:grpSpPr>
          <a:xfrm>
            <a:off x="293421" y="1335273"/>
            <a:ext cx="11708767" cy="7566166"/>
            <a:chOff x="0" y="-38100"/>
            <a:chExt cx="3083790" cy="1992735"/>
          </a:xfrm>
        </p:grpSpPr>
        <p:sp>
          <p:nvSpPr>
            <p:cNvPr id="418" name="Google Shape;418;p25">
              <a:extLst>
                <a:ext uri="{FF2B5EF4-FFF2-40B4-BE49-F238E27FC236}">
                  <a16:creationId xmlns:a16="http://schemas.microsoft.com/office/drawing/2014/main" id="{6DC48058-431C-15B2-34B6-8C5A05A7EA41}"/>
                </a:ext>
              </a:extLst>
            </p:cNvPr>
            <p:cNvSpPr/>
            <p:nvPr/>
          </p:nvSpPr>
          <p:spPr>
            <a:xfrm>
              <a:off x="0" y="0"/>
              <a:ext cx="3083790" cy="1954635"/>
            </a:xfrm>
            <a:custGeom>
              <a:avLst/>
              <a:gdLst/>
              <a:ahLst/>
              <a:cxnLst/>
              <a:rect l="l" t="t" r="r" b="b"/>
              <a:pathLst>
                <a:path w="3083790" h="1954635" extrusionOk="0">
                  <a:moveTo>
                    <a:pt x="3004372" y="0"/>
                  </a:moveTo>
                  <a:lnTo>
                    <a:pt x="79418" y="0"/>
                  </a:lnTo>
                  <a:cubicBezTo>
                    <a:pt x="79418" y="43699"/>
                    <a:pt x="44079" y="79418"/>
                    <a:pt x="0" y="79418"/>
                  </a:cubicBezTo>
                  <a:lnTo>
                    <a:pt x="0" y="1875217"/>
                  </a:lnTo>
                  <a:cubicBezTo>
                    <a:pt x="43699" y="1875217"/>
                    <a:pt x="79418" y="1910556"/>
                    <a:pt x="79418" y="1954635"/>
                  </a:cubicBezTo>
                  <a:lnTo>
                    <a:pt x="3004372" y="1954635"/>
                  </a:lnTo>
                  <a:cubicBezTo>
                    <a:pt x="3004372" y="1910935"/>
                    <a:pt x="3039711" y="1875217"/>
                    <a:pt x="3083790" y="1875217"/>
                  </a:cubicBezTo>
                  <a:lnTo>
                    <a:pt x="3083790" y="79418"/>
                  </a:lnTo>
                  <a:cubicBezTo>
                    <a:pt x="3040091" y="79418"/>
                    <a:pt x="3004372" y="44079"/>
                    <a:pt x="3004372" y="0"/>
                  </a:cubicBezTo>
                  <a:close/>
                </a:path>
              </a:pathLst>
            </a:custGeom>
            <a:solidFill>
              <a:srgbClr val="EBEAE6"/>
            </a:solidFill>
            <a:ln w="104775" cap="flat" cmpd="sng">
              <a:solidFill>
                <a:srgbClr val="3A7D4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25">
              <a:extLst>
                <a:ext uri="{FF2B5EF4-FFF2-40B4-BE49-F238E27FC236}">
                  <a16:creationId xmlns:a16="http://schemas.microsoft.com/office/drawing/2014/main" id="{9BABA70C-7B59-5EA6-BE64-5880874D817C}"/>
                </a:ext>
              </a:extLst>
            </p:cNvPr>
            <p:cNvSpPr txBox="1"/>
            <p:nvPr/>
          </p:nvSpPr>
          <p:spPr>
            <a:xfrm>
              <a:off x="38100" y="-38100"/>
              <a:ext cx="736600" cy="81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6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20" name="Google Shape;420;p25">
            <a:extLst>
              <a:ext uri="{FF2B5EF4-FFF2-40B4-BE49-F238E27FC236}">
                <a16:creationId xmlns:a16="http://schemas.microsoft.com/office/drawing/2014/main" id="{BD013394-ABA7-1F8A-3822-1FEB3614EC0E}"/>
              </a:ext>
            </a:extLst>
          </p:cNvPr>
          <p:cNvSpPr/>
          <p:nvPr/>
        </p:nvSpPr>
        <p:spPr>
          <a:xfrm>
            <a:off x="1102951" y="2363051"/>
            <a:ext cx="9794592" cy="5486412"/>
          </a:xfrm>
          <a:custGeom>
            <a:avLst/>
            <a:gdLst/>
            <a:ahLst/>
            <a:cxnLst/>
            <a:rect l="l" t="t" r="r" b="b"/>
            <a:pathLst>
              <a:path w="2586616" h="1476985" extrusionOk="0">
                <a:moveTo>
                  <a:pt x="0" y="0"/>
                </a:moveTo>
                <a:lnTo>
                  <a:pt x="2586616" y="0"/>
                </a:lnTo>
                <a:lnTo>
                  <a:pt x="2586616" y="1476985"/>
                </a:lnTo>
                <a:lnTo>
                  <a:pt x="0" y="147698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04775" cap="flat" cmpd="sng">
            <a:solidFill>
              <a:srgbClr val="3A7D4D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432" name="Google Shape;432;p25">
            <a:extLst>
              <a:ext uri="{FF2B5EF4-FFF2-40B4-BE49-F238E27FC236}">
                <a16:creationId xmlns:a16="http://schemas.microsoft.com/office/drawing/2014/main" id="{AFB3758A-8828-96A6-566B-D5661EA94359}"/>
              </a:ext>
            </a:extLst>
          </p:cNvPr>
          <p:cNvGrpSpPr/>
          <p:nvPr/>
        </p:nvGrpSpPr>
        <p:grpSpPr>
          <a:xfrm>
            <a:off x="1976440" y="121749"/>
            <a:ext cx="10179524" cy="3375417"/>
            <a:chOff x="0" y="-385762"/>
            <a:chExt cx="13572698" cy="4500557"/>
          </a:xfrm>
        </p:grpSpPr>
        <p:grpSp>
          <p:nvGrpSpPr>
            <p:cNvPr id="433" name="Google Shape;433;p25">
              <a:extLst>
                <a:ext uri="{FF2B5EF4-FFF2-40B4-BE49-F238E27FC236}">
                  <a16:creationId xmlns:a16="http://schemas.microsoft.com/office/drawing/2014/main" id="{04F02C62-E852-22DB-AC59-5143384B8399}"/>
                </a:ext>
              </a:extLst>
            </p:cNvPr>
            <p:cNvGrpSpPr/>
            <p:nvPr/>
          </p:nvGrpSpPr>
          <p:grpSpPr>
            <a:xfrm>
              <a:off x="3152635" y="-385762"/>
              <a:ext cx="4114793" cy="4500557"/>
              <a:chOff x="0" y="-76200"/>
              <a:chExt cx="812800" cy="889000"/>
            </a:xfrm>
          </p:grpSpPr>
          <p:sp>
            <p:nvSpPr>
              <p:cNvPr id="434" name="Google Shape;434;p25">
                <a:extLst>
                  <a:ext uri="{FF2B5EF4-FFF2-40B4-BE49-F238E27FC236}">
                    <a16:creationId xmlns:a16="http://schemas.microsoft.com/office/drawing/2014/main" id="{1895B41D-CF0B-06AC-12DD-754E13DCD048}"/>
                  </a:ext>
                </a:extLst>
              </p:cNvPr>
              <p:cNvSpPr/>
              <p:nvPr/>
            </p:nvSpPr>
            <p:spPr>
              <a:xfrm>
                <a:off x="0" y="0"/>
                <a:ext cx="112767" cy="391124"/>
              </a:xfrm>
              <a:custGeom>
                <a:avLst/>
                <a:gdLst/>
                <a:ahLst/>
                <a:cxnLst/>
                <a:rect l="l" t="t" r="r" b="b"/>
                <a:pathLst>
                  <a:path w="112767" h="391124" extrusionOk="0">
                    <a:moveTo>
                      <a:pt x="56383" y="0"/>
                    </a:moveTo>
                    <a:lnTo>
                      <a:pt x="56383" y="0"/>
                    </a:lnTo>
                    <a:cubicBezTo>
                      <a:pt x="71337" y="0"/>
                      <a:pt x="85679" y="5940"/>
                      <a:pt x="96253" y="16514"/>
                    </a:cubicBezTo>
                    <a:cubicBezTo>
                      <a:pt x="106826" y="27088"/>
                      <a:pt x="112767" y="41430"/>
                      <a:pt x="112767" y="56383"/>
                    </a:cubicBezTo>
                    <a:lnTo>
                      <a:pt x="112767" y="334740"/>
                    </a:lnTo>
                    <a:cubicBezTo>
                      <a:pt x="112767" y="365880"/>
                      <a:pt x="87523" y="391124"/>
                      <a:pt x="56383" y="391124"/>
                    </a:cubicBezTo>
                    <a:lnTo>
                      <a:pt x="56383" y="391124"/>
                    </a:lnTo>
                    <a:cubicBezTo>
                      <a:pt x="41430" y="391124"/>
                      <a:pt x="27088" y="385183"/>
                      <a:pt x="16514" y="374609"/>
                    </a:cubicBezTo>
                    <a:cubicBezTo>
                      <a:pt x="5940" y="364035"/>
                      <a:pt x="0" y="349694"/>
                      <a:pt x="0" y="334740"/>
                    </a:cubicBezTo>
                    <a:lnTo>
                      <a:pt x="0" y="56383"/>
                    </a:lnTo>
                    <a:cubicBezTo>
                      <a:pt x="0" y="25244"/>
                      <a:pt x="25244" y="0"/>
                      <a:pt x="56383" y="0"/>
                    </a:cubicBezTo>
                    <a:close/>
                  </a:path>
                </a:pathLst>
              </a:custGeom>
              <a:solidFill>
                <a:srgbClr val="EBEAE6"/>
              </a:solidFill>
              <a:ln w="104775" cap="flat" cmpd="sng">
                <a:solidFill>
                  <a:srgbClr val="3A7D4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" name="Google Shape;435;p25">
                <a:extLst>
                  <a:ext uri="{FF2B5EF4-FFF2-40B4-BE49-F238E27FC236}">
                    <a16:creationId xmlns:a16="http://schemas.microsoft.com/office/drawing/2014/main" id="{B1EE23D5-7411-C13E-37FE-80DCF2E03E5D}"/>
                  </a:ext>
                </a:extLst>
              </p:cNvPr>
              <p:cNvSpPr txBox="1"/>
              <p:nvPr/>
            </p:nvSpPr>
            <p:spPr>
              <a:xfrm>
                <a:off x="0" y="-76200"/>
                <a:ext cx="812800" cy="889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96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36" name="Google Shape;436;p25">
              <a:extLst>
                <a:ext uri="{FF2B5EF4-FFF2-40B4-BE49-F238E27FC236}">
                  <a16:creationId xmlns:a16="http://schemas.microsoft.com/office/drawing/2014/main" id="{287E17BE-6839-3CBB-59B0-064AD6874B87}"/>
                </a:ext>
              </a:extLst>
            </p:cNvPr>
            <p:cNvGrpSpPr/>
            <p:nvPr/>
          </p:nvGrpSpPr>
          <p:grpSpPr>
            <a:xfrm>
              <a:off x="0" y="-385762"/>
              <a:ext cx="4114793" cy="4500557"/>
              <a:chOff x="0" y="-76200"/>
              <a:chExt cx="812800" cy="889000"/>
            </a:xfrm>
          </p:grpSpPr>
          <p:sp>
            <p:nvSpPr>
              <p:cNvPr id="437" name="Google Shape;437;p25">
                <a:extLst>
                  <a:ext uri="{FF2B5EF4-FFF2-40B4-BE49-F238E27FC236}">
                    <a16:creationId xmlns:a16="http://schemas.microsoft.com/office/drawing/2014/main" id="{1732F6A0-0199-A7D8-A43F-ACA99CED8E35}"/>
                  </a:ext>
                </a:extLst>
              </p:cNvPr>
              <p:cNvSpPr/>
              <p:nvPr/>
            </p:nvSpPr>
            <p:spPr>
              <a:xfrm>
                <a:off x="0" y="0"/>
                <a:ext cx="112767" cy="391124"/>
              </a:xfrm>
              <a:custGeom>
                <a:avLst/>
                <a:gdLst/>
                <a:ahLst/>
                <a:cxnLst/>
                <a:rect l="l" t="t" r="r" b="b"/>
                <a:pathLst>
                  <a:path w="112767" h="391124" extrusionOk="0">
                    <a:moveTo>
                      <a:pt x="56383" y="0"/>
                    </a:moveTo>
                    <a:lnTo>
                      <a:pt x="56383" y="0"/>
                    </a:lnTo>
                    <a:cubicBezTo>
                      <a:pt x="71337" y="0"/>
                      <a:pt x="85679" y="5940"/>
                      <a:pt x="96253" y="16514"/>
                    </a:cubicBezTo>
                    <a:cubicBezTo>
                      <a:pt x="106826" y="27088"/>
                      <a:pt x="112767" y="41430"/>
                      <a:pt x="112767" y="56383"/>
                    </a:cubicBezTo>
                    <a:lnTo>
                      <a:pt x="112767" y="334740"/>
                    </a:lnTo>
                    <a:cubicBezTo>
                      <a:pt x="112767" y="365880"/>
                      <a:pt x="87523" y="391124"/>
                      <a:pt x="56383" y="391124"/>
                    </a:cubicBezTo>
                    <a:lnTo>
                      <a:pt x="56383" y="391124"/>
                    </a:lnTo>
                    <a:cubicBezTo>
                      <a:pt x="41430" y="391124"/>
                      <a:pt x="27088" y="385183"/>
                      <a:pt x="16514" y="374609"/>
                    </a:cubicBezTo>
                    <a:cubicBezTo>
                      <a:pt x="5940" y="364035"/>
                      <a:pt x="0" y="349694"/>
                      <a:pt x="0" y="334740"/>
                    </a:cubicBezTo>
                    <a:lnTo>
                      <a:pt x="0" y="56383"/>
                    </a:lnTo>
                    <a:cubicBezTo>
                      <a:pt x="0" y="25244"/>
                      <a:pt x="25244" y="0"/>
                      <a:pt x="56383" y="0"/>
                    </a:cubicBezTo>
                    <a:close/>
                  </a:path>
                </a:pathLst>
              </a:custGeom>
              <a:solidFill>
                <a:srgbClr val="EBEAE6"/>
              </a:solidFill>
              <a:ln w="104775" cap="flat" cmpd="sng">
                <a:solidFill>
                  <a:srgbClr val="3A7D4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" name="Google Shape;438;p25">
                <a:extLst>
                  <a:ext uri="{FF2B5EF4-FFF2-40B4-BE49-F238E27FC236}">
                    <a16:creationId xmlns:a16="http://schemas.microsoft.com/office/drawing/2014/main" id="{74812D35-034F-ED40-43E8-741B90C9A92B}"/>
                  </a:ext>
                </a:extLst>
              </p:cNvPr>
              <p:cNvSpPr txBox="1"/>
              <p:nvPr/>
            </p:nvSpPr>
            <p:spPr>
              <a:xfrm>
                <a:off x="0" y="-76200"/>
                <a:ext cx="812800" cy="889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96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39" name="Google Shape;439;p25">
              <a:extLst>
                <a:ext uri="{FF2B5EF4-FFF2-40B4-BE49-F238E27FC236}">
                  <a16:creationId xmlns:a16="http://schemas.microsoft.com/office/drawing/2014/main" id="{780D1D33-1ADD-C203-5084-E1B13B6DBBDF}"/>
                </a:ext>
              </a:extLst>
            </p:cNvPr>
            <p:cNvGrpSpPr/>
            <p:nvPr/>
          </p:nvGrpSpPr>
          <p:grpSpPr>
            <a:xfrm>
              <a:off x="6305270" y="-385762"/>
              <a:ext cx="4114793" cy="4500557"/>
              <a:chOff x="0" y="-76200"/>
              <a:chExt cx="812800" cy="889000"/>
            </a:xfrm>
          </p:grpSpPr>
          <p:sp>
            <p:nvSpPr>
              <p:cNvPr id="440" name="Google Shape;440;p25">
                <a:extLst>
                  <a:ext uri="{FF2B5EF4-FFF2-40B4-BE49-F238E27FC236}">
                    <a16:creationId xmlns:a16="http://schemas.microsoft.com/office/drawing/2014/main" id="{19B50463-E081-AB8A-EB5A-B28CA07C7135}"/>
                  </a:ext>
                </a:extLst>
              </p:cNvPr>
              <p:cNvSpPr/>
              <p:nvPr/>
            </p:nvSpPr>
            <p:spPr>
              <a:xfrm>
                <a:off x="0" y="0"/>
                <a:ext cx="112767" cy="391124"/>
              </a:xfrm>
              <a:custGeom>
                <a:avLst/>
                <a:gdLst/>
                <a:ahLst/>
                <a:cxnLst/>
                <a:rect l="l" t="t" r="r" b="b"/>
                <a:pathLst>
                  <a:path w="112767" h="391124" extrusionOk="0">
                    <a:moveTo>
                      <a:pt x="56383" y="0"/>
                    </a:moveTo>
                    <a:lnTo>
                      <a:pt x="56383" y="0"/>
                    </a:lnTo>
                    <a:cubicBezTo>
                      <a:pt x="71337" y="0"/>
                      <a:pt x="85679" y="5940"/>
                      <a:pt x="96253" y="16514"/>
                    </a:cubicBezTo>
                    <a:cubicBezTo>
                      <a:pt x="106826" y="27088"/>
                      <a:pt x="112767" y="41430"/>
                      <a:pt x="112767" y="56383"/>
                    </a:cubicBezTo>
                    <a:lnTo>
                      <a:pt x="112767" y="334740"/>
                    </a:lnTo>
                    <a:cubicBezTo>
                      <a:pt x="112767" y="365880"/>
                      <a:pt x="87523" y="391124"/>
                      <a:pt x="56383" y="391124"/>
                    </a:cubicBezTo>
                    <a:lnTo>
                      <a:pt x="56383" y="391124"/>
                    </a:lnTo>
                    <a:cubicBezTo>
                      <a:pt x="41430" y="391124"/>
                      <a:pt x="27088" y="385183"/>
                      <a:pt x="16514" y="374609"/>
                    </a:cubicBezTo>
                    <a:cubicBezTo>
                      <a:pt x="5940" y="364035"/>
                      <a:pt x="0" y="349694"/>
                      <a:pt x="0" y="334740"/>
                    </a:cubicBezTo>
                    <a:lnTo>
                      <a:pt x="0" y="56383"/>
                    </a:lnTo>
                    <a:cubicBezTo>
                      <a:pt x="0" y="25244"/>
                      <a:pt x="25244" y="0"/>
                      <a:pt x="56383" y="0"/>
                    </a:cubicBezTo>
                    <a:close/>
                  </a:path>
                </a:pathLst>
              </a:custGeom>
              <a:solidFill>
                <a:srgbClr val="EBEAE6"/>
              </a:solidFill>
              <a:ln w="104775" cap="flat" cmpd="sng">
                <a:solidFill>
                  <a:srgbClr val="3A7D4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" name="Google Shape;441;p25">
                <a:extLst>
                  <a:ext uri="{FF2B5EF4-FFF2-40B4-BE49-F238E27FC236}">
                    <a16:creationId xmlns:a16="http://schemas.microsoft.com/office/drawing/2014/main" id="{B86D980D-AB88-2ADE-99A9-3A959C6F71FB}"/>
                  </a:ext>
                </a:extLst>
              </p:cNvPr>
              <p:cNvSpPr txBox="1"/>
              <p:nvPr/>
            </p:nvSpPr>
            <p:spPr>
              <a:xfrm>
                <a:off x="0" y="-76200"/>
                <a:ext cx="812800" cy="889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96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42" name="Google Shape;442;p25">
              <a:extLst>
                <a:ext uri="{FF2B5EF4-FFF2-40B4-BE49-F238E27FC236}">
                  <a16:creationId xmlns:a16="http://schemas.microsoft.com/office/drawing/2014/main" id="{453C8F3D-A7C5-675E-80D7-F8801AA3BF46}"/>
                </a:ext>
              </a:extLst>
            </p:cNvPr>
            <p:cNvGrpSpPr/>
            <p:nvPr/>
          </p:nvGrpSpPr>
          <p:grpSpPr>
            <a:xfrm>
              <a:off x="9457905" y="-385762"/>
              <a:ext cx="4114793" cy="4500557"/>
              <a:chOff x="0" y="-76200"/>
              <a:chExt cx="812800" cy="889000"/>
            </a:xfrm>
          </p:grpSpPr>
          <p:sp>
            <p:nvSpPr>
              <p:cNvPr id="443" name="Google Shape;443;p25">
                <a:extLst>
                  <a:ext uri="{FF2B5EF4-FFF2-40B4-BE49-F238E27FC236}">
                    <a16:creationId xmlns:a16="http://schemas.microsoft.com/office/drawing/2014/main" id="{ED4723AC-A775-5A9D-67A4-98926998AA9A}"/>
                  </a:ext>
                </a:extLst>
              </p:cNvPr>
              <p:cNvSpPr/>
              <p:nvPr/>
            </p:nvSpPr>
            <p:spPr>
              <a:xfrm>
                <a:off x="0" y="0"/>
                <a:ext cx="112767" cy="391124"/>
              </a:xfrm>
              <a:custGeom>
                <a:avLst/>
                <a:gdLst/>
                <a:ahLst/>
                <a:cxnLst/>
                <a:rect l="l" t="t" r="r" b="b"/>
                <a:pathLst>
                  <a:path w="112767" h="391124" extrusionOk="0">
                    <a:moveTo>
                      <a:pt x="56383" y="0"/>
                    </a:moveTo>
                    <a:lnTo>
                      <a:pt x="56383" y="0"/>
                    </a:lnTo>
                    <a:cubicBezTo>
                      <a:pt x="71337" y="0"/>
                      <a:pt x="85679" y="5940"/>
                      <a:pt x="96253" y="16514"/>
                    </a:cubicBezTo>
                    <a:cubicBezTo>
                      <a:pt x="106826" y="27088"/>
                      <a:pt x="112767" y="41430"/>
                      <a:pt x="112767" y="56383"/>
                    </a:cubicBezTo>
                    <a:lnTo>
                      <a:pt x="112767" y="334740"/>
                    </a:lnTo>
                    <a:cubicBezTo>
                      <a:pt x="112767" y="365880"/>
                      <a:pt x="87523" y="391124"/>
                      <a:pt x="56383" y="391124"/>
                    </a:cubicBezTo>
                    <a:lnTo>
                      <a:pt x="56383" y="391124"/>
                    </a:lnTo>
                    <a:cubicBezTo>
                      <a:pt x="41430" y="391124"/>
                      <a:pt x="27088" y="385183"/>
                      <a:pt x="16514" y="374609"/>
                    </a:cubicBezTo>
                    <a:cubicBezTo>
                      <a:pt x="5940" y="364035"/>
                      <a:pt x="0" y="349694"/>
                      <a:pt x="0" y="334740"/>
                    </a:cubicBezTo>
                    <a:lnTo>
                      <a:pt x="0" y="56383"/>
                    </a:lnTo>
                    <a:cubicBezTo>
                      <a:pt x="0" y="25244"/>
                      <a:pt x="25244" y="0"/>
                      <a:pt x="56383" y="0"/>
                    </a:cubicBezTo>
                    <a:close/>
                  </a:path>
                </a:pathLst>
              </a:custGeom>
              <a:solidFill>
                <a:srgbClr val="EBEAE6"/>
              </a:solidFill>
              <a:ln w="104775" cap="flat" cmpd="sng">
                <a:solidFill>
                  <a:srgbClr val="3A7D4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" name="Google Shape;444;p25">
                <a:extLst>
                  <a:ext uri="{FF2B5EF4-FFF2-40B4-BE49-F238E27FC236}">
                    <a16:creationId xmlns:a16="http://schemas.microsoft.com/office/drawing/2014/main" id="{4BEC6FEE-2E74-1236-9448-5E9DFF482EEC}"/>
                  </a:ext>
                </a:extLst>
              </p:cNvPr>
              <p:cNvSpPr txBox="1"/>
              <p:nvPr/>
            </p:nvSpPr>
            <p:spPr>
              <a:xfrm>
                <a:off x="0" y="-76200"/>
                <a:ext cx="812800" cy="889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96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02FF37C8-8B61-EA21-0B0A-F1493A923066}"/>
              </a:ext>
            </a:extLst>
          </p:cNvPr>
          <p:cNvSpPr txBox="1"/>
          <p:nvPr/>
        </p:nvSpPr>
        <p:spPr>
          <a:xfrm>
            <a:off x="12774963" y="3212965"/>
            <a:ext cx="5219615" cy="39554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200000"/>
              </a:lnSpc>
            </a:pPr>
            <a:r>
              <a:rPr lang="en-US" sz="1600" b="1" dirty="0">
                <a:solidFill>
                  <a:srgbClr val="3A7D4D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📌  Calgary’s distribution is shifted farthest right → consistently higher AQHI</a:t>
            </a:r>
          </a:p>
          <a:p>
            <a:pPr lvl="0">
              <a:lnSpc>
                <a:spcPct val="200000"/>
              </a:lnSpc>
            </a:pPr>
            <a:r>
              <a:rPr lang="en-US" sz="1600" b="1" dirty="0">
                <a:solidFill>
                  <a:srgbClr val="3A7D4D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📌  Vancouver and Victoria cluster around lower AQHI values</a:t>
            </a:r>
          </a:p>
          <a:p>
            <a:pPr lvl="0">
              <a:lnSpc>
                <a:spcPct val="200000"/>
              </a:lnSpc>
            </a:pPr>
            <a:r>
              <a:rPr lang="en-US" sz="1600" b="1" dirty="0">
                <a:solidFill>
                  <a:srgbClr val="3A7D4D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📌  Toronto and Ottawa show mid-range profiles</a:t>
            </a:r>
          </a:p>
          <a:p>
            <a:pPr lvl="0">
              <a:lnSpc>
                <a:spcPct val="200000"/>
              </a:lnSpc>
            </a:pPr>
            <a:r>
              <a:rPr lang="en-US" sz="1600" b="1" dirty="0">
                <a:solidFill>
                  <a:srgbClr val="3A7D4D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📌  Overall pattern visually supports inland vs coastal contrast</a:t>
            </a:r>
          </a:p>
          <a:p>
            <a:pPr lvl="0">
              <a:lnSpc>
                <a:spcPct val="200000"/>
              </a:lnSpc>
            </a:pPr>
            <a:endParaRPr lang="en-US" sz="1600" dirty="0"/>
          </a:p>
        </p:txBody>
      </p:sp>
      <p:pic>
        <p:nvPicPr>
          <p:cNvPr id="4" name="Picture 3" descr="A graph of colored lines&#10;&#10;AI-generated content may be incorrect.">
            <a:extLst>
              <a:ext uri="{FF2B5EF4-FFF2-40B4-BE49-F238E27FC236}">
                <a16:creationId xmlns:a16="http://schemas.microsoft.com/office/drawing/2014/main" id="{5B65DF38-2696-4461-2FFD-AECC32141A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3664" y="2363051"/>
            <a:ext cx="9144019" cy="5486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1182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DB898"/>
        </a:solidFill>
        <a:effectLst/>
      </p:bgPr>
    </p:bg>
    <p:spTree>
      <p:nvGrpSpPr>
        <p:cNvPr id="1" name="Shape 416">
          <a:extLst>
            <a:ext uri="{FF2B5EF4-FFF2-40B4-BE49-F238E27FC236}">
              <a16:creationId xmlns:a16="http://schemas.microsoft.com/office/drawing/2014/main" id="{1628FBC2-1645-E106-C7DD-CB0901798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2" name="Google Shape;422;p25">
            <a:extLst>
              <a:ext uri="{FF2B5EF4-FFF2-40B4-BE49-F238E27FC236}">
                <a16:creationId xmlns:a16="http://schemas.microsoft.com/office/drawing/2014/main" id="{1BAF1190-9B40-5659-16E1-D1D03D537E05}"/>
              </a:ext>
            </a:extLst>
          </p:cNvPr>
          <p:cNvGrpSpPr/>
          <p:nvPr/>
        </p:nvGrpSpPr>
        <p:grpSpPr>
          <a:xfrm>
            <a:off x="12517201" y="284297"/>
            <a:ext cx="5349298" cy="9573746"/>
            <a:chOff x="0" y="-38100"/>
            <a:chExt cx="1408869" cy="2521480"/>
          </a:xfrm>
        </p:grpSpPr>
        <p:sp>
          <p:nvSpPr>
            <p:cNvPr id="423" name="Google Shape;423;p25">
              <a:extLst>
                <a:ext uri="{FF2B5EF4-FFF2-40B4-BE49-F238E27FC236}">
                  <a16:creationId xmlns:a16="http://schemas.microsoft.com/office/drawing/2014/main" id="{D8C600EE-2A32-C222-B3DF-EDCE375018BA}"/>
                </a:ext>
              </a:extLst>
            </p:cNvPr>
            <p:cNvSpPr/>
            <p:nvPr/>
          </p:nvSpPr>
          <p:spPr>
            <a:xfrm>
              <a:off x="0" y="0"/>
              <a:ext cx="1408869" cy="2483380"/>
            </a:xfrm>
            <a:custGeom>
              <a:avLst/>
              <a:gdLst/>
              <a:ahLst/>
              <a:cxnLst/>
              <a:rect l="l" t="t" r="r" b="b"/>
              <a:pathLst>
                <a:path w="1408869" h="2483380" extrusionOk="0">
                  <a:moveTo>
                    <a:pt x="1329450" y="0"/>
                  </a:moveTo>
                  <a:lnTo>
                    <a:pt x="79418" y="0"/>
                  </a:lnTo>
                  <a:cubicBezTo>
                    <a:pt x="79418" y="43699"/>
                    <a:pt x="44079" y="79418"/>
                    <a:pt x="0" y="79418"/>
                  </a:cubicBezTo>
                  <a:lnTo>
                    <a:pt x="0" y="2403962"/>
                  </a:lnTo>
                  <a:cubicBezTo>
                    <a:pt x="43699" y="2403962"/>
                    <a:pt x="79418" y="2439301"/>
                    <a:pt x="79418" y="2483380"/>
                  </a:cubicBezTo>
                  <a:lnTo>
                    <a:pt x="1329450" y="2483380"/>
                  </a:lnTo>
                  <a:cubicBezTo>
                    <a:pt x="1329450" y="2439681"/>
                    <a:pt x="1364789" y="2403962"/>
                    <a:pt x="1408869" y="2403962"/>
                  </a:cubicBezTo>
                  <a:lnTo>
                    <a:pt x="1408869" y="79418"/>
                  </a:lnTo>
                  <a:cubicBezTo>
                    <a:pt x="1365169" y="79418"/>
                    <a:pt x="1329450" y="44079"/>
                    <a:pt x="1329450" y="0"/>
                  </a:cubicBezTo>
                  <a:close/>
                </a:path>
              </a:pathLst>
            </a:custGeom>
            <a:solidFill>
              <a:srgbClr val="EBEAE6"/>
            </a:solidFill>
            <a:ln w="104775" cap="flat" cmpd="sng">
              <a:solidFill>
                <a:srgbClr val="3A7D4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25">
              <a:extLst>
                <a:ext uri="{FF2B5EF4-FFF2-40B4-BE49-F238E27FC236}">
                  <a16:creationId xmlns:a16="http://schemas.microsoft.com/office/drawing/2014/main" id="{02190696-4CC0-3EB8-6303-B0ACD4D86563}"/>
                </a:ext>
              </a:extLst>
            </p:cNvPr>
            <p:cNvSpPr txBox="1"/>
            <p:nvPr/>
          </p:nvSpPr>
          <p:spPr>
            <a:xfrm>
              <a:off x="38100" y="-38100"/>
              <a:ext cx="736600" cy="81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6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26" name="Google Shape;426;p25">
            <a:extLst>
              <a:ext uri="{FF2B5EF4-FFF2-40B4-BE49-F238E27FC236}">
                <a16:creationId xmlns:a16="http://schemas.microsoft.com/office/drawing/2014/main" id="{E8CB1354-018D-581D-AD0E-07DF9EFEE0D6}"/>
              </a:ext>
            </a:extLst>
          </p:cNvPr>
          <p:cNvGrpSpPr/>
          <p:nvPr/>
        </p:nvGrpSpPr>
        <p:grpSpPr>
          <a:xfrm>
            <a:off x="13023052" y="1286718"/>
            <a:ext cx="4422740" cy="3498763"/>
            <a:chOff x="0" y="-4025787"/>
            <a:chExt cx="5896988" cy="4665018"/>
          </a:xfrm>
        </p:grpSpPr>
        <p:sp>
          <p:nvSpPr>
            <p:cNvPr id="427" name="Google Shape;427;p25">
              <a:extLst>
                <a:ext uri="{FF2B5EF4-FFF2-40B4-BE49-F238E27FC236}">
                  <a16:creationId xmlns:a16="http://schemas.microsoft.com/office/drawing/2014/main" id="{9F4BC55D-C451-1ED6-4537-4A5E036DA023}"/>
                </a:ext>
              </a:extLst>
            </p:cNvPr>
            <p:cNvSpPr txBox="1"/>
            <p:nvPr/>
          </p:nvSpPr>
          <p:spPr>
            <a:xfrm>
              <a:off x="113588" y="-4025787"/>
              <a:ext cx="5783400" cy="196977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 algn="ctr"/>
              <a:r>
                <a:rPr lang="en-US" sz="3200" b="1" dirty="0">
                  <a:solidFill>
                    <a:srgbClr val="3A7D4D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Which Cities Have the Highest and Lowest Average AQHI?</a:t>
              </a:r>
              <a:endParaRPr sz="3200" dirty="0"/>
            </a:p>
          </p:txBody>
        </p:sp>
        <p:sp>
          <p:nvSpPr>
            <p:cNvPr id="428" name="Google Shape;428;p25">
              <a:extLst>
                <a:ext uri="{FF2B5EF4-FFF2-40B4-BE49-F238E27FC236}">
                  <a16:creationId xmlns:a16="http://schemas.microsoft.com/office/drawing/2014/main" id="{F2E7FA42-2276-8893-0FFA-BEC9BD2213FB}"/>
                </a:ext>
              </a:extLst>
            </p:cNvPr>
            <p:cNvSpPr txBox="1"/>
            <p:nvPr/>
          </p:nvSpPr>
          <p:spPr>
            <a:xfrm>
              <a:off x="0" y="438150"/>
              <a:ext cx="5783400" cy="20108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429" name="Google Shape;429;p25">
            <a:extLst>
              <a:ext uri="{FF2B5EF4-FFF2-40B4-BE49-F238E27FC236}">
                <a16:creationId xmlns:a16="http://schemas.microsoft.com/office/drawing/2014/main" id="{0890F11D-9F08-D160-A4B3-28D9E9624209}"/>
              </a:ext>
            </a:extLst>
          </p:cNvPr>
          <p:cNvGrpSpPr/>
          <p:nvPr/>
        </p:nvGrpSpPr>
        <p:grpSpPr>
          <a:xfrm>
            <a:off x="14977769" y="-776971"/>
            <a:ext cx="3086099" cy="3375417"/>
            <a:chOff x="0" y="-76200"/>
            <a:chExt cx="812800" cy="889000"/>
          </a:xfrm>
        </p:grpSpPr>
        <p:sp>
          <p:nvSpPr>
            <p:cNvPr id="430" name="Google Shape;430;p25">
              <a:extLst>
                <a:ext uri="{FF2B5EF4-FFF2-40B4-BE49-F238E27FC236}">
                  <a16:creationId xmlns:a16="http://schemas.microsoft.com/office/drawing/2014/main" id="{54C6149F-4563-F421-5327-F06BC57CC4C4}"/>
                </a:ext>
              </a:extLst>
            </p:cNvPr>
            <p:cNvSpPr/>
            <p:nvPr/>
          </p:nvSpPr>
          <p:spPr>
            <a:xfrm>
              <a:off x="0" y="0"/>
              <a:ext cx="112767" cy="391124"/>
            </a:xfrm>
            <a:custGeom>
              <a:avLst/>
              <a:gdLst/>
              <a:ahLst/>
              <a:cxnLst/>
              <a:rect l="l" t="t" r="r" b="b"/>
              <a:pathLst>
                <a:path w="112767" h="391124" extrusionOk="0">
                  <a:moveTo>
                    <a:pt x="56383" y="0"/>
                  </a:moveTo>
                  <a:lnTo>
                    <a:pt x="56383" y="0"/>
                  </a:lnTo>
                  <a:cubicBezTo>
                    <a:pt x="71337" y="0"/>
                    <a:pt x="85679" y="5940"/>
                    <a:pt x="96253" y="16514"/>
                  </a:cubicBezTo>
                  <a:cubicBezTo>
                    <a:pt x="106826" y="27088"/>
                    <a:pt x="112767" y="41430"/>
                    <a:pt x="112767" y="56383"/>
                  </a:cubicBezTo>
                  <a:lnTo>
                    <a:pt x="112767" y="334740"/>
                  </a:lnTo>
                  <a:cubicBezTo>
                    <a:pt x="112767" y="365880"/>
                    <a:pt x="87523" y="391124"/>
                    <a:pt x="56383" y="391124"/>
                  </a:cubicBezTo>
                  <a:lnTo>
                    <a:pt x="56383" y="391124"/>
                  </a:lnTo>
                  <a:cubicBezTo>
                    <a:pt x="41430" y="391124"/>
                    <a:pt x="27088" y="385183"/>
                    <a:pt x="16514" y="374609"/>
                  </a:cubicBezTo>
                  <a:cubicBezTo>
                    <a:pt x="5940" y="364035"/>
                    <a:pt x="0" y="349694"/>
                    <a:pt x="0" y="334740"/>
                  </a:cubicBezTo>
                  <a:lnTo>
                    <a:pt x="0" y="56383"/>
                  </a:lnTo>
                  <a:cubicBezTo>
                    <a:pt x="0" y="25244"/>
                    <a:pt x="25244" y="0"/>
                    <a:pt x="56383" y="0"/>
                  </a:cubicBezTo>
                  <a:close/>
                </a:path>
              </a:pathLst>
            </a:custGeom>
            <a:solidFill>
              <a:srgbClr val="EBEAE6"/>
            </a:solidFill>
            <a:ln w="104775" cap="flat" cmpd="sng">
              <a:solidFill>
                <a:srgbClr val="3A7D4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25">
              <a:extLst>
                <a:ext uri="{FF2B5EF4-FFF2-40B4-BE49-F238E27FC236}">
                  <a16:creationId xmlns:a16="http://schemas.microsoft.com/office/drawing/2014/main" id="{9E293A52-2334-6886-9A24-F0A4B9368430}"/>
                </a:ext>
              </a:extLst>
            </p:cNvPr>
            <p:cNvSpPr txBox="1"/>
            <p:nvPr/>
          </p:nvSpPr>
          <p:spPr>
            <a:xfrm>
              <a:off x="0" y="-76200"/>
              <a:ext cx="812800" cy="889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6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7" name="Google Shape;417;p25">
            <a:extLst>
              <a:ext uri="{FF2B5EF4-FFF2-40B4-BE49-F238E27FC236}">
                <a16:creationId xmlns:a16="http://schemas.microsoft.com/office/drawing/2014/main" id="{96B19DA7-67AE-B100-19B8-34F11E54BC2F}"/>
              </a:ext>
            </a:extLst>
          </p:cNvPr>
          <p:cNvGrpSpPr/>
          <p:nvPr/>
        </p:nvGrpSpPr>
        <p:grpSpPr>
          <a:xfrm>
            <a:off x="293421" y="1335273"/>
            <a:ext cx="11708767" cy="7566166"/>
            <a:chOff x="0" y="-38100"/>
            <a:chExt cx="3083790" cy="1992735"/>
          </a:xfrm>
        </p:grpSpPr>
        <p:sp>
          <p:nvSpPr>
            <p:cNvPr id="418" name="Google Shape;418;p25">
              <a:extLst>
                <a:ext uri="{FF2B5EF4-FFF2-40B4-BE49-F238E27FC236}">
                  <a16:creationId xmlns:a16="http://schemas.microsoft.com/office/drawing/2014/main" id="{44E4A793-30B7-D2E3-D044-F406A8D871AF}"/>
                </a:ext>
              </a:extLst>
            </p:cNvPr>
            <p:cNvSpPr/>
            <p:nvPr/>
          </p:nvSpPr>
          <p:spPr>
            <a:xfrm>
              <a:off x="0" y="0"/>
              <a:ext cx="3083790" cy="1954635"/>
            </a:xfrm>
            <a:custGeom>
              <a:avLst/>
              <a:gdLst/>
              <a:ahLst/>
              <a:cxnLst/>
              <a:rect l="l" t="t" r="r" b="b"/>
              <a:pathLst>
                <a:path w="3083790" h="1954635" extrusionOk="0">
                  <a:moveTo>
                    <a:pt x="3004372" y="0"/>
                  </a:moveTo>
                  <a:lnTo>
                    <a:pt x="79418" y="0"/>
                  </a:lnTo>
                  <a:cubicBezTo>
                    <a:pt x="79418" y="43699"/>
                    <a:pt x="44079" y="79418"/>
                    <a:pt x="0" y="79418"/>
                  </a:cubicBezTo>
                  <a:lnTo>
                    <a:pt x="0" y="1875217"/>
                  </a:lnTo>
                  <a:cubicBezTo>
                    <a:pt x="43699" y="1875217"/>
                    <a:pt x="79418" y="1910556"/>
                    <a:pt x="79418" y="1954635"/>
                  </a:cubicBezTo>
                  <a:lnTo>
                    <a:pt x="3004372" y="1954635"/>
                  </a:lnTo>
                  <a:cubicBezTo>
                    <a:pt x="3004372" y="1910935"/>
                    <a:pt x="3039711" y="1875217"/>
                    <a:pt x="3083790" y="1875217"/>
                  </a:cubicBezTo>
                  <a:lnTo>
                    <a:pt x="3083790" y="79418"/>
                  </a:lnTo>
                  <a:cubicBezTo>
                    <a:pt x="3040091" y="79418"/>
                    <a:pt x="3004372" y="44079"/>
                    <a:pt x="3004372" y="0"/>
                  </a:cubicBezTo>
                  <a:close/>
                </a:path>
              </a:pathLst>
            </a:custGeom>
            <a:solidFill>
              <a:srgbClr val="EBEAE6"/>
            </a:solidFill>
            <a:ln w="104775" cap="flat" cmpd="sng">
              <a:solidFill>
                <a:srgbClr val="3A7D4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25">
              <a:extLst>
                <a:ext uri="{FF2B5EF4-FFF2-40B4-BE49-F238E27FC236}">
                  <a16:creationId xmlns:a16="http://schemas.microsoft.com/office/drawing/2014/main" id="{3D4EF588-3712-2D69-B923-9B69D773EA57}"/>
                </a:ext>
              </a:extLst>
            </p:cNvPr>
            <p:cNvSpPr txBox="1"/>
            <p:nvPr/>
          </p:nvSpPr>
          <p:spPr>
            <a:xfrm>
              <a:off x="38100" y="-38100"/>
              <a:ext cx="736600" cy="81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6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20" name="Google Shape;420;p25">
            <a:extLst>
              <a:ext uri="{FF2B5EF4-FFF2-40B4-BE49-F238E27FC236}">
                <a16:creationId xmlns:a16="http://schemas.microsoft.com/office/drawing/2014/main" id="{A24E45FB-8CF2-5B0E-A791-8669C64426B0}"/>
              </a:ext>
            </a:extLst>
          </p:cNvPr>
          <p:cNvSpPr/>
          <p:nvPr/>
        </p:nvSpPr>
        <p:spPr>
          <a:xfrm>
            <a:off x="1102951" y="2363051"/>
            <a:ext cx="9794592" cy="5486412"/>
          </a:xfrm>
          <a:custGeom>
            <a:avLst/>
            <a:gdLst/>
            <a:ahLst/>
            <a:cxnLst/>
            <a:rect l="l" t="t" r="r" b="b"/>
            <a:pathLst>
              <a:path w="2586616" h="1476985" extrusionOk="0">
                <a:moveTo>
                  <a:pt x="0" y="0"/>
                </a:moveTo>
                <a:lnTo>
                  <a:pt x="2586616" y="0"/>
                </a:lnTo>
                <a:lnTo>
                  <a:pt x="2586616" y="1476985"/>
                </a:lnTo>
                <a:lnTo>
                  <a:pt x="0" y="147698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04775" cap="flat" cmpd="sng">
            <a:solidFill>
              <a:srgbClr val="3A7D4D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432" name="Google Shape;432;p25">
            <a:extLst>
              <a:ext uri="{FF2B5EF4-FFF2-40B4-BE49-F238E27FC236}">
                <a16:creationId xmlns:a16="http://schemas.microsoft.com/office/drawing/2014/main" id="{41B857D3-66FD-40E6-109A-B7B24198C2E5}"/>
              </a:ext>
            </a:extLst>
          </p:cNvPr>
          <p:cNvGrpSpPr/>
          <p:nvPr/>
        </p:nvGrpSpPr>
        <p:grpSpPr>
          <a:xfrm>
            <a:off x="1976440" y="121749"/>
            <a:ext cx="10179524" cy="3375417"/>
            <a:chOff x="0" y="-385762"/>
            <a:chExt cx="13572698" cy="4500557"/>
          </a:xfrm>
        </p:grpSpPr>
        <p:grpSp>
          <p:nvGrpSpPr>
            <p:cNvPr id="433" name="Google Shape;433;p25">
              <a:extLst>
                <a:ext uri="{FF2B5EF4-FFF2-40B4-BE49-F238E27FC236}">
                  <a16:creationId xmlns:a16="http://schemas.microsoft.com/office/drawing/2014/main" id="{94E81970-C59E-F322-B539-04CB839C2F34}"/>
                </a:ext>
              </a:extLst>
            </p:cNvPr>
            <p:cNvGrpSpPr/>
            <p:nvPr/>
          </p:nvGrpSpPr>
          <p:grpSpPr>
            <a:xfrm>
              <a:off x="3152635" y="-385762"/>
              <a:ext cx="4114793" cy="4500557"/>
              <a:chOff x="0" y="-76200"/>
              <a:chExt cx="812800" cy="889000"/>
            </a:xfrm>
          </p:grpSpPr>
          <p:sp>
            <p:nvSpPr>
              <p:cNvPr id="434" name="Google Shape;434;p25">
                <a:extLst>
                  <a:ext uri="{FF2B5EF4-FFF2-40B4-BE49-F238E27FC236}">
                    <a16:creationId xmlns:a16="http://schemas.microsoft.com/office/drawing/2014/main" id="{9A8A5BA1-8C97-9B8C-DF42-868409A514C4}"/>
                  </a:ext>
                </a:extLst>
              </p:cNvPr>
              <p:cNvSpPr/>
              <p:nvPr/>
            </p:nvSpPr>
            <p:spPr>
              <a:xfrm>
                <a:off x="0" y="0"/>
                <a:ext cx="112767" cy="391124"/>
              </a:xfrm>
              <a:custGeom>
                <a:avLst/>
                <a:gdLst/>
                <a:ahLst/>
                <a:cxnLst/>
                <a:rect l="l" t="t" r="r" b="b"/>
                <a:pathLst>
                  <a:path w="112767" h="391124" extrusionOk="0">
                    <a:moveTo>
                      <a:pt x="56383" y="0"/>
                    </a:moveTo>
                    <a:lnTo>
                      <a:pt x="56383" y="0"/>
                    </a:lnTo>
                    <a:cubicBezTo>
                      <a:pt x="71337" y="0"/>
                      <a:pt x="85679" y="5940"/>
                      <a:pt x="96253" y="16514"/>
                    </a:cubicBezTo>
                    <a:cubicBezTo>
                      <a:pt x="106826" y="27088"/>
                      <a:pt x="112767" y="41430"/>
                      <a:pt x="112767" y="56383"/>
                    </a:cubicBezTo>
                    <a:lnTo>
                      <a:pt x="112767" y="334740"/>
                    </a:lnTo>
                    <a:cubicBezTo>
                      <a:pt x="112767" y="365880"/>
                      <a:pt x="87523" y="391124"/>
                      <a:pt x="56383" y="391124"/>
                    </a:cubicBezTo>
                    <a:lnTo>
                      <a:pt x="56383" y="391124"/>
                    </a:lnTo>
                    <a:cubicBezTo>
                      <a:pt x="41430" y="391124"/>
                      <a:pt x="27088" y="385183"/>
                      <a:pt x="16514" y="374609"/>
                    </a:cubicBezTo>
                    <a:cubicBezTo>
                      <a:pt x="5940" y="364035"/>
                      <a:pt x="0" y="349694"/>
                      <a:pt x="0" y="334740"/>
                    </a:cubicBezTo>
                    <a:lnTo>
                      <a:pt x="0" y="56383"/>
                    </a:lnTo>
                    <a:cubicBezTo>
                      <a:pt x="0" y="25244"/>
                      <a:pt x="25244" y="0"/>
                      <a:pt x="56383" y="0"/>
                    </a:cubicBezTo>
                    <a:close/>
                  </a:path>
                </a:pathLst>
              </a:custGeom>
              <a:solidFill>
                <a:srgbClr val="EBEAE6"/>
              </a:solidFill>
              <a:ln w="104775" cap="flat" cmpd="sng">
                <a:solidFill>
                  <a:srgbClr val="3A7D4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" name="Google Shape;435;p25">
                <a:extLst>
                  <a:ext uri="{FF2B5EF4-FFF2-40B4-BE49-F238E27FC236}">
                    <a16:creationId xmlns:a16="http://schemas.microsoft.com/office/drawing/2014/main" id="{7223862C-8214-F270-C826-0B5E4D6A2822}"/>
                  </a:ext>
                </a:extLst>
              </p:cNvPr>
              <p:cNvSpPr txBox="1"/>
              <p:nvPr/>
            </p:nvSpPr>
            <p:spPr>
              <a:xfrm>
                <a:off x="0" y="-76200"/>
                <a:ext cx="812800" cy="889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96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36" name="Google Shape;436;p25">
              <a:extLst>
                <a:ext uri="{FF2B5EF4-FFF2-40B4-BE49-F238E27FC236}">
                  <a16:creationId xmlns:a16="http://schemas.microsoft.com/office/drawing/2014/main" id="{B654DC8C-2954-A041-5159-EB309E9DE13C}"/>
                </a:ext>
              </a:extLst>
            </p:cNvPr>
            <p:cNvGrpSpPr/>
            <p:nvPr/>
          </p:nvGrpSpPr>
          <p:grpSpPr>
            <a:xfrm>
              <a:off x="0" y="-385762"/>
              <a:ext cx="4114793" cy="4500557"/>
              <a:chOff x="0" y="-76200"/>
              <a:chExt cx="812800" cy="889000"/>
            </a:xfrm>
          </p:grpSpPr>
          <p:sp>
            <p:nvSpPr>
              <p:cNvPr id="437" name="Google Shape;437;p25">
                <a:extLst>
                  <a:ext uri="{FF2B5EF4-FFF2-40B4-BE49-F238E27FC236}">
                    <a16:creationId xmlns:a16="http://schemas.microsoft.com/office/drawing/2014/main" id="{45150176-44B3-5D91-D448-170F095CAC46}"/>
                  </a:ext>
                </a:extLst>
              </p:cNvPr>
              <p:cNvSpPr/>
              <p:nvPr/>
            </p:nvSpPr>
            <p:spPr>
              <a:xfrm>
                <a:off x="0" y="0"/>
                <a:ext cx="112767" cy="391124"/>
              </a:xfrm>
              <a:custGeom>
                <a:avLst/>
                <a:gdLst/>
                <a:ahLst/>
                <a:cxnLst/>
                <a:rect l="l" t="t" r="r" b="b"/>
                <a:pathLst>
                  <a:path w="112767" h="391124" extrusionOk="0">
                    <a:moveTo>
                      <a:pt x="56383" y="0"/>
                    </a:moveTo>
                    <a:lnTo>
                      <a:pt x="56383" y="0"/>
                    </a:lnTo>
                    <a:cubicBezTo>
                      <a:pt x="71337" y="0"/>
                      <a:pt x="85679" y="5940"/>
                      <a:pt x="96253" y="16514"/>
                    </a:cubicBezTo>
                    <a:cubicBezTo>
                      <a:pt x="106826" y="27088"/>
                      <a:pt x="112767" y="41430"/>
                      <a:pt x="112767" y="56383"/>
                    </a:cubicBezTo>
                    <a:lnTo>
                      <a:pt x="112767" y="334740"/>
                    </a:lnTo>
                    <a:cubicBezTo>
                      <a:pt x="112767" y="365880"/>
                      <a:pt x="87523" y="391124"/>
                      <a:pt x="56383" y="391124"/>
                    </a:cubicBezTo>
                    <a:lnTo>
                      <a:pt x="56383" y="391124"/>
                    </a:lnTo>
                    <a:cubicBezTo>
                      <a:pt x="41430" y="391124"/>
                      <a:pt x="27088" y="385183"/>
                      <a:pt x="16514" y="374609"/>
                    </a:cubicBezTo>
                    <a:cubicBezTo>
                      <a:pt x="5940" y="364035"/>
                      <a:pt x="0" y="349694"/>
                      <a:pt x="0" y="334740"/>
                    </a:cubicBezTo>
                    <a:lnTo>
                      <a:pt x="0" y="56383"/>
                    </a:lnTo>
                    <a:cubicBezTo>
                      <a:pt x="0" y="25244"/>
                      <a:pt x="25244" y="0"/>
                      <a:pt x="56383" y="0"/>
                    </a:cubicBezTo>
                    <a:close/>
                  </a:path>
                </a:pathLst>
              </a:custGeom>
              <a:solidFill>
                <a:srgbClr val="EBEAE6"/>
              </a:solidFill>
              <a:ln w="104775" cap="flat" cmpd="sng">
                <a:solidFill>
                  <a:srgbClr val="3A7D4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" name="Google Shape;438;p25">
                <a:extLst>
                  <a:ext uri="{FF2B5EF4-FFF2-40B4-BE49-F238E27FC236}">
                    <a16:creationId xmlns:a16="http://schemas.microsoft.com/office/drawing/2014/main" id="{319E4D03-2DCC-4350-4E44-A9A6EFF26B83}"/>
                  </a:ext>
                </a:extLst>
              </p:cNvPr>
              <p:cNvSpPr txBox="1"/>
              <p:nvPr/>
            </p:nvSpPr>
            <p:spPr>
              <a:xfrm>
                <a:off x="0" y="-76200"/>
                <a:ext cx="812800" cy="889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96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39" name="Google Shape;439;p25">
              <a:extLst>
                <a:ext uri="{FF2B5EF4-FFF2-40B4-BE49-F238E27FC236}">
                  <a16:creationId xmlns:a16="http://schemas.microsoft.com/office/drawing/2014/main" id="{5667B23D-19C2-81B2-F73B-AAB6237F2913}"/>
                </a:ext>
              </a:extLst>
            </p:cNvPr>
            <p:cNvGrpSpPr/>
            <p:nvPr/>
          </p:nvGrpSpPr>
          <p:grpSpPr>
            <a:xfrm>
              <a:off x="6305270" y="-385762"/>
              <a:ext cx="4114793" cy="4500557"/>
              <a:chOff x="0" y="-76200"/>
              <a:chExt cx="812800" cy="889000"/>
            </a:xfrm>
          </p:grpSpPr>
          <p:sp>
            <p:nvSpPr>
              <p:cNvPr id="440" name="Google Shape;440;p25">
                <a:extLst>
                  <a:ext uri="{FF2B5EF4-FFF2-40B4-BE49-F238E27FC236}">
                    <a16:creationId xmlns:a16="http://schemas.microsoft.com/office/drawing/2014/main" id="{B8247E0F-A399-2685-9A4D-0D3AC96BCA36}"/>
                  </a:ext>
                </a:extLst>
              </p:cNvPr>
              <p:cNvSpPr/>
              <p:nvPr/>
            </p:nvSpPr>
            <p:spPr>
              <a:xfrm>
                <a:off x="0" y="0"/>
                <a:ext cx="112767" cy="391124"/>
              </a:xfrm>
              <a:custGeom>
                <a:avLst/>
                <a:gdLst/>
                <a:ahLst/>
                <a:cxnLst/>
                <a:rect l="l" t="t" r="r" b="b"/>
                <a:pathLst>
                  <a:path w="112767" h="391124" extrusionOk="0">
                    <a:moveTo>
                      <a:pt x="56383" y="0"/>
                    </a:moveTo>
                    <a:lnTo>
                      <a:pt x="56383" y="0"/>
                    </a:lnTo>
                    <a:cubicBezTo>
                      <a:pt x="71337" y="0"/>
                      <a:pt x="85679" y="5940"/>
                      <a:pt x="96253" y="16514"/>
                    </a:cubicBezTo>
                    <a:cubicBezTo>
                      <a:pt x="106826" y="27088"/>
                      <a:pt x="112767" y="41430"/>
                      <a:pt x="112767" y="56383"/>
                    </a:cubicBezTo>
                    <a:lnTo>
                      <a:pt x="112767" y="334740"/>
                    </a:lnTo>
                    <a:cubicBezTo>
                      <a:pt x="112767" y="365880"/>
                      <a:pt x="87523" y="391124"/>
                      <a:pt x="56383" y="391124"/>
                    </a:cubicBezTo>
                    <a:lnTo>
                      <a:pt x="56383" y="391124"/>
                    </a:lnTo>
                    <a:cubicBezTo>
                      <a:pt x="41430" y="391124"/>
                      <a:pt x="27088" y="385183"/>
                      <a:pt x="16514" y="374609"/>
                    </a:cubicBezTo>
                    <a:cubicBezTo>
                      <a:pt x="5940" y="364035"/>
                      <a:pt x="0" y="349694"/>
                      <a:pt x="0" y="334740"/>
                    </a:cubicBezTo>
                    <a:lnTo>
                      <a:pt x="0" y="56383"/>
                    </a:lnTo>
                    <a:cubicBezTo>
                      <a:pt x="0" y="25244"/>
                      <a:pt x="25244" y="0"/>
                      <a:pt x="56383" y="0"/>
                    </a:cubicBezTo>
                    <a:close/>
                  </a:path>
                </a:pathLst>
              </a:custGeom>
              <a:solidFill>
                <a:srgbClr val="EBEAE6"/>
              </a:solidFill>
              <a:ln w="104775" cap="flat" cmpd="sng">
                <a:solidFill>
                  <a:srgbClr val="3A7D4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" name="Google Shape;441;p25">
                <a:extLst>
                  <a:ext uri="{FF2B5EF4-FFF2-40B4-BE49-F238E27FC236}">
                    <a16:creationId xmlns:a16="http://schemas.microsoft.com/office/drawing/2014/main" id="{AA39A2CB-A8C8-8AA3-2736-C8BB6606119E}"/>
                  </a:ext>
                </a:extLst>
              </p:cNvPr>
              <p:cNvSpPr txBox="1"/>
              <p:nvPr/>
            </p:nvSpPr>
            <p:spPr>
              <a:xfrm>
                <a:off x="0" y="-76200"/>
                <a:ext cx="812800" cy="889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96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42" name="Google Shape;442;p25">
              <a:extLst>
                <a:ext uri="{FF2B5EF4-FFF2-40B4-BE49-F238E27FC236}">
                  <a16:creationId xmlns:a16="http://schemas.microsoft.com/office/drawing/2014/main" id="{0E25A83B-7507-32E7-91E3-8FE9D63A370C}"/>
                </a:ext>
              </a:extLst>
            </p:cNvPr>
            <p:cNvGrpSpPr/>
            <p:nvPr/>
          </p:nvGrpSpPr>
          <p:grpSpPr>
            <a:xfrm>
              <a:off x="9457905" y="-385762"/>
              <a:ext cx="4114793" cy="4500557"/>
              <a:chOff x="0" y="-76200"/>
              <a:chExt cx="812800" cy="889000"/>
            </a:xfrm>
          </p:grpSpPr>
          <p:sp>
            <p:nvSpPr>
              <p:cNvPr id="443" name="Google Shape;443;p25">
                <a:extLst>
                  <a:ext uri="{FF2B5EF4-FFF2-40B4-BE49-F238E27FC236}">
                    <a16:creationId xmlns:a16="http://schemas.microsoft.com/office/drawing/2014/main" id="{C695C493-D1D5-6F09-BFA9-ECDB12DDDEE5}"/>
                  </a:ext>
                </a:extLst>
              </p:cNvPr>
              <p:cNvSpPr/>
              <p:nvPr/>
            </p:nvSpPr>
            <p:spPr>
              <a:xfrm>
                <a:off x="0" y="0"/>
                <a:ext cx="112767" cy="391124"/>
              </a:xfrm>
              <a:custGeom>
                <a:avLst/>
                <a:gdLst/>
                <a:ahLst/>
                <a:cxnLst/>
                <a:rect l="l" t="t" r="r" b="b"/>
                <a:pathLst>
                  <a:path w="112767" h="391124" extrusionOk="0">
                    <a:moveTo>
                      <a:pt x="56383" y="0"/>
                    </a:moveTo>
                    <a:lnTo>
                      <a:pt x="56383" y="0"/>
                    </a:lnTo>
                    <a:cubicBezTo>
                      <a:pt x="71337" y="0"/>
                      <a:pt x="85679" y="5940"/>
                      <a:pt x="96253" y="16514"/>
                    </a:cubicBezTo>
                    <a:cubicBezTo>
                      <a:pt x="106826" y="27088"/>
                      <a:pt x="112767" y="41430"/>
                      <a:pt x="112767" y="56383"/>
                    </a:cubicBezTo>
                    <a:lnTo>
                      <a:pt x="112767" y="334740"/>
                    </a:lnTo>
                    <a:cubicBezTo>
                      <a:pt x="112767" y="365880"/>
                      <a:pt x="87523" y="391124"/>
                      <a:pt x="56383" y="391124"/>
                    </a:cubicBezTo>
                    <a:lnTo>
                      <a:pt x="56383" y="391124"/>
                    </a:lnTo>
                    <a:cubicBezTo>
                      <a:pt x="41430" y="391124"/>
                      <a:pt x="27088" y="385183"/>
                      <a:pt x="16514" y="374609"/>
                    </a:cubicBezTo>
                    <a:cubicBezTo>
                      <a:pt x="5940" y="364035"/>
                      <a:pt x="0" y="349694"/>
                      <a:pt x="0" y="334740"/>
                    </a:cubicBezTo>
                    <a:lnTo>
                      <a:pt x="0" y="56383"/>
                    </a:lnTo>
                    <a:cubicBezTo>
                      <a:pt x="0" y="25244"/>
                      <a:pt x="25244" y="0"/>
                      <a:pt x="56383" y="0"/>
                    </a:cubicBezTo>
                    <a:close/>
                  </a:path>
                </a:pathLst>
              </a:custGeom>
              <a:solidFill>
                <a:srgbClr val="EBEAE6"/>
              </a:solidFill>
              <a:ln w="104775" cap="flat" cmpd="sng">
                <a:solidFill>
                  <a:srgbClr val="3A7D4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" name="Google Shape;444;p25">
                <a:extLst>
                  <a:ext uri="{FF2B5EF4-FFF2-40B4-BE49-F238E27FC236}">
                    <a16:creationId xmlns:a16="http://schemas.microsoft.com/office/drawing/2014/main" id="{DCEC45B5-7637-375F-BB2A-D2D3198C7FDF}"/>
                  </a:ext>
                </a:extLst>
              </p:cNvPr>
              <p:cNvSpPr txBox="1"/>
              <p:nvPr/>
            </p:nvSpPr>
            <p:spPr>
              <a:xfrm>
                <a:off x="0" y="-76200"/>
                <a:ext cx="812800" cy="889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96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6D2FC133-A3CA-5BED-1253-3D81FBEE1991}"/>
              </a:ext>
            </a:extLst>
          </p:cNvPr>
          <p:cNvSpPr txBox="1"/>
          <p:nvPr/>
        </p:nvSpPr>
        <p:spPr>
          <a:xfrm>
            <a:off x="12872433" y="3733021"/>
            <a:ext cx="5172412" cy="3462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200000"/>
              </a:lnSpc>
            </a:pPr>
            <a:r>
              <a:rPr lang="en-US" sz="1600" b="1" dirty="0">
                <a:solidFill>
                  <a:srgbClr val="3A7D4D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📌 Calgary has the highest mean AQHI</a:t>
            </a:r>
          </a:p>
          <a:p>
            <a:pPr lvl="0">
              <a:lnSpc>
                <a:spcPct val="200000"/>
              </a:lnSpc>
            </a:pPr>
            <a:r>
              <a:rPr lang="en-US" sz="1600" b="1" dirty="0">
                <a:solidFill>
                  <a:srgbClr val="3A7D4D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📌  Vancouver &amp; Victoria have the lowest means, consistent with coastal airflow</a:t>
            </a:r>
          </a:p>
          <a:p>
            <a:pPr lvl="0">
              <a:lnSpc>
                <a:spcPct val="200000"/>
              </a:lnSpc>
            </a:pPr>
            <a:r>
              <a:rPr lang="en-US" sz="1600" b="1" dirty="0">
                <a:solidFill>
                  <a:srgbClr val="3A7D4D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📌  Ottawa and Toronto sit in the middle</a:t>
            </a:r>
          </a:p>
          <a:p>
            <a:pPr lvl="0">
              <a:lnSpc>
                <a:spcPct val="200000"/>
              </a:lnSpc>
            </a:pPr>
            <a:r>
              <a:rPr lang="en-US" sz="1600" b="1" dirty="0">
                <a:solidFill>
                  <a:srgbClr val="3A7D4D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📌  These differences reinforce that inland cities tend to accumulate more pollution</a:t>
            </a:r>
          </a:p>
          <a:p>
            <a:pPr lvl="0">
              <a:lnSpc>
                <a:spcPct val="200000"/>
              </a:lnSpc>
            </a:pPr>
            <a:endParaRPr lang="en-US" sz="1600" dirty="0"/>
          </a:p>
        </p:txBody>
      </p:sp>
      <p:pic>
        <p:nvPicPr>
          <p:cNvPr id="4" name="Picture 3" descr="A graph with different colored bars&#10;&#10;AI-generated content may be incorrect.">
            <a:extLst>
              <a:ext uri="{FF2B5EF4-FFF2-40B4-BE49-F238E27FC236}">
                <a16:creationId xmlns:a16="http://schemas.microsoft.com/office/drawing/2014/main" id="{EC4DB32C-D077-D222-6AA7-A969A1B116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273" y="2363051"/>
            <a:ext cx="9762270" cy="5486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0251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DB898"/>
        </a:solidFill>
        <a:effectLst/>
      </p:bgPr>
    </p:bg>
    <p:spTree>
      <p:nvGrpSpPr>
        <p:cNvPr id="1" name="Shape 401">
          <a:extLst>
            <a:ext uri="{FF2B5EF4-FFF2-40B4-BE49-F238E27FC236}">
              <a16:creationId xmlns:a16="http://schemas.microsoft.com/office/drawing/2014/main" id="{0738FF4C-E3E8-7213-966B-DE2994F89D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2" name="Google Shape;402;p24">
            <a:extLst>
              <a:ext uri="{FF2B5EF4-FFF2-40B4-BE49-F238E27FC236}">
                <a16:creationId xmlns:a16="http://schemas.microsoft.com/office/drawing/2014/main" id="{741364BB-CE41-501C-E5FF-6E7E8BBA1A56}"/>
              </a:ext>
            </a:extLst>
          </p:cNvPr>
          <p:cNvGrpSpPr/>
          <p:nvPr/>
        </p:nvGrpSpPr>
        <p:grpSpPr>
          <a:xfrm>
            <a:off x="421501" y="284297"/>
            <a:ext cx="17444998" cy="9573746"/>
            <a:chOff x="0" y="-192881"/>
            <a:chExt cx="23259997" cy="12764994"/>
          </a:xfrm>
        </p:grpSpPr>
        <p:grpSp>
          <p:nvGrpSpPr>
            <p:cNvPr id="403" name="Google Shape;403;p24">
              <a:extLst>
                <a:ext uri="{FF2B5EF4-FFF2-40B4-BE49-F238E27FC236}">
                  <a16:creationId xmlns:a16="http://schemas.microsoft.com/office/drawing/2014/main" id="{0E047CBB-6FD2-32B0-23BE-DFDF2124BF57}"/>
                </a:ext>
              </a:extLst>
            </p:cNvPr>
            <p:cNvGrpSpPr/>
            <p:nvPr/>
          </p:nvGrpSpPr>
          <p:grpSpPr>
            <a:xfrm>
              <a:off x="0" y="-192881"/>
              <a:ext cx="23259997" cy="12764994"/>
              <a:chOff x="0" y="-38100"/>
              <a:chExt cx="4594567" cy="2521480"/>
            </a:xfrm>
          </p:grpSpPr>
          <p:sp>
            <p:nvSpPr>
              <p:cNvPr id="404" name="Google Shape;404;p24">
                <a:extLst>
                  <a:ext uri="{FF2B5EF4-FFF2-40B4-BE49-F238E27FC236}">
                    <a16:creationId xmlns:a16="http://schemas.microsoft.com/office/drawing/2014/main" id="{96344B3F-3718-0763-C191-91D3AAFFEB0C}"/>
                  </a:ext>
                </a:extLst>
              </p:cNvPr>
              <p:cNvSpPr/>
              <p:nvPr/>
            </p:nvSpPr>
            <p:spPr>
              <a:xfrm>
                <a:off x="0" y="0"/>
                <a:ext cx="4594567" cy="2483380"/>
              </a:xfrm>
              <a:custGeom>
                <a:avLst/>
                <a:gdLst/>
                <a:ahLst/>
                <a:cxnLst/>
                <a:rect l="l" t="t" r="r" b="b"/>
                <a:pathLst>
                  <a:path w="4594567" h="2483380" extrusionOk="0">
                    <a:moveTo>
                      <a:pt x="4515149" y="0"/>
                    </a:moveTo>
                    <a:lnTo>
                      <a:pt x="79418" y="0"/>
                    </a:lnTo>
                    <a:cubicBezTo>
                      <a:pt x="79418" y="43699"/>
                      <a:pt x="44079" y="79418"/>
                      <a:pt x="0" y="79418"/>
                    </a:cubicBezTo>
                    <a:lnTo>
                      <a:pt x="0" y="2403962"/>
                    </a:lnTo>
                    <a:cubicBezTo>
                      <a:pt x="43699" y="2403962"/>
                      <a:pt x="79418" y="2439301"/>
                      <a:pt x="79418" y="2483380"/>
                    </a:cubicBezTo>
                    <a:lnTo>
                      <a:pt x="4515149" y="2483380"/>
                    </a:lnTo>
                    <a:cubicBezTo>
                      <a:pt x="4515149" y="2439681"/>
                      <a:pt x="4550488" y="2403962"/>
                      <a:pt x="4594567" y="2403962"/>
                    </a:cubicBezTo>
                    <a:lnTo>
                      <a:pt x="4594567" y="79418"/>
                    </a:lnTo>
                    <a:cubicBezTo>
                      <a:pt x="4550868" y="79418"/>
                      <a:pt x="4515149" y="44079"/>
                      <a:pt x="4515149" y="0"/>
                    </a:cubicBezTo>
                    <a:close/>
                  </a:path>
                </a:pathLst>
              </a:custGeom>
              <a:solidFill>
                <a:srgbClr val="EBEAE6"/>
              </a:solidFill>
              <a:ln w="104775" cap="flat" cmpd="sng">
                <a:solidFill>
                  <a:srgbClr val="3A7D4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Google Shape;405;p24">
                <a:extLst>
                  <a:ext uri="{FF2B5EF4-FFF2-40B4-BE49-F238E27FC236}">
                    <a16:creationId xmlns:a16="http://schemas.microsoft.com/office/drawing/2014/main" id="{532BB5F9-9EB1-F0D2-C4FE-564187A447CC}"/>
                  </a:ext>
                </a:extLst>
              </p:cNvPr>
              <p:cNvSpPr txBox="1"/>
              <p:nvPr/>
            </p:nvSpPr>
            <p:spPr>
              <a:xfrm>
                <a:off x="38100" y="-38100"/>
                <a:ext cx="736600" cy="81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96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06" name="Google Shape;406;p24">
              <a:extLst>
                <a:ext uri="{FF2B5EF4-FFF2-40B4-BE49-F238E27FC236}">
                  <a16:creationId xmlns:a16="http://schemas.microsoft.com/office/drawing/2014/main" id="{390CA4D9-2869-FE09-62B0-E2FB51E76E0A}"/>
                </a:ext>
              </a:extLst>
            </p:cNvPr>
            <p:cNvGrpSpPr/>
            <p:nvPr/>
          </p:nvGrpSpPr>
          <p:grpSpPr>
            <a:xfrm>
              <a:off x="0" y="2985336"/>
              <a:ext cx="23259997" cy="7374390"/>
              <a:chOff x="0" y="-76200"/>
              <a:chExt cx="4594567" cy="1456670"/>
            </a:xfrm>
          </p:grpSpPr>
          <p:sp>
            <p:nvSpPr>
              <p:cNvPr id="407" name="Google Shape;407;p24">
                <a:extLst>
                  <a:ext uri="{FF2B5EF4-FFF2-40B4-BE49-F238E27FC236}">
                    <a16:creationId xmlns:a16="http://schemas.microsoft.com/office/drawing/2014/main" id="{3F4B4A7A-04B3-DD46-B8EE-FFCCAD4AFCD1}"/>
                  </a:ext>
                </a:extLst>
              </p:cNvPr>
              <p:cNvSpPr/>
              <p:nvPr/>
            </p:nvSpPr>
            <p:spPr>
              <a:xfrm>
                <a:off x="0" y="0"/>
                <a:ext cx="4594567" cy="1380470"/>
              </a:xfrm>
              <a:custGeom>
                <a:avLst/>
                <a:gdLst/>
                <a:ahLst/>
                <a:cxnLst/>
                <a:rect l="l" t="t" r="r" b="b"/>
                <a:pathLst>
                  <a:path w="4594567" h="1380470" extrusionOk="0">
                    <a:moveTo>
                      <a:pt x="0" y="0"/>
                    </a:moveTo>
                    <a:lnTo>
                      <a:pt x="4594567" y="0"/>
                    </a:lnTo>
                    <a:lnTo>
                      <a:pt x="4594567" y="1380470"/>
                    </a:lnTo>
                    <a:lnTo>
                      <a:pt x="0" y="138047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04775" cap="flat" cmpd="sng">
                <a:solidFill>
                  <a:srgbClr val="3A7D4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8" name="Google Shape;408;p24">
                <a:extLst>
                  <a:ext uri="{FF2B5EF4-FFF2-40B4-BE49-F238E27FC236}">
                    <a16:creationId xmlns:a16="http://schemas.microsoft.com/office/drawing/2014/main" id="{270EAEEB-5030-9B2E-C631-A3966F07790E}"/>
                  </a:ext>
                </a:extLst>
              </p:cNvPr>
              <p:cNvSpPr txBox="1"/>
              <p:nvPr/>
            </p:nvSpPr>
            <p:spPr>
              <a:xfrm>
                <a:off x="0" y="-76200"/>
                <a:ext cx="812800" cy="889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96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11" name="Google Shape;411;p24">
            <a:extLst>
              <a:ext uri="{FF2B5EF4-FFF2-40B4-BE49-F238E27FC236}">
                <a16:creationId xmlns:a16="http://schemas.microsoft.com/office/drawing/2014/main" id="{2A653F3C-19B9-A122-F484-CBF7FD52D1B3}"/>
              </a:ext>
            </a:extLst>
          </p:cNvPr>
          <p:cNvSpPr txBox="1"/>
          <p:nvPr/>
        </p:nvSpPr>
        <p:spPr>
          <a:xfrm>
            <a:off x="2315386" y="1276144"/>
            <a:ext cx="13657228" cy="1163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22003"/>
              </a:lnSpc>
            </a:pPr>
            <a:r>
              <a:rPr lang="en-US" sz="6199" b="1" dirty="0">
                <a:solidFill>
                  <a:srgbClr val="3A7D4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Sriracha"/>
              </a:rPr>
              <a:t>Research Question 3</a:t>
            </a:r>
            <a:endParaRPr lang="en-US" sz="6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BB92B0-0557-D883-3542-F36702BF0ECC}"/>
              </a:ext>
            </a:extLst>
          </p:cNvPr>
          <p:cNvSpPr txBox="1"/>
          <p:nvPr/>
        </p:nvSpPr>
        <p:spPr>
          <a:xfrm>
            <a:off x="566162" y="3370398"/>
            <a:ext cx="17426563" cy="1537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22003"/>
              </a:lnSpc>
            </a:pPr>
            <a:r>
              <a:rPr lang="en-US" sz="4000" b="1" dirty="0">
                <a:solidFill>
                  <a:srgbClr val="3A7D4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Sriracha"/>
              </a:rPr>
              <a:t>Primary Question: Are there significant differences in AQHI levels between weekdays and weekends across the selected Canadian cities?</a:t>
            </a:r>
            <a:endParaRPr lang="en-US" sz="4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AFD492-7695-80D6-CB5E-6DED69CC8884}"/>
              </a:ext>
            </a:extLst>
          </p:cNvPr>
          <p:cNvSpPr txBox="1"/>
          <p:nvPr/>
        </p:nvSpPr>
        <p:spPr>
          <a:xfrm>
            <a:off x="560775" y="5425676"/>
            <a:ext cx="16985137" cy="1537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22003"/>
              </a:lnSpc>
            </a:pPr>
            <a:r>
              <a:rPr lang="en-US" sz="4000" b="1" dirty="0">
                <a:solidFill>
                  <a:srgbClr val="3A7D4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Sriracha"/>
              </a:rPr>
              <a:t>Follow up Question: How do AQHI patterns differ between weekdays and weekends across different times of day ( morning, afternoon, evening, night ) ?</a:t>
            </a:r>
            <a:endParaRPr lang="en-US" sz="4000" dirty="0"/>
          </a:p>
        </p:txBody>
      </p:sp>
      <p:pic>
        <p:nvPicPr>
          <p:cNvPr id="6" name="Google Shape;775;p34">
            <a:extLst>
              <a:ext uri="{FF2B5EF4-FFF2-40B4-BE49-F238E27FC236}">
                <a16:creationId xmlns:a16="http://schemas.microsoft.com/office/drawing/2014/main" id="{8D97DAD2-4664-D185-2DB4-5E6C8E8BF63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551885" y="7108322"/>
            <a:ext cx="2053655" cy="2679023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767;p34">
            <a:extLst>
              <a:ext uri="{FF2B5EF4-FFF2-40B4-BE49-F238E27FC236}">
                <a16:creationId xmlns:a16="http://schemas.microsoft.com/office/drawing/2014/main" id="{28B23D59-9C83-8239-F3D8-D58AE37490F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18835" y="836016"/>
            <a:ext cx="1043879" cy="1034389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737;p34">
            <a:extLst>
              <a:ext uri="{FF2B5EF4-FFF2-40B4-BE49-F238E27FC236}">
                <a16:creationId xmlns:a16="http://schemas.microsoft.com/office/drawing/2014/main" id="{F4D0D10D-4E88-5244-E6EB-046EF9AAD114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787327" y="2130030"/>
            <a:ext cx="1818213" cy="56860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784099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DB898"/>
        </a:solidFill>
        <a:effectLst/>
      </p:bgPr>
    </p:bg>
    <p:spTree>
      <p:nvGrpSpPr>
        <p:cNvPr id="1" name="Shape 627">
          <a:extLst>
            <a:ext uri="{FF2B5EF4-FFF2-40B4-BE49-F238E27FC236}">
              <a16:creationId xmlns:a16="http://schemas.microsoft.com/office/drawing/2014/main" id="{D2740280-941C-4A91-EAC8-1023821FE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8" name="Google Shape;628;p32">
            <a:extLst>
              <a:ext uri="{FF2B5EF4-FFF2-40B4-BE49-F238E27FC236}">
                <a16:creationId xmlns:a16="http://schemas.microsoft.com/office/drawing/2014/main" id="{0DE8A5D1-991E-E807-C3ED-752A5DC495B5}"/>
              </a:ext>
            </a:extLst>
          </p:cNvPr>
          <p:cNvGrpSpPr/>
          <p:nvPr/>
        </p:nvGrpSpPr>
        <p:grpSpPr>
          <a:xfrm>
            <a:off x="433368" y="356596"/>
            <a:ext cx="17445111" cy="9558487"/>
            <a:chOff x="5692" y="-38100"/>
            <a:chExt cx="4594567" cy="2517445"/>
          </a:xfrm>
        </p:grpSpPr>
        <p:sp>
          <p:nvSpPr>
            <p:cNvPr id="629" name="Google Shape;629;p32">
              <a:extLst>
                <a:ext uri="{FF2B5EF4-FFF2-40B4-BE49-F238E27FC236}">
                  <a16:creationId xmlns:a16="http://schemas.microsoft.com/office/drawing/2014/main" id="{6EC02395-5119-3805-F0E0-564A01668686}"/>
                </a:ext>
              </a:extLst>
            </p:cNvPr>
            <p:cNvSpPr/>
            <p:nvPr/>
          </p:nvSpPr>
          <p:spPr>
            <a:xfrm>
              <a:off x="5692" y="-4035"/>
              <a:ext cx="4594567" cy="2483380"/>
            </a:xfrm>
            <a:custGeom>
              <a:avLst/>
              <a:gdLst/>
              <a:ahLst/>
              <a:cxnLst/>
              <a:rect l="l" t="t" r="r" b="b"/>
              <a:pathLst>
                <a:path w="4594567" h="2483380" extrusionOk="0">
                  <a:moveTo>
                    <a:pt x="4515149" y="0"/>
                  </a:moveTo>
                  <a:lnTo>
                    <a:pt x="79418" y="0"/>
                  </a:lnTo>
                  <a:cubicBezTo>
                    <a:pt x="79418" y="43699"/>
                    <a:pt x="44079" y="79418"/>
                    <a:pt x="0" y="79418"/>
                  </a:cubicBezTo>
                  <a:lnTo>
                    <a:pt x="0" y="2403962"/>
                  </a:lnTo>
                  <a:cubicBezTo>
                    <a:pt x="43699" y="2403962"/>
                    <a:pt x="79418" y="2439301"/>
                    <a:pt x="79418" y="2483380"/>
                  </a:cubicBezTo>
                  <a:lnTo>
                    <a:pt x="4515149" y="2483380"/>
                  </a:lnTo>
                  <a:cubicBezTo>
                    <a:pt x="4515149" y="2439681"/>
                    <a:pt x="4550488" y="2403962"/>
                    <a:pt x="4594567" y="2403962"/>
                  </a:cubicBezTo>
                  <a:lnTo>
                    <a:pt x="4594567" y="79418"/>
                  </a:lnTo>
                  <a:cubicBezTo>
                    <a:pt x="4550868" y="79418"/>
                    <a:pt x="4515149" y="44079"/>
                    <a:pt x="4515149" y="0"/>
                  </a:cubicBezTo>
                  <a:close/>
                </a:path>
              </a:pathLst>
            </a:custGeom>
            <a:solidFill>
              <a:srgbClr val="EBEAE6"/>
            </a:solidFill>
            <a:ln w="104775" cap="flat" cmpd="sng">
              <a:solidFill>
                <a:srgbClr val="3A7D4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0" name="Google Shape;630;p32">
              <a:extLst>
                <a:ext uri="{FF2B5EF4-FFF2-40B4-BE49-F238E27FC236}">
                  <a16:creationId xmlns:a16="http://schemas.microsoft.com/office/drawing/2014/main" id="{86B4A12C-122B-0607-02B1-4DA41BA9E463}"/>
                </a:ext>
              </a:extLst>
            </p:cNvPr>
            <p:cNvSpPr txBox="1"/>
            <p:nvPr/>
          </p:nvSpPr>
          <p:spPr>
            <a:xfrm>
              <a:off x="38100" y="-38100"/>
              <a:ext cx="736600" cy="81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6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68" name="Google Shape;668;p32">
            <a:extLst>
              <a:ext uri="{FF2B5EF4-FFF2-40B4-BE49-F238E27FC236}">
                <a16:creationId xmlns:a16="http://schemas.microsoft.com/office/drawing/2014/main" id="{7ABFBECF-8828-BF5F-9D57-743514768962}"/>
              </a:ext>
            </a:extLst>
          </p:cNvPr>
          <p:cNvGrpSpPr/>
          <p:nvPr/>
        </p:nvGrpSpPr>
        <p:grpSpPr>
          <a:xfrm>
            <a:off x="556419" y="674840"/>
            <a:ext cx="7615623" cy="7410122"/>
            <a:chOff x="-629707" y="-7894862"/>
            <a:chExt cx="10154164" cy="9880163"/>
          </a:xfrm>
        </p:grpSpPr>
        <p:sp>
          <p:nvSpPr>
            <p:cNvPr id="669" name="Google Shape;669;p32">
              <a:extLst>
                <a:ext uri="{FF2B5EF4-FFF2-40B4-BE49-F238E27FC236}">
                  <a16:creationId xmlns:a16="http://schemas.microsoft.com/office/drawing/2014/main" id="{8AD59788-7EF2-D8DC-A751-CFC5F1382EBC}"/>
                </a:ext>
              </a:extLst>
            </p:cNvPr>
            <p:cNvSpPr txBox="1"/>
            <p:nvPr/>
          </p:nvSpPr>
          <p:spPr>
            <a:xfrm>
              <a:off x="-217614" y="-7894862"/>
              <a:ext cx="9742071" cy="196977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/>
              <a:r>
                <a:rPr lang="en-US" sz="4800" b="1" dirty="0">
                  <a:solidFill>
                    <a:srgbClr val="3A7D4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Sriracha"/>
                </a:rPr>
                <a:t>Weekday vs Weekend AQHI Differences with 95% CI</a:t>
              </a:r>
              <a:endParaRPr sz="4800" dirty="0"/>
            </a:p>
          </p:txBody>
        </p:sp>
        <p:sp>
          <p:nvSpPr>
            <p:cNvPr id="670" name="Google Shape;670;p32">
              <a:extLst>
                <a:ext uri="{FF2B5EF4-FFF2-40B4-BE49-F238E27FC236}">
                  <a16:creationId xmlns:a16="http://schemas.microsoft.com/office/drawing/2014/main" id="{A04E3532-EAEB-D4F2-0847-FBF64962D34F}"/>
                </a:ext>
              </a:extLst>
            </p:cNvPr>
            <p:cNvSpPr txBox="1"/>
            <p:nvPr/>
          </p:nvSpPr>
          <p:spPr>
            <a:xfrm>
              <a:off x="-629707" y="-4908894"/>
              <a:ext cx="9640973" cy="689419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1">
                <a:lnSpc>
                  <a:spcPct val="140000"/>
                </a:lnSpc>
              </a:pPr>
              <a:r>
                <a:rPr lang="en-US" sz="2000" b="1" dirty="0">
                  <a:solidFill>
                    <a:srgbClr val="3A7D4D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📌 Calgary has the largest weekday–weekend gap, with weekdays showing noticeably higher AQHI.</a:t>
              </a:r>
            </a:p>
            <a:p>
              <a:pPr lvl="1">
                <a:lnSpc>
                  <a:spcPct val="140000"/>
                </a:lnSpc>
              </a:pPr>
              <a:r>
                <a:rPr lang="en-US" sz="2000" b="1" dirty="0">
                  <a:solidFill>
                    <a:srgbClr val="3A7D4D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📌 Ottawa consistently reports the lowest AQHI, and both weekday/weekend levels are tightly clustered.</a:t>
              </a:r>
            </a:p>
            <a:p>
              <a:pPr lvl="1">
                <a:lnSpc>
                  <a:spcPct val="140000"/>
                </a:lnSpc>
              </a:pPr>
              <a:r>
                <a:rPr lang="en-US" sz="2000" b="1" dirty="0">
                  <a:solidFill>
                    <a:srgbClr val="3A7D4D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📌 Toronto’s weekday and weekend means are almost identical.</a:t>
              </a:r>
            </a:p>
            <a:p>
              <a:pPr lvl="1">
                <a:lnSpc>
                  <a:spcPct val="140000"/>
                </a:lnSpc>
              </a:pPr>
              <a:r>
                <a:rPr lang="en-US" sz="2000" b="1" dirty="0">
                  <a:solidFill>
                    <a:srgbClr val="3A7D4D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📌 Vancouver shows a weekend increase in AQHI, surpassing weekday pollution levels.</a:t>
              </a:r>
            </a:p>
            <a:p>
              <a:pPr lvl="1">
                <a:lnSpc>
                  <a:spcPct val="140000"/>
                </a:lnSpc>
              </a:pPr>
              <a:r>
                <a:rPr lang="en-US" sz="2000" b="1" dirty="0">
                  <a:solidFill>
                    <a:srgbClr val="3A7D4D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📌 Victoria also has higher AQHI on weekends, with a clear separation between the two distributions</a:t>
              </a:r>
            </a:p>
            <a:p>
              <a:pPr lvl="1">
                <a:lnSpc>
                  <a:spcPct val="140000"/>
                </a:lnSpc>
              </a:pPr>
              <a:r>
                <a:rPr lang="en-US" sz="2000" b="1" dirty="0">
                  <a:solidFill>
                    <a:srgbClr val="3A7D4D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📌 Overall pattern: Inland cities → Higher AQHI on weekdays.</a:t>
              </a:r>
            </a:p>
            <a:p>
              <a:pPr lvl="1">
                <a:lnSpc>
                  <a:spcPct val="140000"/>
                </a:lnSpc>
              </a:pPr>
              <a:r>
                <a:rPr lang="en-US" sz="2000" b="1" dirty="0">
                  <a:solidFill>
                    <a:srgbClr val="3A7D4D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Coastal cities → Higher AQHI on weekends.</a:t>
              </a:r>
              <a:endParaRPr sz="2000" dirty="0"/>
            </a:p>
          </p:txBody>
        </p:sp>
      </p:grpSp>
      <p:grpSp>
        <p:nvGrpSpPr>
          <p:cNvPr id="4" name="Google Shape;162;p15">
            <a:extLst>
              <a:ext uri="{FF2B5EF4-FFF2-40B4-BE49-F238E27FC236}">
                <a16:creationId xmlns:a16="http://schemas.microsoft.com/office/drawing/2014/main" id="{840C0060-E506-5016-AE75-959CA5605430}"/>
              </a:ext>
            </a:extLst>
          </p:cNvPr>
          <p:cNvGrpSpPr/>
          <p:nvPr/>
        </p:nvGrpSpPr>
        <p:grpSpPr>
          <a:xfrm>
            <a:off x="5790046" y="1711460"/>
            <a:ext cx="11526016" cy="6265780"/>
            <a:chOff x="0" y="-76200"/>
            <a:chExt cx="2459003" cy="2502830"/>
          </a:xfrm>
        </p:grpSpPr>
        <p:sp>
          <p:nvSpPr>
            <p:cNvPr id="5" name="Google Shape;163;p15">
              <a:extLst>
                <a:ext uri="{FF2B5EF4-FFF2-40B4-BE49-F238E27FC236}">
                  <a16:creationId xmlns:a16="http://schemas.microsoft.com/office/drawing/2014/main" id="{C740B04C-DC8F-571B-26B6-6210DDF9FA7B}"/>
                </a:ext>
              </a:extLst>
            </p:cNvPr>
            <p:cNvSpPr/>
            <p:nvPr/>
          </p:nvSpPr>
          <p:spPr>
            <a:xfrm>
              <a:off x="508184" y="207989"/>
              <a:ext cx="1950819" cy="2218641"/>
            </a:xfrm>
            <a:custGeom>
              <a:avLst/>
              <a:gdLst/>
              <a:ahLst/>
              <a:cxnLst/>
              <a:rect l="l" t="t" r="r" b="b"/>
              <a:pathLst>
                <a:path w="1950819" h="2218641" extrusionOk="0">
                  <a:moveTo>
                    <a:pt x="0" y="0"/>
                  </a:moveTo>
                  <a:lnTo>
                    <a:pt x="1950819" y="0"/>
                  </a:lnTo>
                  <a:lnTo>
                    <a:pt x="1950819" y="2218641"/>
                  </a:lnTo>
                  <a:lnTo>
                    <a:pt x="0" y="221864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04775" cap="flat" cmpd="sng">
              <a:solidFill>
                <a:srgbClr val="3A7D4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" name="Google Shape;164;p15">
              <a:extLst>
                <a:ext uri="{FF2B5EF4-FFF2-40B4-BE49-F238E27FC236}">
                  <a16:creationId xmlns:a16="http://schemas.microsoft.com/office/drawing/2014/main" id="{C9AD89DF-D958-CBF3-04B9-BB2DEB41C394}"/>
                </a:ext>
              </a:extLst>
            </p:cNvPr>
            <p:cNvSpPr txBox="1"/>
            <p:nvPr/>
          </p:nvSpPr>
          <p:spPr>
            <a:xfrm>
              <a:off x="0" y="-76200"/>
              <a:ext cx="812800" cy="889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6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7" name="Picture 6" descr="A graph of blue and orange bars&#10;&#10;AI-generated content may be incorrect.">
            <a:extLst>
              <a:ext uri="{FF2B5EF4-FFF2-40B4-BE49-F238E27FC236}">
                <a16:creationId xmlns:a16="http://schemas.microsoft.com/office/drawing/2014/main" id="{299A3839-6D9C-A036-2904-7966C2B1F9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2043" y="2456874"/>
            <a:ext cx="9144019" cy="5486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0701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DB898"/>
        </a:solidFill>
        <a:effectLst/>
      </p:bgPr>
    </p:bg>
    <p:spTree>
      <p:nvGrpSpPr>
        <p:cNvPr id="1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8" name="Google Shape;628;p32"/>
          <p:cNvGrpSpPr/>
          <p:nvPr/>
        </p:nvGrpSpPr>
        <p:grpSpPr>
          <a:xfrm>
            <a:off x="433368" y="356596"/>
            <a:ext cx="17445111" cy="9558487"/>
            <a:chOff x="5692" y="-38100"/>
            <a:chExt cx="4594567" cy="2517445"/>
          </a:xfrm>
        </p:grpSpPr>
        <p:sp>
          <p:nvSpPr>
            <p:cNvPr id="629" name="Google Shape;629;p32"/>
            <p:cNvSpPr/>
            <p:nvPr/>
          </p:nvSpPr>
          <p:spPr>
            <a:xfrm>
              <a:off x="5692" y="-4035"/>
              <a:ext cx="4594567" cy="2483380"/>
            </a:xfrm>
            <a:custGeom>
              <a:avLst/>
              <a:gdLst/>
              <a:ahLst/>
              <a:cxnLst/>
              <a:rect l="l" t="t" r="r" b="b"/>
              <a:pathLst>
                <a:path w="4594567" h="2483380" extrusionOk="0">
                  <a:moveTo>
                    <a:pt x="4515149" y="0"/>
                  </a:moveTo>
                  <a:lnTo>
                    <a:pt x="79418" y="0"/>
                  </a:lnTo>
                  <a:cubicBezTo>
                    <a:pt x="79418" y="43699"/>
                    <a:pt x="44079" y="79418"/>
                    <a:pt x="0" y="79418"/>
                  </a:cubicBezTo>
                  <a:lnTo>
                    <a:pt x="0" y="2403962"/>
                  </a:lnTo>
                  <a:cubicBezTo>
                    <a:pt x="43699" y="2403962"/>
                    <a:pt x="79418" y="2439301"/>
                    <a:pt x="79418" y="2483380"/>
                  </a:cubicBezTo>
                  <a:lnTo>
                    <a:pt x="4515149" y="2483380"/>
                  </a:lnTo>
                  <a:cubicBezTo>
                    <a:pt x="4515149" y="2439681"/>
                    <a:pt x="4550488" y="2403962"/>
                    <a:pt x="4594567" y="2403962"/>
                  </a:cubicBezTo>
                  <a:lnTo>
                    <a:pt x="4594567" y="79418"/>
                  </a:lnTo>
                  <a:cubicBezTo>
                    <a:pt x="4550868" y="79418"/>
                    <a:pt x="4515149" y="44079"/>
                    <a:pt x="4515149" y="0"/>
                  </a:cubicBezTo>
                  <a:close/>
                </a:path>
              </a:pathLst>
            </a:custGeom>
            <a:solidFill>
              <a:srgbClr val="EBEAE6"/>
            </a:solidFill>
            <a:ln w="104775" cap="flat" cmpd="sng">
              <a:solidFill>
                <a:srgbClr val="3A7D4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0" name="Google Shape;630;p32"/>
            <p:cNvSpPr txBox="1"/>
            <p:nvPr/>
          </p:nvSpPr>
          <p:spPr>
            <a:xfrm>
              <a:off x="38100" y="-38100"/>
              <a:ext cx="736600" cy="81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6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68" name="Google Shape;668;p32"/>
          <p:cNvGrpSpPr/>
          <p:nvPr/>
        </p:nvGrpSpPr>
        <p:grpSpPr>
          <a:xfrm>
            <a:off x="865489" y="674840"/>
            <a:ext cx="7492576" cy="7302400"/>
            <a:chOff x="-217614" y="-7894862"/>
            <a:chExt cx="9990101" cy="9736533"/>
          </a:xfrm>
        </p:grpSpPr>
        <p:sp>
          <p:nvSpPr>
            <p:cNvPr id="669" name="Google Shape;669;p32"/>
            <p:cNvSpPr txBox="1"/>
            <p:nvPr/>
          </p:nvSpPr>
          <p:spPr>
            <a:xfrm>
              <a:off x="-217614" y="-7894862"/>
              <a:ext cx="9990101" cy="24622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/>
              <a:r>
                <a:rPr lang="en-US" sz="4000" b="1" dirty="0">
                  <a:solidFill>
                    <a:srgbClr val="3A7D4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Sriracha"/>
                </a:rPr>
                <a:t>Do AQHI Levels Differ Between Weekdays and Weekends Across Cities?</a:t>
              </a:r>
              <a:endParaRPr sz="4000" dirty="0"/>
            </a:p>
          </p:txBody>
        </p:sp>
        <p:sp>
          <p:nvSpPr>
            <p:cNvPr id="670" name="Google Shape;670;p32"/>
            <p:cNvSpPr txBox="1"/>
            <p:nvPr/>
          </p:nvSpPr>
          <p:spPr>
            <a:xfrm>
              <a:off x="-217614" y="-4908894"/>
              <a:ext cx="9248544" cy="67505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1">
                <a:lnSpc>
                  <a:spcPct val="140000"/>
                </a:lnSpc>
              </a:pPr>
              <a:r>
                <a:rPr lang="en-US" sz="2400" b="1" dirty="0">
                  <a:solidFill>
                    <a:srgbClr val="3A7D4D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📌  </a:t>
              </a:r>
              <a:r>
                <a:rPr lang="en-US" sz="2300" b="1" dirty="0">
                  <a:solidFill>
                    <a:srgbClr val="3A7D4D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Calgary shows slightly higher AQHI on weekdays </a:t>
              </a:r>
            </a:p>
            <a:p>
              <a:pPr lvl="1">
                <a:lnSpc>
                  <a:spcPct val="140000"/>
                </a:lnSpc>
              </a:pPr>
              <a:r>
                <a:rPr lang="en-US" sz="2400" b="1" dirty="0">
                  <a:solidFill>
                    <a:srgbClr val="3A7D4D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📌  </a:t>
              </a:r>
              <a:r>
                <a:rPr lang="en-US" sz="2300" b="1" dirty="0">
                  <a:solidFill>
                    <a:srgbClr val="3A7D4D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Ottawa has lower AQHI overall, with weekends slightly cleaner </a:t>
              </a:r>
            </a:p>
            <a:p>
              <a:pPr lvl="1">
                <a:lnSpc>
                  <a:spcPct val="140000"/>
                </a:lnSpc>
              </a:pPr>
              <a:r>
                <a:rPr lang="en-US" sz="2400" b="1" dirty="0">
                  <a:solidFill>
                    <a:srgbClr val="3A7D4D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📌  </a:t>
              </a:r>
              <a:r>
                <a:rPr lang="en-US" sz="2300" b="1" dirty="0">
                  <a:solidFill>
                    <a:srgbClr val="3A7D4D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Toronto shows minimal difference between weekday and weekend </a:t>
              </a:r>
            </a:p>
            <a:p>
              <a:pPr lvl="1">
                <a:lnSpc>
                  <a:spcPct val="140000"/>
                </a:lnSpc>
              </a:pPr>
              <a:r>
                <a:rPr lang="en-US" sz="2400" b="1" dirty="0">
                  <a:solidFill>
                    <a:srgbClr val="3A7D4D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📌  </a:t>
              </a:r>
              <a:r>
                <a:rPr lang="en-US" sz="2300" b="1" dirty="0">
                  <a:solidFill>
                    <a:srgbClr val="3A7D4D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Vancouver &amp; Victoria have higher AQHI on weekends, likely from coastal traffic/activity patterns</a:t>
              </a:r>
            </a:p>
            <a:p>
              <a:pPr lvl="1">
                <a:lnSpc>
                  <a:spcPct val="140000"/>
                </a:lnSpc>
              </a:pPr>
              <a:r>
                <a:rPr lang="en-US" sz="2300" b="1" dirty="0">
                  <a:solidFill>
                    <a:srgbClr val="3A7D4D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 </a:t>
              </a:r>
              <a:r>
                <a:rPr lang="en-US" sz="2400" b="1" dirty="0">
                  <a:solidFill>
                    <a:srgbClr val="3A7D4D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📌 </a:t>
              </a:r>
              <a:r>
                <a:rPr lang="en-US" sz="2300" b="1" dirty="0">
                  <a:solidFill>
                    <a:srgbClr val="3A7D4D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Overall: Differences exist, but they vary significantly by city</a:t>
              </a:r>
              <a:r>
                <a:rPr lang="en-US" sz="2300" b="1" i="0" u="none" strike="noStrike" cap="none" dirty="0">
                  <a:solidFill>
                    <a:srgbClr val="3A7D4D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. </a:t>
              </a:r>
              <a:endParaRPr dirty="0"/>
            </a:p>
          </p:txBody>
        </p:sp>
      </p:grpSp>
      <p:pic>
        <p:nvPicPr>
          <p:cNvPr id="3" name="Picture 2" descr="A chart with different colored squares&#10;&#10;AI-generated content may be incorrect.">
            <a:extLst>
              <a:ext uri="{FF2B5EF4-FFF2-40B4-BE49-F238E27FC236}">
                <a16:creationId xmlns:a16="http://schemas.microsoft.com/office/drawing/2014/main" id="{717ED79E-EAA9-3F1A-A562-EBFC5D02B0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8994" y="2457304"/>
            <a:ext cx="9144019" cy="5486411"/>
          </a:xfrm>
          <a:prstGeom prst="rect">
            <a:avLst/>
          </a:prstGeom>
        </p:spPr>
      </p:pic>
      <p:grpSp>
        <p:nvGrpSpPr>
          <p:cNvPr id="4" name="Google Shape;162;p15">
            <a:extLst>
              <a:ext uri="{FF2B5EF4-FFF2-40B4-BE49-F238E27FC236}">
                <a16:creationId xmlns:a16="http://schemas.microsoft.com/office/drawing/2014/main" id="{A7BA8948-F621-8E22-85D4-C4AB0BC7D50C}"/>
              </a:ext>
            </a:extLst>
          </p:cNvPr>
          <p:cNvGrpSpPr/>
          <p:nvPr/>
        </p:nvGrpSpPr>
        <p:grpSpPr>
          <a:xfrm>
            <a:off x="8048994" y="2202855"/>
            <a:ext cx="9144019" cy="5745084"/>
            <a:chOff x="0" y="-76200"/>
            <a:chExt cx="1950819" cy="2294841"/>
          </a:xfrm>
        </p:grpSpPr>
        <p:sp>
          <p:nvSpPr>
            <p:cNvPr id="5" name="Google Shape;163;p15">
              <a:extLst>
                <a:ext uri="{FF2B5EF4-FFF2-40B4-BE49-F238E27FC236}">
                  <a16:creationId xmlns:a16="http://schemas.microsoft.com/office/drawing/2014/main" id="{53F0FF9A-B59A-A964-C701-BA18E7878672}"/>
                </a:ext>
              </a:extLst>
            </p:cNvPr>
            <p:cNvSpPr/>
            <p:nvPr/>
          </p:nvSpPr>
          <p:spPr>
            <a:xfrm>
              <a:off x="0" y="0"/>
              <a:ext cx="1950819" cy="2218641"/>
            </a:xfrm>
            <a:custGeom>
              <a:avLst/>
              <a:gdLst/>
              <a:ahLst/>
              <a:cxnLst/>
              <a:rect l="l" t="t" r="r" b="b"/>
              <a:pathLst>
                <a:path w="1950819" h="2218641" extrusionOk="0">
                  <a:moveTo>
                    <a:pt x="0" y="0"/>
                  </a:moveTo>
                  <a:lnTo>
                    <a:pt x="1950819" y="0"/>
                  </a:lnTo>
                  <a:lnTo>
                    <a:pt x="1950819" y="2218641"/>
                  </a:lnTo>
                  <a:lnTo>
                    <a:pt x="0" y="221864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04775" cap="flat" cmpd="sng">
              <a:solidFill>
                <a:srgbClr val="3A7D4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Google Shape;164;p15">
              <a:extLst>
                <a:ext uri="{FF2B5EF4-FFF2-40B4-BE49-F238E27FC236}">
                  <a16:creationId xmlns:a16="http://schemas.microsoft.com/office/drawing/2014/main" id="{15C27432-0F68-DC9D-2E85-D192DD29065C}"/>
                </a:ext>
              </a:extLst>
            </p:cNvPr>
            <p:cNvSpPr txBox="1"/>
            <p:nvPr/>
          </p:nvSpPr>
          <p:spPr>
            <a:xfrm>
              <a:off x="0" y="-76200"/>
              <a:ext cx="812800" cy="889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6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DB898"/>
        </a:solidFill>
        <a:effectLst/>
      </p:bgPr>
    </p:bg>
    <p:spTree>
      <p:nvGrpSpPr>
        <p:cNvPr id="1" name="Shape 627">
          <a:extLst>
            <a:ext uri="{FF2B5EF4-FFF2-40B4-BE49-F238E27FC236}">
              <a16:creationId xmlns:a16="http://schemas.microsoft.com/office/drawing/2014/main" id="{AFB4D902-EF63-EBFE-E7E5-956D36F68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8" name="Google Shape;628;p32">
            <a:extLst>
              <a:ext uri="{FF2B5EF4-FFF2-40B4-BE49-F238E27FC236}">
                <a16:creationId xmlns:a16="http://schemas.microsoft.com/office/drawing/2014/main" id="{FA518C88-C318-E330-B321-3EC9572D807A}"/>
              </a:ext>
            </a:extLst>
          </p:cNvPr>
          <p:cNvGrpSpPr/>
          <p:nvPr/>
        </p:nvGrpSpPr>
        <p:grpSpPr>
          <a:xfrm>
            <a:off x="433368" y="356596"/>
            <a:ext cx="17445111" cy="9558487"/>
            <a:chOff x="5692" y="-38100"/>
            <a:chExt cx="4594567" cy="2517445"/>
          </a:xfrm>
        </p:grpSpPr>
        <p:sp>
          <p:nvSpPr>
            <p:cNvPr id="629" name="Google Shape;629;p32">
              <a:extLst>
                <a:ext uri="{FF2B5EF4-FFF2-40B4-BE49-F238E27FC236}">
                  <a16:creationId xmlns:a16="http://schemas.microsoft.com/office/drawing/2014/main" id="{478FC071-FCC2-C4C7-3202-E970A6C5F87B}"/>
                </a:ext>
              </a:extLst>
            </p:cNvPr>
            <p:cNvSpPr/>
            <p:nvPr/>
          </p:nvSpPr>
          <p:spPr>
            <a:xfrm>
              <a:off x="5692" y="-4035"/>
              <a:ext cx="4594567" cy="2483380"/>
            </a:xfrm>
            <a:custGeom>
              <a:avLst/>
              <a:gdLst/>
              <a:ahLst/>
              <a:cxnLst/>
              <a:rect l="l" t="t" r="r" b="b"/>
              <a:pathLst>
                <a:path w="4594567" h="2483380" extrusionOk="0">
                  <a:moveTo>
                    <a:pt x="4515149" y="0"/>
                  </a:moveTo>
                  <a:lnTo>
                    <a:pt x="79418" y="0"/>
                  </a:lnTo>
                  <a:cubicBezTo>
                    <a:pt x="79418" y="43699"/>
                    <a:pt x="44079" y="79418"/>
                    <a:pt x="0" y="79418"/>
                  </a:cubicBezTo>
                  <a:lnTo>
                    <a:pt x="0" y="2403962"/>
                  </a:lnTo>
                  <a:cubicBezTo>
                    <a:pt x="43699" y="2403962"/>
                    <a:pt x="79418" y="2439301"/>
                    <a:pt x="79418" y="2483380"/>
                  </a:cubicBezTo>
                  <a:lnTo>
                    <a:pt x="4515149" y="2483380"/>
                  </a:lnTo>
                  <a:cubicBezTo>
                    <a:pt x="4515149" y="2439681"/>
                    <a:pt x="4550488" y="2403962"/>
                    <a:pt x="4594567" y="2403962"/>
                  </a:cubicBezTo>
                  <a:lnTo>
                    <a:pt x="4594567" y="79418"/>
                  </a:lnTo>
                  <a:cubicBezTo>
                    <a:pt x="4550868" y="79418"/>
                    <a:pt x="4515149" y="44079"/>
                    <a:pt x="4515149" y="0"/>
                  </a:cubicBezTo>
                  <a:close/>
                </a:path>
              </a:pathLst>
            </a:custGeom>
            <a:solidFill>
              <a:srgbClr val="EBEAE6"/>
            </a:solidFill>
            <a:ln w="104775" cap="flat" cmpd="sng">
              <a:solidFill>
                <a:srgbClr val="3A7D4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0" name="Google Shape;630;p32">
              <a:extLst>
                <a:ext uri="{FF2B5EF4-FFF2-40B4-BE49-F238E27FC236}">
                  <a16:creationId xmlns:a16="http://schemas.microsoft.com/office/drawing/2014/main" id="{BDE65E84-EC56-64A6-37DB-97856C7DAE1F}"/>
                </a:ext>
              </a:extLst>
            </p:cNvPr>
            <p:cNvSpPr txBox="1"/>
            <p:nvPr/>
          </p:nvSpPr>
          <p:spPr>
            <a:xfrm>
              <a:off x="38100" y="-38100"/>
              <a:ext cx="736600" cy="81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6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68" name="Google Shape;668;p32">
            <a:extLst>
              <a:ext uri="{FF2B5EF4-FFF2-40B4-BE49-F238E27FC236}">
                <a16:creationId xmlns:a16="http://schemas.microsoft.com/office/drawing/2014/main" id="{F17CD5F3-863C-16B3-0985-0B3CFE589D76}"/>
              </a:ext>
            </a:extLst>
          </p:cNvPr>
          <p:cNvGrpSpPr/>
          <p:nvPr/>
        </p:nvGrpSpPr>
        <p:grpSpPr>
          <a:xfrm>
            <a:off x="865489" y="674840"/>
            <a:ext cx="7492576" cy="8471941"/>
            <a:chOff x="-217614" y="-7894862"/>
            <a:chExt cx="9990101" cy="11295921"/>
          </a:xfrm>
        </p:grpSpPr>
        <p:sp>
          <p:nvSpPr>
            <p:cNvPr id="669" name="Google Shape;669;p32">
              <a:extLst>
                <a:ext uri="{FF2B5EF4-FFF2-40B4-BE49-F238E27FC236}">
                  <a16:creationId xmlns:a16="http://schemas.microsoft.com/office/drawing/2014/main" id="{109425E2-4D0A-AE50-14D8-2D6DB74F2DBA}"/>
                </a:ext>
              </a:extLst>
            </p:cNvPr>
            <p:cNvSpPr txBox="1"/>
            <p:nvPr/>
          </p:nvSpPr>
          <p:spPr>
            <a:xfrm>
              <a:off x="-217614" y="-7894862"/>
              <a:ext cx="9990101" cy="24622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/>
              <a:r>
                <a:rPr lang="en-US" sz="4000" b="1" dirty="0">
                  <a:solidFill>
                    <a:srgbClr val="3A7D4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Sriracha"/>
                </a:rPr>
                <a:t>How Do AQHI Patterns Vary by Time of Day on Weekdays vs Weekends?</a:t>
              </a:r>
              <a:endParaRPr sz="4000" dirty="0"/>
            </a:p>
          </p:txBody>
        </p:sp>
        <p:sp>
          <p:nvSpPr>
            <p:cNvPr id="670" name="Google Shape;670;p32">
              <a:extLst>
                <a:ext uri="{FF2B5EF4-FFF2-40B4-BE49-F238E27FC236}">
                  <a16:creationId xmlns:a16="http://schemas.microsoft.com/office/drawing/2014/main" id="{62227F71-BF6C-A271-C790-37DBFFBAB7EF}"/>
                </a:ext>
              </a:extLst>
            </p:cNvPr>
            <p:cNvSpPr txBox="1"/>
            <p:nvPr/>
          </p:nvSpPr>
          <p:spPr>
            <a:xfrm>
              <a:off x="-190111" y="-5245410"/>
              <a:ext cx="9248544" cy="86464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1">
                <a:lnSpc>
                  <a:spcPct val="140000"/>
                </a:lnSpc>
              </a:pPr>
              <a:r>
                <a:rPr lang="en-US" sz="2400" b="1" dirty="0">
                  <a:solidFill>
                    <a:srgbClr val="3A7D4D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📌 </a:t>
              </a:r>
              <a:r>
                <a:rPr lang="en-US" sz="2300" b="1" dirty="0">
                  <a:solidFill>
                    <a:srgbClr val="3A7D4D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Calgary: Weekday AQHI is consistently higher, especially in the afternoon and evening.</a:t>
              </a:r>
            </a:p>
            <a:p>
              <a:pPr lvl="1">
                <a:lnSpc>
                  <a:spcPct val="140000"/>
                </a:lnSpc>
              </a:pPr>
              <a:r>
                <a:rPr lang="en-US" sz="2000" b="1" dirty="0">
                  <a:solidFill>
                    <a:srgbClr val="3A7D4D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📌  </a:t>
              </a:r>
              <a:r>
                <a:rPr lang="en-US" sz="2300" b="1" dirty="0">
                  <a:solidFill>
                    <a:srgbClr val="3A7D4D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Ottawa: Weekdays are higher in the morning and evening, while weekends rise slightly at night.</a:t>
              </a:r>
            </a:p>
            <a:p>
              <a:pPr lvl="1">
                <a:lnSpc>
                  <a:spcPct val="140000"/>
                </a:lnSpc>
              </a:pPr>
              <a:r>
                <a:rPr lang="en-US" sz="2000" b="1" dirty="0">
                  <a:solidFill>
                    <a:srgbClr val="3A7D4D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📌  </a:t>
              </a:r>
              <a:r>
                <a:rPr lang="en-US" sz="2300" b="1" dirty="0">
                  <a:solidFill>
                    <a:srgbClr val="3A7D4D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Toronto: Very small differences—weekday and weekend lines nearly overlap across all times.</a:t>
              </a:r>
            </a:p>
            <a:p>
              <a:pPr lvl="1">
                <a:lnSpc>
                  <a:spcPct val="140000"/>
                </a:lnSpc>
              </a:pPr>
              <a:r>
                <a:rPr lang="en-US" sz="2000" b="1" dirty="0">
                  <a:solidFill>
                    <a:srgbClr val="3A7D4D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📌  </a:t>
              </a:r>
              <a:r>
                <a:rPr lang="en-US" sz="2300" b="1" dirty="0">
                  <a:solidFill>
                    <a:srgbClr val="3A7D4D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Vancouver: Weekends tend to be higher, particularly in the morning and afternoon.</a:t>
              </a:r>
            </a:p>
            <a:p>
              <a:pPr lvl="1">
                <a:lnSpc>
                  <a:spcPct val="140000"/>
                </a:lnSpc>
              </a:pPr>
              <a:r>
                <a:rPr lang="en-US" sz="2000" b="1" dirty="0">
                  <a:solidFill>
                    <a:srgbClr val="3A7D4D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📌  </a:t>
              </a:r>
              <a:r>
                <a:rPr lang="en-US" sz="2300" b="1" dirty="0">
                  <a:solidFill>
                    <a:srgbClr val="3A7D4D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Victoria: Weekend AQHI spikes in the morning and is noticeably higher at night compared to weekdays.</a:t>
              </a:r>
            </a:p>
            <a:p>
              <a:pPr lvl="1">
                <a:lnSpc>
                  <a:spcPct val="140000"/>
                </a:lnSpc>
              </a:pPr>
              <a:r>
                <a:rPr lang="en-US" sz="2000" b="1" dirty="0">
                  <a:solidFill>
                    <a:srgbClr val="3A7D4D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📌  </a:t>
              </a:r>
              <a:r>
                <a:rPr lang="en-US" sz="2300" b="1" dirty="0">
                  <a:solidFill>
                    <a:srgbClr val="3A7D4D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Overall: Inland cities show higher AQHI on weekdays, while coastal cities show higher AQHI on weekends.</a:t>
              </a:r>
              <a:endParaRPr dirty="0"/>
            </a:p>
          </p:txBody>
        </p:sp>
      </p:grpSp>
      <p:grpSp>
        <p:nvGrpSpPr>
          <p:cNvPr id="4" name="Google Shape;162;p15">
            <a:extLst>
              <a:ext uri="{FF2B5EF4-FFF2-40B4-BE49-F238E27FC236}">
                <a16:creationId xmlns:a16="http://schemas.microsoft.com/office/drawing/2014/main" id="{FEE30A47-C03F-3802-DA5F-E0D450995E24}"/>
              </a:ext>
            </a:extLst>
          </p:cNvPr>
          <p:cNvGrpSpPr/>
          <p:nvPr/>
        </p:nvGrpSpPr>
        <p:grpSpPr>
          <a:xfrm>
            <a:off x="7739924" y="2521499"/>
            <a:ext cx="9682587" cy="5694749"/>
            <a:chOff x="0" y="-76200"/>
            <a:chExt cx="2065719" cy="2274735"/>
          </a:xfrm>
        </p:grpSpPr>
        <p:sp>
          <p:nvSpPr>
            <p:cNvPr id="5" name="Google Shape;163;p15">
              <a:extLst>
                <a:ext uri="{FF2B5EF4-FFF2-40B4-BE49-F238E27FC236}">
                  <a16:creationId xmlns:a16="http://schemas.microsoft.com/office/drawing/2014/main" id="{D41C8503-E14C-2114-A333-D85A838C190E}"/>
                </a:ext>
              </a:extLst>
            </p:cNvPr>
            <p:cNvSpPr/>
            <p:nvPr/>
          </p:nvSpPr>
          <p:spPr>
            <a:xfrm>
              <a:off x="114900" y="-20106"/>
              <a:ext cx="1950819" cy="2218641"/>
            </a:xfrm>
            <a:custGeom>
              <a:avLst/>
              <a:gdLst/>
              <a:ahLst/>
              <a:cxnLst/>
              <a:rect l="l" t="t" r="r" b="b"/>
              <a:pathLst>
                <a:path w="1950819" h="2218641" extrusionOk="0">
                  <a:moveTo>
                    <a:pt x="0" y="0"/>
                  </a:moveTo>
                  <a:lnTo>
                    <a:pt x="1950819" y="0"/>
                  </a:lnTo>
                  <a:lnTo>
                    <a:pt x="1950819" y="2218641"/>
                  </a:lnTo>
                  <a:lnTo>
                    <a:pt x="0" y="221864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04775" cap="flat" cmpd="sng">
              <a:solidFill>
                <a:srgbClr val="3A7D4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Google Shape;164;p15">
              <a:extLst>
                <a:ext uri="{FF2B5EF4-FFF2-40B4-BE49-F238E27FC236}">
                  <a16:creationId xmlns:a16="http://schemas.microsoft.com/office/drawing/2014/main" id="{9EF64045-36DB-66DC-93DF-4EA113375120}"/>
                </a:ext>
              </a:extLst>
            </p:cNvPr>
            <p:cNvSpPr txBox="1"/>
            <p:nvPr/>
          </p:nvSpPr>
          <p:spPr>
            <a:xfrm>
              <a:off x="0" y="-76200"/>
              <a:ext cx="812800" cy="889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6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7" name="Picture 6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461943BC-7DC3-8C59-C0FD-80DE42F994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8492" y="2695882"/>
            <a:ext cx="9144019" cy="5486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87179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DB898"/>
        </a:solidFill>
        <a:effectLst/>
      </p:bgPr>
    </p:bg>
    <p:spTree>
      <p:nvGrpSpPr>
        <p:cNvPr id="1" name="Shape 627">
          <a:extLst>
            <a:ext uri="{FF2B5EF4-FFF2-40B4-BE49-F238E27FC236}">
              <a16:creationId xmlns:a16="http://schemas.microsoft.com/office/drawing/2014/main" id="{432E62DE-C2EC-BA0D-D438-D2F2891E8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8" name="Google Shape;628;p32">
            <a:extLst>
              <a:ext uri="{FF2B5EF4-FFF2-40B4-BE49-F238E27FC236}">
                <a16:creationId xmlns:a16="http://schemas.microsoft.com/office/drawing/2014/main" id="{2F1405F6-8E96-AC3A-E238-C030AA0068BB}"/>
              </a:ext>
            </a:extLst>
          </p:cNvPr>
          <p:cNvGrpSpPr/>
          <p:nvPr/>
        </p:nvGrpSpPr>
        <p:grpSpPr>
          <a:xfrm>
            <a:off x="409521" y="82527"/>
            <a:ext cx="17445111" cy="9558487"/>
            <a:chOff x="5692" y="-38100"/>
            <a:chExt cx="4594567" cy="2517445"/>
          </a:xfrm>
        </p:grpSpPr>
        <p:sp>
          <p:nvSpPr>
            <p:cNvPr id="629" name="Google Shape;629;p32">
              <a:extLst>
                <a:ext uri="{FF2B5EF4-FFF2-40B4-BE49-F238E27FC236}">
                  <a16:creationId xmlns:a16="http://schemas.microsoft.com/office/drawing/2014/main" id="{E5826525-49E9-DC65-E5AE-16AB2626F54E}"/>
                </a:ext>
              </a:extLst>
            </p:cNvPr>
            <p:cNvSpPr/>
            <p:nvPr/>
          </p:nvSpPr>
          <p:spPr>
            <a:xfrm>
              <a:off x="5692" y="-4035"/>
              <a:ext cx="4594567" cy="2483380"/>
            </a:xfrm>
            <a:custGeom>
              <a:avLst/>
              <a:gdLst/>
              <a:ahLst/>
              <a:cxnLst/>
              <a:rect l="l" t="t" r="r" b="b"/>
              <a:pathLst>
                <a:path w="4594567" h="2483380" extrusionOk="0">
                  <a:moveTo>
                    <a:pt x="4515149" y="0"/>
                  </a:moveTo>
                  <a:lnTo>
                    <a:pt x="79418" y="0"/>
                  </a:lnTo>
                  <a:cubicBezTo>
                    <a:pt x="79418" y="43699"/>
                    <a:pt x="44079" y="79418"/>
                    <a:pt x="0" y="79418"/>
                  </a:cubicBezTo>
                  <a:lnTo>
                    <a:pt x="0" y="2403962"/>
                  </a:lnTo>
                  <a:cubicBezTo>
                    <a:pt x="43699" y="2403962"/>
                    <a:pt x="79418" y="2439301"/>
                    <a:pt x="79418" y="2483380"/>
                  </a:cubicBezTo>
                  <a:lnTo>
                    <a:pt x="4515149" y="2483380"/>
                  </a:lnTo>
                  <a:cubicBezTo>
                    <a:pt x="4515149" y="2439681"/>
                    <a:pt x="4550488" y="2403962"/>
                    <a:pt x="4594567" y="2403962"/>
                  </a:cubicBezTo>
                  <a:lnTo>
                    <a:pt x="4594567" y="79418"/>
                  </a:lnTo>
                  <a:cubicBezTo>
                    <a:pt x="4550868" y="79418"/>
                    <a:pt x="4515149" y="44079"/>
                    <a:pt x="4515149" y="0"/>
                  </a:cubicBezTo>
                  <a:close/>
                </a:path>
              </a:pathLst>
            </a:custGeom>
            <a:solidFill>
              <a:srgbClr val="EBEAE6"/>
            </a:solidFill>
            <a:ln w="104775" cap="flat" cmpd="sng">
              <a:solidFill>
                <a:srgbClr val="3A7D4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0" name="Google Shape;630;p32">
              <a:extLst>
                <a:ext uri="{FF2B5EF4-FFF2-40B4-BE49-F238E27FC236}">
                  <a16:creationId xmlns:a16="http://schemas.microsoft.com/office/drawing/2014/main" id="{7023DDAB-9BC4-11E6-AE69-5C49B81E9A7D}"/>
                </a:ext>
              </a:extLst>
            </p:cNvPr>
            <p:cNvSpPr txBox="1"/>
            <p:nvPr/>
          </p:nvSpPr>
          <p:spPr>
            <a:xfrm>
              <a:off x="38100" y="-38100"/>
              <a:ext cx="736600" cy="81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6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68" name="Google Shape;668;p32">
            <a:extLst>
              <a:ext uri="{FF2B5EF4-FFF2-40B4-BE49-F238E27FC236}">
                <a16:creationId xmlns:a16="http://schemas.microsoft.com/office/drawing/2014/main" id="{15F2C404-6571-2B7E-787F-8363551F2FA3}"/>
              </a:ext>
            </a:extLst>
          </p:cNvPr>
          <p:cNvGrpSpPr/>
          <p:nvPr/>
        </p:nvGrpSpPr>
        <p:grpSpPr>
          <a:xfrm>
            <a:off x="865489" y="674840"/>
            <a:ext cx="7492576" cy="7142481"/>
            <a:chOff x="-217614" y="-7894862"/>
            <a:chExt cx="9990101" cy="9523307"/>
          </a:xfrm>
        </p:grpSpPr>
        <p:sp>
          <p:nvSpPr>
            <p:cNvPr id="669" name="Google Shape;669;p32">
              <a:extLst>
                <a:ext uri="{FF2B5EF4-FFF2-40B4-BE49-F238E27FC236}">
                  <a16:creationId xmlns:a16="http://schemas.microsoft.com/office/drawing/2014/main" id="{436A71ED-9D65-FC1E-B3F7-3B77379FFDFF}"/>
                </a:ext>
              </a:extLst>
            </p:cNvPr>
            <p:cNvSpPr txBox="1"/>
            <p:nvPr/>
          </p:nvSpPr>
          <p:spPr>
            <a:xfrm>
              <a:off x="-217614" y="-7894862"/>
              <a:ext cx="9990101" cy="24622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/>
              <a:r>
                <a:rPr lang="en-US" sz="4000" b="1" dirty="0">
                  <a:solidFill>
                    <a:srgbClr val="3A7D4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Sriracha"/>
                </a:rPr>
                <a:t>How Do Weekend–Weekday AQHI Differences Vary by Time of Day Across Cities?</a:t>
              </a:r>
              <a:endParaRPr sz="4000" dirty="0"/>
            </a:p>
          </p:txBody>
        </p:sp>
        <p:sp>
          <p:nvSpPr>
            <p:cNvPr id="670" name="Google Shape;670;p32">
              <a:extLst>
                <a:ext uri="{FF2B5EF4-FFF2-40B4-BE49-F238E27FC236}">
                  <a16:creationId xmlns:a16="http://schemas.microsoft.com/office/drawing/2014/main" id="{1815AFCE-74A4-5C02-59E5-A13C2100ED07}"/>
                </a:ext>
              </a:extLst>
            </p:cNvPr>
            <p:cNvSpPr txBox="1"/>
            <p:nvPr/>
          </p:nvSpPr>
          <p:spPr>
            <a:xfrm>
              <a:off x="-217614" y="-5007217"/>
              <a:ext cx="9248544" cy="663566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1">
                <a:lnSpc>
                  <a:spcPct val="140000"/>
                </a:lnSpc>
              </a:pPr>
              <a:r>
                <a:rPr lang="en-US" sz="2400" b="1" dirty="0">
                  <a:solidFill>
                    <a:srgbClr val="3A7D4D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📌 </a:t>
              </a:r>
              <a:r>
                <a:rPr lang="en-US" sz="2300" b="1" dirty="0">
                  <a:solidFill>
                    <a:srgbClr val="3A7D4D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Calgary: Weekend AQHI lower at all times except night (almost equal).</a:t>
              </a:r>
            </a:p>
            <a:p>
              <a:pPr lvl="1">
                <a:lnSpc>
                  <a:spcPct val="140000"/>
                </a:lnSpc>
              </a:pPr>
              <a:r>
                <a:rPr lang="en-US" sz="2000" b="1" dirty="0">
                  <a:solidFill>
                    <a:srgbClr val="3A7D4D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📌  </a:t>
              </a:r>
              <a:r>
                <a:rPr lang="en-US" sz="2300" b="1" dirty="0">
                  <a:solidFill>
                    <a:srgbClr val="3A7D4D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Ottawa: Weekend consistently lower, especially in afternoon/evening.</a:t>
              </a:r>
            </a:p>
            <a:p>
              <a:pPr lvl="1">
                <a:lnSpc>
                  <a:spcPct val="140000"/>
                </a:lnSpc>
              </a:pPr>
              <a:r>
                <a:rPr lang="en-US" sz="2000" b="1" dirty="0">
                  <a:solidFill>
                    <a:srgbClr val="3A7D4D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📌  </a:t>
              </a:r>
              <a:r>
                <a:rPr lang="en-US" sz="2300" b="1" dirty="0">
                  <a:solidFill>
                    <a:srgbClr val="3A7D4D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Toronto: Very small differences; weekend slightly lower in morning only.</a:t>
              </a:r>
            </a:p>
            <a:p>
              <a:pPr lvl="1">
                <a:lnSpc>
                  <a:spcPct val="140000"/>
                </a:lnSpc>
              </a:pPr>
              <a:r>
                <a:rPr lang="en-US" sz="2000" b="1" dirty="0">
                  <a:solidFill>
                    <a:srgbClr val="3A7D4D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📌  </a:t>
              </a:r>
              <a:r>
                <a:rPr lang="en-US" sz="2300" b="1" dirty="0">
                  <a:solidFill>
                    <a:srgbClr val="3A7D4D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Vancouver: Weekend higher in afternoon, evening, and night.</a:t>
              </a:r>
            </a:p>
            <a:p>
              <a:pPr lvl="1">
                <a:lnSpc>
                  <a:spcPct val="140000"/>
                </a:lnSpc>
              </a:pPr>
              <a:r>
                <a:rPr lang="en-US" sz="2000" b="1" dirty="0">
                  <a:solidFill>
                    <a:srgbClr val="3A7D4D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📌  </a:t>
              </a:r>
              <a:r>
                <a:rPr lang="en-US" sz="2300" b="1" dirty="0">
                  <a:solidFill>
                    <a:srgbClr val="3A7D4D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Victoria: Weekend higher in morning and night, flat in afternoon.</a:t>
              </a:r>
              <a:endParaRPr dirty="0"/>
            </a:p>
          </p:txBody>
        </p:sp>
      </p:grpSp>
      <p:grpSp>
        <p:nvGrpSpPr>
          <p:cNvPr id="4" name="Google Shape;162;p15">
            <a:extLst>
              <a:ext uri="{FF2B5EF4-FFF2-40B4-BE49-F238E27FC236}">
                <a16:creationId xmlns:a16="http://schemas.microsoft.com/office/drawing/2014/main" id="{FD3731B3-4E85-0B5C-FFF0-5FF3D6A94B6E}"/>
              </a:ext>
            </a:extLst>
          </p:cNvPr>
          <p:cNvGrpSpPr/>
          <p:nvPr/>
        </p:nvGrpSpPr>
        <p:grpSpPr>
          <a:xfrm>
            <a:off x="7655000" y="2149281"/>
            <a:ext cx="9767511" cy="5554319"/>
            <a:chOff x="0" y="-76200"/>
            <a:chExt cx="2083837" cy="2218641"/>
          </a:xfrm>
        </p:grpSpPr>
        <p:sp>
          <p:nvSpPr>
            <p:cNvPr id="5" name="Google Shape;163;p15">
              <a:extLst>
                <a:ext uri="{FF2B5EF4-FFF2-40B4-BE49-F238E27FC236}">
                  <a16:creationId xmlns:a16="http://schemas.microsoft.com/office/drawing/2014/main" id="{61F5D11C-C86D-1123-A658-D48D2291018E}"/>
                </a:ext>
              </a:extLst>
            </p:cNvPr>
            <p:cNvSpPr/>
            <p:nvPr/>
          </p:nvSpPr>
          <p:spPr>
            <a:xfrm>
              <a:off x="133018" y="-76200"/>
              <a:ext cx="1950819" cy="2218641"/>
            </a:xfrm>
            <a:custGeom>
              <a:avLst/>
              <a:gdLst/>
              <a:ahLst/>
              <a:cxnLst/>
              <a:rect l="l" t="t" r="r" b="b"/>
              <a:pathLst>
                <a:path w="1950819" h="2218641" extrusionOk="0">
                  <a:moveTo>
                    <a:pt x="0" y="0"/>
                  </a:moveTo>
                  <a:lnTo>
                    <a:pt x="1950819" y="0"/>
                  </a:lnTo>
                  <a:lnTo>
                    <a:pt x="1950819" y="2218641"/>
                  </a:lnTo>
                  <a:lnTo>
                    <a:pt x="0" y="221864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04775" cap="flat" cmpd="sng">
              <a:solidFill>
                <a:srgbClr val="3A7D4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Google Shape;164;p15">
              <a:extLst>
                <a:ext uri="{FF2B5EF4-FFF2-40B4-BE49-F238E27FC236}">
                  <a16:creationId xmlns:a16="http://schemas.microsoft.com/office/drawing/2014/main" id="{66442D54-C589-F553-5B4B-E4C4C77AD749}"/>
                </a:ext>
              </a:extLst>
            </p:cNvPr>
            <p:cNvSpPr txBox="1"/>
            <p:nvPr/>
          </p:nvSpPr>
          <p:spPr>
            <a:xfrm>
              <a:off x="0" y="-76200"/>
              <a:ext cx="812800" cy="889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6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7" name="Picture 6" descr="A graph of different colored squares&#10;&#10;AI-generated content may be incorrect.">
            <a:extLst>
              <a:ext uri="{FF2B5EF4-FFF2-40B4-BE49-F238E27FC236}">
                <a16:creationId xmlns:a16="http://schemas.microsoft.com/office/drawing/2014/main" id="{EFE4C129-0A5F-167C-F31A-C104F14449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8492" y="2183234"/>
            <a:ext cx="9144019" cy="5486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59889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DB898"/>
        </a:solidFill>
        <a:effectLst/>
      </p:bgPr>
    </p:bg>
    <p:spTree>
      <p:nvGrpSpPr>
        <p:cNvPr id="1" name="Shape 627">
          <a:extLst>
            <a:ext uri="{FF2B5EF4-FFF2-40B4-BE49-F238E27FC236}">
              <a16:creationId xmlns:a16="http://schemas.microsoft.com/office/drawing/2014/main" id="{E633E4FA-1073-8C3F-6EDC-1194638E72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8" name="Google Shape;628;p32">
            <a:extLst>
              <a:ext uri="{FF2B5EF4-FFF2-40B4-BE49-F238E27FC236}">
                <a16:creationId xmlns:a16="http://schemas.microsoft.com/office/drawing/2014/main" id="{A0B18855-B619-5B98-B2A8-FDCCF5D9A198}"/>
              </a:ext>
            </a:extLst>
          </p:cNvPr>
          <p:cNvGrpSpPr/>
          <p:nvPr/>
        </p:nvGrpSpPr>
        <p:grpSpPr>
          <a:xfrm>
            <a:off x="409521" y="82527"/>
            <a:ext cx="17445111" cy="9558487"/>
            <a:chOff x="5692" y="-38100"/>
            <a:chExt cx="4594567" cy="2517445"/>
          </a:xfrm>
        </p:grpSpPr>
        <p:sp>
          <p:nvSpPr>
            <p:cNvPr id="629" name="Google Shape;629;p32">
              <a:extLst>
                <a:ext uri="{FF2B5EF4-FFF2-40B4-BE49-F238E27FC236}">
                  <a16:creationId xmlns:a16="http://schemas.microsoft.com/office/drawing/2014/main" id="{7B74D76D-2D73-0DFC-D24D-725C3E9EFE0E}"/>
                </a:ext>
              </a:extLst>
            </p:cNvPr>
            <p:cNvSpPr/>
            <p:nvPr/>
          </p:nvSpPr>
          <p:spPr>
            <a:xfrm>
              <a:off x="5692" y="-4035"/>
              <a:ext cx="4594567" cy="2483380"/>
            </a:xfrm>
            <a:custGeom>
              <a:avLst/>
              <a:gdLst/>
              <a:ahLst/>
              <a:cxnLst/>
              <a:rect l="l" t="t" r="r" b="b"/>
              <a:pathLst>
                <a:path w="4594567" h="2483380" extrusionOk="0">
                  <a:moveTo>
                    <a:pt x="4515149" y="0"/>
                  </a:moveTo>
                  <a:lnTo>
                    <a:pt x="79418" y="0"/>
                  </a:lnTo>
                  <a:cubicBezTo>
                    <a:pt x="79418" y="43699"/>
                    <a:pt x="44079" y="79418"/>
                    <a:pt x="0" y="79418"/>
                  </a:cubicBezTo>
                  <a:lnTo>
                    <a:pt x="0" y="2403962"/>
                  </a:lnTo>
                  <a:cubicBezTo>
                    <a:pt x="43699" y="2403962"/>
                    <a:pt x="79418" y="2439301"/>
                    <a:pt x="79418" y="2483380"/>
                  </a:cubicBezTo>
                  <a:lnTo>
                    <a:pt x="4515149" y="2483380"/>
                  </a:lnTo>
                  <a:cubicBezTo>
                    <a:pt x="4515149" y="2439681"/>
                    <a:pt x="4550488" y="2403962"/>
                    <a:pt x="4594567" y="2403962"/>
                  </a:cubicBezTo>
                  <a:lnTo>
                    <a:pt x="4594567" y="79418"/>
                  </a:lnTo>
                  <a:cubicBezTo>
                    <a:pt x="4550868" y="79418"/>
                    <a:pt x="4515149" y="44079"/>
                    <a:pt x="4515149" y="0"/>
                  </a:cubicBezTo>
                  <a:close/>
                </a:path>
              </a:pathLst>
            </a:custGeom>
            <a:solidFill>
              <a:srgbClr val="EBEAE6"/>
            </a:solidFill>
            <a:ln w="104775" cap="flat" cmpd="sng">
              <a:solidFill>
                <a:srgbClr val="3A7D4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0" name="Google Shape;630;p32">
              <a:extLst>
                <a:ext uri="{FF2B5EF4-FFF2-40B4-BE49-F238E27FC236}">
                  <a16:creationId xmlns:a16="http://schemas.microsoft.com/office/drawing/2014/main" id="{C343D5D9-BD2D-56DC-5B83-F10A63B3161F}"/>
                </a:ext>
              </a:extLst>
            </p:cNvPr>
            <p:cNvSpPr txBox="1"/>
            <p:nvPr/>
          </p:nvSpPr>
          <p:spPr>
            <a:xfrm>
              <a:off x="38100" y="-38100"/>
              <a:ext cx="736600" cy="81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6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68" name="Google Shape;668;p32">
            <a:extLst>
              <a:ext uri="{FF2B5EF4-FFF2-40B4-BE49-F238E27FC236}">
                <a16:creationId xmlns:a16="http://schemas.microsoft.com/office/drawing/2014/main" id="{6C9EDCF8-C50D-9E38-F090-13448DC37B90}"/>
              </a:ext>
            </a:extLst>
          </p:cNvPr>
          <p:cNvGrpSpPr/>
          <p:nvPr/>
        </p:nvGrpSpPr>
        <p:grpSpPr>
          <a:xfrm>
            <a:off x="-1376267" y="1625587"/>
            <a:ext cx="18572547" cy="4779243"/>
            <a:chOff x="-1612452" y="-8082374"/>
            <a:chExt cx="10842656" cy="6372323"/>
          </a:xfrm>
        </p:grpSpPr>
        <p:sp>
          <p:nvSpPr>
            <p:cNvPr id="669" name="Google Shape;669;p32">
              <a:extLst>
                <a:ext uri="{FF2B5EF4-FFF2-40B4-BE49-F238E27FC236}">
                  <a16:creationId xmlns:a16="http://schemas.microsoft.com/office/drawing/2014/main" id="{6E116D6E-59C0-2AF9-9501-7CF571C97068}"/>
                </a:ext>
              </a:extLst>
            </p:cNvPr>
            <p:cNvSpPr txBox="1"/>
            <p:nvPr/>
          </p:nvSpPr>
          <p:spPr>
            <a:xfrm>
              <a:off x="-1612452" y="-8082374"/>
              <a:ext cx="9990101" cy="9028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 algn="ctr"/>
              <a:r>
                <a:rPr lang="en-US" sz="4400" b="1" dirty="0">
                  <a:solidFill>
                    <a:srgbClr val="3A7D4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Sriracha"/>
                </a:rPr>
                <a:t>Summary – Weekday vs Weekend AQHI Patterns</a:t>
              </a:r>
              <a:endParaRPr sz="4400" dirty="0"/>
            </a:p>
          </p:txBody>
        </p:sp>
        <p:sp>
          <p:nvSpPr>
            <p:cNvPr id="670" name="Google Shape;670;p32">
              <a:extLst>
                <a:ext uri="{FF2B5EF4-FFF2-40B4-BE49-F238E27FC236}">
                  <a16:creationId xmlns:a16="http://schemas.microsoft.com/office/drawing/2014/main" id="{8716E722-F8C4-CF30-CC51-6737E3345BF7}"/>
                </a:ext>
              </a:extLst>
            </p:cNvPr>
            <p:cNvSpPr txBox="1"/>
            <p:nvPr/>
          </p:nvSpPr>
          <p:spPr>
            <a:xfrm>
              <a:off x="-18340" y="-6363632"/>
              <a:ext cx="9248544" cy="465358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1">
                <a:lnSpc>
                  <a:spcPct val="140000"/>
                </a:lnSpc>
              </a:pPr>
              <a:r>
                <a:rPr lang="en-US" sz="2400" b="1" dirty="0">
                  <a:solidFill>
                    <a:srgbClr val="3A7D4D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📌 </a:t>
              </a:r>
              <a:r>
                <a:rPr lang="en-US" sz="2300" b="1" dirty="0">
                  <a:solidFill>
                    <a:srgbClr val="3A7D4D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Overall, weekday and weekend AQHI levels are very similar across all five cities.</a:t>
              </a:r>
            </a:p>
            <a:p>
              <a:pPr lvl="1">
                <a:lnSpc>
                  <a:spcPct val="140000"/>
                </a:lnSpc>
              </a:pPr>
              <a:r>
                <a:rPr lang="en-US" sz="2000" b="1" dirty="0">
                  <a:solidFill>
                    <a:srgbClr val="3A7D4D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📌 </a:t>
              </a:r>
              <a:r>
                <a:rPr lang="en-US" sz="2300" b="1" dirty="0">
                  <a:solidFill>
                    <a:srgbClr val="3A7D4D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However, variation within the day differs, especially during morning and evening hours.</a:t>
              </a:r>
            </a:p>
            <a:p>
              <a:pPr lvl="1">
                <a:lnSpc>
                  <a:spcPct val="140000"/>
                </a:lnSpc>
              </a:pPr>
              <a:r>
                <a:rPr lang="en-US" sz="2000" b="1" dirty="0">
                  <a:solidFill>
                    <a:srgbClr val="3A7D4D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📌 </a:t>
              </a:r>
              <a:r>
                <a:rPr lang="en-US" sz="2300" b="1" dirty="0">
                  <a:solidFill>
                    <a:srgbClr val="3A7D4D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Calgary, Ottawa show sharper weekday peaks linked to daily activity cycles.</a:t>
              </a:r>
            </a:p>
            <a:p>
              <a:pPr lvl="1">
                <a:lnSpc>
                  <a:spcPct val="140000"/>
                </a:lnSpc>
              </a:pPr>
              <a:r>
                <a:rPr lang="en-US" sz="2000" b="1" dirty="0">
                  <a:solidFill>
                    <a:srgbClr val="3A7D4D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📌  </a:t>
              </a:r>
              <a:r>
                <a:rPr lang="en-US" sz="2300" b="1" dirty="0">
                  <a:solidFill>
                    <a:srgbClr val="3A7D4D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Vancouver and Victoria maintain more stable AQHI across days, with weaker weekday–weekend differences.</a:t>
              </a:r>
            </a:p>
            <a:p>
              <a:pPr lvl="1">
                <a:lnSpc>
                  <a:spcPct val="140000"/>
                </a:lnSpc>
              </a:pPr>
              <a:r>
                <a:rPr lang="en-US" sz="2000" b="1" dirty="0">
                  <a:solidFill>
                    <a:srgbClr val="3A7D4D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📌 </a:t>
              </a:r>
              <a:r>
                <a:rPr lang="en-US" sz="2300" b="1" dirty="0">
                  <a:solidFill>
                    <a:srgbClr val="3A7D4D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Distribution plots show overlapping curves, confirming that day-type alone is not a strong predictor of AQHI.</a:t>
              </a:r>
            </a:p>
            <a:p>
              <a:pPr lvl="1">
                <a:lnSpc>
                  <a:spcPct val="140000"/>
                </a:lnSpc>
              </a:pPr>
              <a:r>
                <a:rPr lang="en-US" sz="2000" b="1" dirty="0">
                  <a:solidFill>
                    <a:srgbClr val="3A7D4D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📌 </a:t>
              </a:r>
              <a:r>
                <a:rPr lang="en-US" sz="2300" b="1" dirty="0">
                  <a:solidFill>
                    <a:srgbClr val="3A7D4D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Time-of-day effects (morning commute, evening commute, late night) highlight when differences actually appear, even if overall means stay close.</a:t>
              </a:r>
              <a:endParaRPr dirty="0"/>
            </a:p>
          </p:txBody>
        </p:sp>
      </p:grpSp>
      <p:pic>
        <p:nvPicPr>
          <p:cNvPr id="2" name="Google Shape;603;p31">
            <a:extLst>
              <a:ext uri="{FF2B5EF4-FFF2-40B4-BE49-F238E27FC236}">
                <a16:creationId xmlns:a16="http://schemas.microsoft.com/office/drawing/2014/main" id="{2590AB47-8A41-39B5-F0BE-68E99FC6339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0786" t="22250" r="10880" b="22083"/>
          <a:stretch/>
        </p:blipFill>
        <p:spPr>
          <a:xfrm>
            <a:off x="9642703" y="6403488"/>
            <a:ext cx="8098678" cy="323752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3891741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DB898"/>
        </a:solidFill>
        <a:effectLst/>
      </p:bgPr>
    </p:bg>
    <p:spTree>
      <p:nvGrpSpPr>
        <p:cNvPr id="1" name="Shape 272">
          <a:extLst>
            <a:ext uri="{FF2B5EF4-FFF2-40B4-BE49-F238E27FC236}">
              <a16:creationId xmlns:a16="http://schemas.microsoft.com/office/drawing/2014/main" id="{13D9D754-2814-CF29-656C-45E4EFF17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4" name="Google Shape;274;p19">
            <a:extLst>
              <a:ext uri="{FF2B5EF4-FFF2-40B4-BE49-F238E27FC236}">
                <a16:creationId xmlns:a16="http://schemas.microsoft.com/office/drawing/2014/main" id="{53DF3963-0937-BF9D-39A4-F7694C55B46F}"/>
              </a:ext>
            </a:extLst>
          </p:cNvPr>
          <p:cNvGrpSpPr/>
          <p:nvPr/>
        </p:nvGrpSpPr>
        <p:grpSpPr>
          <a:xfrm>
            <a:off x="421501" y="319064"/>
            <a:ext cx="17444998" cy="9494851"/>
            <a:chOff x="0" y="-67043"/>
            <a:chExt cx="4594567" cy="2500701"/>
          </a:xfrm>
        </p:grpSpPr>
        <p:sp>
          <p:nvSpPr>
            <p:cNvPr id="275" name="Google Shape;275;p19">
              <a:extLst>
                <a:ext uri="{FF2B5EF4-FFF2-40B4-BE49-F238E27FC236}">
                  <a16:creationId xmlns:a16="http://schemas.microsoft.com/office/drawing/2014/main" id="{EF4DC7A3-79B6-0FD9-84D3-DAC4D8AD8139}"/>
                </a:ext>
              </a:extLst>
            </p:cNvPr>
            <p:cNvSpPr/>
            <p:nvPr/>
          </p:nvSpPr>
          <p:spPr>
            <a:xfrm>
              <a:off x="0" y="-67043"/>
              <a:ext cx="4594567" cy="2483380"/>
            </a:xfrm>
            <a:custGeom>
              <a:avLst/>
              <a:gdLst/>
              <a:ahLst/>
              <a:cxnLst/>
              <a:rect l="l" t="t" r="r" b="b"/>
              <a:pathLst>
                <a:path w="4594567" h="2483380" extrusionOk="0">
                  <a:moveTo>
                    <a:pt x="4515149" y="0"/>
                  </a:moveTo>
                  <a:lnTo>
                    <a:pt x="79418" y="0"/>
                  </a:lnTo>
                  <a:cubicBezTo>
                    <a:pt x="79418" y="43699"/>
                    <a:pt x="44079" y="79418"/>
                    <a:pt x="0" y="79418"/>
                  </a:cubicBezTo>
                  <a:lnTo>
                    <a:pt x="0" y="2403962"/>
                  </a:lnTo>
                  <a:cubicBezTo>
                    <a:pt x="43699" y="2403962"/>
                    <a:pt x="79418" y="2439301"/>
                    <a:pt x="79418" y="2483380"/>
                  </a:cubicBezTo>
                  <a:lnTo>
                    <a:pt x="4515149" y="2483380"/>
                  </a:lnTo>
                  <a:cubicBezTo>
                    <a:pt x="4515149" y="2439681"/>
                    <a:pt x="4550488" y="2403962"/>
                    <a:pt x="4594567" y="2403962"/>
                  </a:cubicBezTo>
                  <a:lnTo>
                    <a:pt x="4594567" y="79418"/>
                  </a:lnTo>
                  <a:cubicBezTo>
                    <a:pt x="4550868" y="79418"/>
                    <a:pt x="4515149" y="44079"/>
                    <a:pt x="4515149" y="0"/>
                  </a:cubicBezTo>
                  <a:close/>
                </a:path>
              </a:pathLst>
            </a:custGeom>
            <a:solidFill>
              <a:srgbClr val="EBEAE6"/>
            </a:solidFill>
            <a:ln w="104775" cap="flat" cmpd="sng">
              <a:solidFill>
                <a:srgbClr val="3A7D4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6" name="Google Shape;276;p19">
              <a:extLst>
                <a:ext uri="{FF2B5EF4-FFF2-40B4-BE49-F238E27FC236}">
                  <a16:creationId xmlns:a16="http://schemas.microsoft.com/office/drawing/2014/main" id="{C75BA04F-A840-E233-E29D-C60587EE5038}"/>
                </a:ext>
              </a:extLst>
            </p:cNvPr>
            <p:cNvSpPr txBox="1"/>
            <p:nvPr/>
          </p:nvSpPr>
          <p:spPr>
            <a:xfrm>
              <a:off x="38100" y="-38100"/>
              <a:ext cx="736600" cy="81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6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" name="Google Shape;275;p19">
              <a:extLst>
                <a:ext uri="{FF2B5EF4-FFF2-40B4-BE49-F238E27FC236}">
                  <a16:creationId xmlns:a16="http://schemas.microsoft.com/office/drawing/2014/main" id="{9FE5DE62-C0A3-F2D1-11FA-0FD1AAA8E5CF}"/>
                </a:ext>
              </a:extLst>
            </p:cNvPr>
            <p:cNvSpPr/>
            <p:nvPr/>
          </p:nvSpPr>
          <p:spPr>
            <a:xfrm>
              <a:off x="0" y="-49722"/>
              <a:ext cx="4594567" cy="2483380"/>
            </a:xfrm>
            <a:custGeom>
              <a:avLst/>
              <a:gdLst/>
              <a:ahLst/>
              <a:cxnLst/>
              <a:rect l="l" t="t" r="r" b="b"/>
              <a:pathLst>
                <a:path w="4594567" h="2483380" extrusionOk="0">
                  <a:moveTo>
                    <a:pt x="4515149" y="0"/>
                  </a:moveTo>
                  <a:lnTo>
                    <a:pt x="79418" y="0"/>
                  </a:lnTo>
                  <a:cubicBezTo>
                    <a:pt x="79418" y="43699"/>
                    <a:pt x="44079" y="79418"/>
                    <a:pt x="0" y="79418"/>
                  </a:cubicBezTo>
                  <a:lnTo>
                    <a:pt x="0" y="2403962"/>
                  </a:lnTo>
                  <a:cubicBezTo>
                    <a:pt x="43699" y="2403962"/>
                    <a:pt x="79418" y="2439301"/>
                    <a:pt x="79418" y="2483380"/>
                  </a:cubicBezTo>
                  <a:lnTo>
                    <a:pt x="4515149" y="2483380"/>
                  </a:lnTo>
                  <a:cubicBezTo>
                    <a:pt x="4515149" y="2439681"/>
                    <a:pt x="4550488" y="2403962"/>
                    <a:pt x="4594567" y="2403962"/>
                  </a:cubicBezTo>
                  <a:lnTo>
                    <a:pt x="4594567" y="79418"/>
                  </a:lnTo>
                  <a:cubicBezTo>
                    <a:pt x="4550868" y="79418"/>
                    <a:pt x="4515149" y="44079"/>
                    <a:pt x="4515149" y="0"/>
                  </a:cubicBezTo>
                  <a:close/>
                </a:path>
              </a:pathLst>
            </a:custGeom>
            <a:solidFill>
              <a:srgbClr val="EBEAE6"/>
            </a:solidFill>
            <a:ln w="104775" cap="flat" cmpd="sng">
              <a:solidFill>
                <a:srgbClr val="3A7D4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pic>
        <p:nvPicPr>
          <p:cNvPr id="289" name="Google Shape;289;p19" descr="Partial sun with solid fill">
            <a:extLst>
              <a:ext uri="{FF2B5EF4-FFF2-40B4-BE49-F238E27FC236}">
                <a16:creationId xmlns:a16="http://schemas.microsoft.com/office/drawing/2014/main" id="{6EC69798-8B83-4ADF-4863-547AF5BEBBC4}"/>
              </a:ext>
            </a:extLst>
          </p:cNvPr>
          <p:cNvPicPr preferRelativeResize="0"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040520" y="7733587"/>
            <a:ext cx="1460091" cy="133601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19" descr="Marker with solid fill">
            <a:extLst>
              <a:ext uri="{FF2B5EF4-FFF2-40B4-BE49-F238E27FC236}">
                <a16:creationId xmlns:a16="http://schemas.microsoft.com/office/drawing/2014/main" id="{641DBE8F-4463-939D-C385-A0BA2F2301E5}"/>
              </a:ext>
            </a:extLst>
          </p:cNvPr>
          <p:cNvPicPr preferRelativeResize="0"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9036583" y="7880730"/>
            <a:ext cx="1099678" cy="1156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19" descr="Alarm clock with solid fill">
            <a:extLst>
              <a:ext uri="{FF2B5EF4-FFF2-40B4-BE49-F238E27FC236}">
                <a16:creationId xmlns:a16="http://schemas.microsoft.com/office/drawing/2014/main" id="{858F6F1E-5E55-C0BD-0EC2-B00E46D42402}"/>
              </a:ext>
            </a:extLst>
          </p:cNvPr>
          <p:cNvPicPr preferRelativeResize="0"/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14535799" y="8044711"/>
            <a:ext cx="1017638" cy="932442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19">
            <a:extLst>
              <a:ext uri="{FF2B5EF4-FFF2-40B4-BE49-F238E27FC236}">
                <a16:creationId xmlns:a16="http://schemas.microsoft.com/office/drawing/2014/main" id="{00482EF2-9110-2A7A-59CA-99A992FD2C9C}"/>
              </a:ext>
            </a:extLst>
          </p:cNvPr>
          <p:cNvSpPr txBox="1"/>
          <p:nvPr/>
        </p:nvSpPr>
        <p:spPr>
          <a:xfrm>
            <a:off x="2729524" y="678512"/>
            <a:ext cx="13781478" cy="1163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22003"/>
              </a:lnSpc>
            </a:pPr>
            <a:r>
              <a:rPr lang="en-US" sz="6199" b="1" i="0" u="none" strike="noStrike" cap="none" dirty="0">
                <a:solidFill>
                  <a:srgbClr val="3A7D4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Sriracha"/>
              </a:rPr>
              <a:t> </a:t>
            </a:r>
            <a:r>
              <a:rPr lang="en-US" sz="6199" b="1" dirty="0">
                <a:solidFill>
                  <a:srgbClr val="3A7D4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Sriracha"/>
              </a:rPr>
              <a:t>OVERALL SUMMARY</a:t>
            </a:r>
            <a:endParaRPr dirty="0"/>
          </a:p>
        </p:txBody>
      </p:sp>
      <p:grpSp>
        <p:nvGrpSpPr>
          <p:cNvPr id="293" name="Google Shape;293;p19">
            <a:extLst>
              <a:ext uri="{FF2B5EF4-FFF2-40B4-BE49-F238E27FC236}">
                <a16:creationId xmlns:a16="http://schemas.microsoft.com/office/drawing/2014/main" id="{BB835899-5A77-B862-EC9A-735191806A41}"/>
              </a:ext>
            </a:extLst>
          </p:cNvPr>
          <p:cNvGrpSpPr/>
          <p:nvPr/>
        </p:nvGrpSpPr>
        <p:grpSpPr>
          <a:xfrm>
            <a:off x="1478504" y="7169595"/>
            <a:ext cx="5127454" cy="2205198"/>
            <a:chOff x="-724404" y="902064"/>
            <a:chExt cx="6836604" cy="2940263"/>
          </a:xfrm>
        </p:grpSpPr>
        <p:sp>
          <p:nvSpPr>
            <p:cNvPr id="294" name="Google Shape;294;p19">
              <a:extLst>
                <a:ext uri="{FF2B5EF4-FFF2-40B4-BE49-F238E27FC236}">
                  <a16:creationId xmlns:a16="http://schemas.microsoft.com/office/drawing/2014/main" id="{1C68B936-2767-3263-CE52-50FF0653EE7A}"/>
                </a:ext>
              </a:extLst>
            </p:cNvPr>
            <p:cNvSpPr txBox="1"/>
            <p:nvPr/>
          </p:nvSpPr>
          <p:spPr>
            <a:xfrm>
              <a:off x="-724404" y="3391776"/>
              <a:ext cx="6112165" cy="4505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 algn="ctr">
                <a:lnSpc>
                  <a:spcPct val="122000"/>
                </a:lnSpc>
              </a:pPr>
              <a:r>
                <a:rPr lang="en-US" sz="1800" b="1" dirty="0">
                  <a:solidFill>
                    <a:srgbClr val="3A7D4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Sriracha"/>
                </a:rPr>
                <a:t>Weather Conditions</a:t>
              </a:r>
              <a:endParaRPr sz="1800" dirty="0"/>
            </a:p>
          </p:txBody>
        </p:sp>
        <p:sp>
          <p:nvSpPr>
            <p:cNvPr id="295" name="Google Shape;295;p19">
              <a:extLst>
                <a:ext uri="{FF2B5EF4-FFF2-40B4-BE49-F238E27FC236}">
                  <a16:creationId xmlns:a16="http://schemas.microsoft.com/office/drawing/2014/main" id="{FC3080C2-FB55-6798-46DA-B72104395D08}"/>
                </a:ext>
              </a:extLst>
            </p:cNvPr>
            <p:cNvSpPr txBox="1"/>
            <p:nvPr/>
          </p:nvSpPr>
          <p:spPr>
            <a:xfrm>
              <a:off x="0" y="902064"/>
              <a:ext cx="6112200" cy="3447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1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296" name="Google Shape;296;p19">
            <a:extLst>
              <a:ext uri="{FF2B5EF4-FFF2-40B4-BE49-F238E27FC236}">
                <a16:creationId xmlns:a16="http://schemas.microsoft.com/office/drawing/2014/main" id="{834BD5B4-283B-4641-9F2C-293C3F443833}"/>
              </a:ext>
            </a:extLst>
          </p:cNvPr>
          <p:cNvGrpSpPr/>
          <p:nvPr/>
        </p:nvGrpSpPr>
        <p:grpSpPr>
          <a:xfrm>
            <a:off x="7294360" y="7169595"/>
            <a:ext cx="4617979" cy="2205197"/>
            <a:chOff x="-45104" y="902064"/>
            <a:chExt cx="6157304" cy="2940261"/>
          </a:xfrm>
        </p:grpSpPr>
        <p:sp>
          <p:nvSpPr>
            <p:cNvPr id="297" name="Google Shape;297;p19">
              <a:extLst>
                <a:ext uri="{FF2B5EF4-FFF2-40B4-BE49-F238E27FC236}">
                  <a16:creationId xmlns:a16="http://schemas.microsoft.com/office/drawing/2014/main" id="{7101C17F-170C-FBF8-6AE3-68EB8AEDF0AB}"/>
                </a:ext>
              </a:extLst>
            </p:cNvPr>
            <p:cNvSpPr txBox="1"/>
            <p:nvPr/>
          </p:nvSpPr>
          <p:spPr>
            <a:xfrm>
              <a:off x="-45104" y="3391775"/>
              <a:ext cx="6112165" cy="450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 algn="ctr">
                <a:lnSpc>
                  <a:spcPct val="122000"/>
                </a:lnSpc>
              </a:pPr>
              <a:r>
                <a:rPr lang="en-US" sz="1800" b="1" dirty="0">
                  <a:solidFill>
                    <a:srgbClr val="3A7D4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Sriracha"/>
                </a:rPr>
                <a:t>Geographic Location</a:t>
              </a:r>
              <a:endParaRPr sz="1800" dirty="0"/>
            </a:p>
          </p:txBody>
        </p:sp>
        <p:sp>
          <p:nvSpPr>
            <p:cNvPr id="298" name="Google Shape;298;p19">
              <a:extLst>
                <a:ext uri="{FF2B5EF4-FFF2-40B4-BE49-F238E27FC236}">
                  <a16:creationId xmlns:a16="http://schemas.microsoft.com/office/drawing/2014/main" id="{D90D57D8-0A06-6C12-C40F-0DF6343B6F39}"/>
                </a:ext>
              </a:extLst>
            </p:cNvPr>
            <p:cNvSpPr txBox="1"/>
            <p:nvPr/>
          </p:nvSpPr>
          <p:spPr>
            <a:xfrm>
              <a:off x="0" y="902064"/>
              <a:ext cx="6112200" cy="3447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1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299" name="Google Shape;299;p19">
            <a:extLst>
              <a:ext uri="{FF2B5EF4-FFF2-40B4-BE49-F238E27FC236}">
                <a16:creationId xmlns:a16="http://schemas.microsoft.com/office/drawing/2014/main" id="{C0BA64DA-B4EB-3C6B-FC68-105312B2D970}"/>
              </a:ext>
            </a:extLst>
          </p:cNvPr>
          <p:cNvGrpSpPr/>
          <p:nvPr/>
        </p:nvGrpSpPr>
        <p:grpSpPr>
          <a:xfrm>
            <a:off x="12634569" y="7169595"/>
            <a:ext cx="4702112" cy="2209771"/>
            <a:chOff x="0" y="902064"/>
            <a:chExt cx="6269481" cy="2946361"/>
          </a:xfrm>
        </p:grpSpPr>
        <p:sp>
          <p:nvSpPr>
            <p:cNvPr id="300" name="Google Shape;300;p19">
              <a:extLst>
                <a:ext uri="{FF2B5EF4-FFF2-40B4-BE49-F238E27FC236}">
                  <a16:creationId xmlns:a16="http://schemas.microsoft.com/office/drawing/2014/main" id="{102937BB-CCC3-60E7-6A4A-3F8BB689659D}"/>
                </a:ext>
              </a:extLst>
            </p:cNvPr>
            <p:cNvSpPr txBox="1"/>
            <p:nvPr/>
          </p:nvSpPr>
          <p:spPr>
            <a:xfrm>
              <a:off x="157316" y="3022387"/>
              <a:ext cx="6112165" cy="8260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 algn="ctr">
                <a:lnSpc>
                  <a:spcPct val="122000"/>
                </a:lnSpc>
              </a:pPr>
              <a:r>
                <a:rPr lang="en-US" sz="3300" b="1" i="0" u="none" strike="noStrike" cap="none" dirty="0">
                  <a:solidFill>
                    <a:srgbClr val="3A7D4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Sriracha"/>
                </a:rPr>
                <a:t> </a:t>
              </a:r>
              <a:r>
                <a:rPr lang="en-US" sz="1800" b="1" dirty="0">
                  <a:solidFill>
                    <a:srgbClr val="3A7D4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Sriracha"/>
                </a:rPr>
                <a:t>Time</a:t>
              </a:r>
              <a:endParaRPr sz="1800" dirty="0"/>
            </a:p>
          </p:txBody>
        </p:sp>
        <p:sp>
          <p:nvSpPr>
            <p:cNvPr id="301" name="Google Shape;301;p19">
              <a:extLst>
                <a:ext uri="{FF2B5EF4-FFF2-40B4-BE49-F238E27FC236}">
                  <a16:creationId xmlns:a16="http://schemas.microsoft.com/office/drawing/2014/main" id="{2806824A-B293-9BCD-146A-E9E6F3A81968}"/>
                </a:ext>
              </a:extLst>
            </p:cNvPr>
            <p:cNvSpPr txBox="1"/>
            <p:nvPr/>
          </p:nvSpPr>
          <p:spPr>
            <a:xfrm>
              <a:off x="0" y="902064"/>
              <a:ext cx="6112200" cy="5663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1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00" b="1" i="0" u="none" strike="noStrike" cap="none" dirty="0">
                  <a:solidFill>
                    <a:srgbClr val="3A7D4D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 </a:t>
              </a:r>
              <a:endParaRPr dirty="0"/>
            </a:p>
          </p:txBody>
        </p:sp>
      </p:grpSp>
      <p:sp>
        <p:nvSpPr>
          <p:cNvPr id="260" name="Google Shape;407;p24">
            <a:extLst>
              <a:ext uri="{FF2B5EF4-FFF2-40B4-BE49-F238E27FC236}">
                <a16:creationId xmlns:a16="http://schemas.microsoft.com/office/drawing/2014/main" id="{41A66289-8630-03B0-F366-2BA6FA2B00B7}"/>
              </a:ext>
            </a:extLst>
          </p:cNvPr>
          <p:cNvSpPr/>
          <p:nvPr/>
        </p:nvSpPr>
        <p:spPr>
          <a:xfrm>
            <a:off x="2021807" y="2352856"/>
            <a:ext cx="14887399" cy="5241471"/>
          </a:xfrm>
          <a:custGeom>
            <a:avLst/>
            <a:gdLst/>
            <a:ahLst/>
            <a:cxnLst/>
            <a:rect l="l" t="t" r="r" b="b"/>
            <a:pathLst>
              <a:path w="4594567" h="1380470" extrusionOk="0">
                <a:moveTo>
                  <a:pt x="0" y="0"/>
                </a:moveTo>
                <a:lnTo>
                  <a:pt x="4594567" y="0"/>
                </a:lnTo>
                <a:lnTo>
                  <a:pt x="4594567" y="1380470"/>
                </a:lnTo>
                <a:lnTo>
                  <a:pt x="0" y="138047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04775" cap="flat" cmpd="sng">
            <a:solidFill>
              <a:srgbClr val="3A7D4D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pPr lvl="1">
              <a:lnSpc>
                <a:spcPct val="140000"/>
              </a:lnSpc>
            </a:pPr>
            <a:endParaRPr lang="en-US" sz="2300" b="1" dirty="0">
              <a:solidFill>
                <a:srgbClr val="3A7D4D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lvl="1">
              <a:lnSpc>
                <a:spcPct val="140000"/>
              </a:lnSpc>
            </a:pPr>
            <a:r>
              <a:rPr lang="en-US" sz="2000" b="1" dirty="0">
                <a:solidFill>
                  <a:srgbClr val="3A7D4D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📌 Weather Conditions: Temperature showed the strongest effect—higher temperatures were associated with higher AQHI levels across cities.</a:t>
            </a:r>
          </a:p>
          <a:p>
            <a:pPr lvl="1">
              <a:lnSpc>
                <a:spcPct val="140000"/>
              </a:lnSpc>
            </a:pPr>
            <a:endParaRPr lang="en-US" sz="2000" b="1" dirty="0">
              <a:solidFill>
                <a:srgbClr val="3A7D4D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lvl="1">
              <a:lnSpc>
                <a:spcPct val="140000"/>
              </a:lnSpc>
            </a:pPr>
            <a:r>
              <a:rPr lang="en-US" sz="2000" b="1" dirty="0">
                <a:solidFill>
                  <a:srgbClr val="3A7D4D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📌 Geographic Location: Coastal cities had more stable and lower AQHI, while inland cities experienced higher and more variable pollution levels.</a:t>
            </a:r>
          </a:p>
          <a:p>
            <a:pPr lvl="1">
              <a:lnSpc>
                <a:spcPct val="140000"/>
              </a:lnSpc>
            </a:pPr>
            <a:endParaRPr lang="en-US" sz="2000" b="1" dirty="0">
              <a:solidFill>
                <a:srgbClr val="3A7D4D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lvl="1">
              <a:lnSpc>
                <a:spcPct val="140000"/>
              </a:lnSpc>
            </a:pPr>
            <a:r>
              <a:rPr lang="en-US" sz="2000" b="1" dirty="0">
                <a:solidFill>
                  <a:srgbClr val="3A7D4D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📌 Time: Overall weekday–weekend differences were small, but AQHI varied noticeably by time of day, especially during morning and evening periods.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013827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DB898"/>
        </a:solidFill>
        <a:effectLst/>
      </p:bgPr>
    </p:bg>
    <p:spTree>
      <p:nvGrpSpPr>
        <p:cNvPr id="1" name="Shape 272">
          <a:extLst>
            <a:ext uri="{FF2B5EF4-FFF2-40B4-BE49-F238E27FC236}">
              <a16:creationId xmlns:a16="http://schemas.microsoft.com/office/drawing/2014/main" id="{AAE2888F-3CB6-AF56-4793-4B315FAFA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4" name="Google Shape;274;p19">
            <a:extLst>
              <a:ext uri="{FF2B5EF4-FFF2-40B4-BE49-F238E27FC236}">
                <a16:creationId xmlns:a16="http://schemas.microsoft.com/office/drawing/2014/main" id="{BFF68606-1475-4CCE-4170-EB9514FAC3BF}"/>
              </a:ext>
            </a:extLst>
          </p:cNvPr>
          <p:cNvGrpSpPr/>
          <p:nvPr/>
        </p:nvGrpSpPr>
        <p:grpSpPr>
          <a:xfrm>
            <a:off x="421501" y="319064"/>
            <a:ext cx="17444998" cy="9494851"/>
            <a:chOff x="0" y="-67043"/>
            <a:chExt cx="4594567" cy="2500701"/>
          </a:xfrm>
        </p:grpSpPr>
        <p:sp>
          <p:nvSpPr>
            <p:cNvPr id="275" name="Google Shape;275;p19">
              <a:extLst>
                <a:ext uri="{FF2B5EF4-FFF2-40B4-BE49-F238E27FC236}">
                  <a16:creationId xmlns:a16="http://schemas.microsoft.com/office/drawing/2014/main" id="{5784D813-B60E-100C-3691-D3DB5C0F61C8}"/>
                </a:ext>
              </a:extLst>
            </p:cNvPr>
            <p:cNvSpPr/>
            <p:nvPr/>
          </p:nvSpPr>
          <p:spPr>
            <a:xfrm>
              <a:off x="0" y="-67043"/>
              <a:ext cx="4594567" cy="2483380"/>
            </a:xfrm>
            <a:custGeom>
              <a:avLst/>
              <a:gdLst/>
              <a:ahLst/>
              <a:cxnLst/>
              <a:rect l="l" t="t" r="r" b="b"/>
              <a:pathLst>
                <a:path w="4594567" h="2483380" extrusionOk="0">
                  <a:moveTo>
                    <a:pt x="4515149" y="0"/>
                  </a:moveTo>
                  <a:lnTo>
                    <a:pt x="79418" y="0"/>
                  </a:lnTo>
                  <a:cubicBezTo>
                    <a:pt x="79418" y="43699"/>
                    <a:pt x="44079" y="79418"/>
                    <a:pt x="0" y="79418"/>
                  </a:cubicBezTo>
                  <a:lnTo>
                    <a:pt x="0" y="2403962"/>
                  </a:lnTo>
                  <a:cubicBezTo>
                    <a:pt x="43699" y="2403962"/>
                    <a:pt x="79418" y="2439301"/>
                    <a:pt x="79418" y="2483380"/>
                  </a:cubicBezTo>
                  <a:lnTo>
                    <a:pt x="4515149" y="2483380"/>
                  </a:lnTo>
                  <a:cubicBezTo>
                    <a:pt x="4515149" y="2439681"/>
                    <a:pt x="4550488" y="2403962"/>
                    <a:pt x="4594567" y="2403962"/>
                  </a:cubicBezTo>
                  <a:lnTo>
                    <a:pt x="4594567" y="79418"/>
                  </a:lnTo>
                  <a:cubicBezTo>
                    <a:pt x="4550868" y="79418"/>
                    <a:pt x="4515149" y="44079"/>
                    <a:pt x="4515149" y="0"/>
                  </a:cubicBezTo>
                  <a:close/>
                </a:path>
              </a:pathLst>
            </a:custGeom>
            <a:solidFill>
              <a:srgbClr val="EBEAE6"/>
            </a:solidFill>
            <a:ln w="104775" cap="flat" cmpd="sng">
              <a:solidFill>
                <a:srgbClr val="3A7D4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6" name="Google Shape;276;p19">
              <a:extLst>
                <a:ext uri="{FF2B5EF4-FFF2-40B4-BE49-F238E27FC236}">
                  <a16:creationId xmlns:a16="http://schemas.microsoft.com/office/drawing/2014/main" id="{35DC4FB6-9E60-7F84-97FC-A00A6D7C3246}"/>
                </a:ext>
              </a:extLst>
            </p:cNvPr>
            <p:cNvSpPr txBox="1"/>
            <p:nvPr/>
          </p:nvSpPr>
          <p:spPr>
            <a:xfrm>
              <a:off x="38100" y="-38100"/>
              <a:ext cx="736600" cy="81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6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" name="Google Shape;275;p19">
              <a:extLst>
                <a:ext uri="{FF2B5EF4-FFF2-40B4-BE49-F238E27FC236}">
                  <a16:creationId xmlns:a16="http://schemas.microsoft.com/office/drawing/2014/main" id="{EB2DFC4B-4DD0-F470-FC5C-C5D76029E430}"/>
                </a:ext>
              </a:extLst>
            </p:cNvPr>
            <p:cNvSpPr/>
            <p:nvPr/>
          </p:nvSpPr>
          <p:spPr>
            <a:xfrm>
              <a:off x="0" y="-49722"/>
              <a:ext cx="4594567" cy="2483380"/>
            </a:xfrm>
            <a:custGeom>
              <a:avLst/>
              <a:gdLst/>
              <a:ahLst/>
              <a:cxnLst/>
              <a:rect l="l" t="t" r="r" b="b"/>
              <a:pathLst>
                <a:path w="4594567" h="2483380" extrusionOk="0">
                  <a:moveTo>
                    <a:pt x="4515149" y="0"/>
                  </a:moveTo>
                  <a:lnTo>
                    <a:pt x="79418" y="0"/>
                  </a:lnTo>
                  <a:cubicBezTo>
                    <a:pt x="79418" y="43699"/>
                    <a:pt x="44079" y="79418"/>
                    <a:pt x="0" y="79418"/>
                  </a:cubicBezTo>
                  <a:lnTo>
                    <a:pt x="0" y="2403962"/>
                  </a:lnTo>
                  <a:cubicBezTo>
                    <a:pt x="43699" y="2403962"/>
                    <a:pt x="79418" y="2439301"/>
                    <a:pt x="79418" y="2483380"/>
                  </a:cubicBezTo>
                  <a:lnTo>
                    <a:pt x="4515149" y="2483380"/>
                  </a:lnTo>
                  <a:cubicBezTo>
                    <a:pt x="4515149" y="2439681"/>
                    <a:pt x="4550488" y="2403962"/>
                    <a:pt x="4594567" y="2403962"/>
                  </a:cubicBezTo>
                  <a:lnTo>
                    <a:pt x="4594567" y="79418"/>
                  </a:lnTo>
                  <a:cubicBezTo>
                    <a:pt x="4550868" y="79418"/>
                    <a:pt x="4515149" y="44079"/>
                    <a:pt x="4515149" y="0"/>
                  </a:cubicBezTo>
                  <a:close/>
                </a:path>
              </a:pathLst>
            </a:custGeom>
            <a:solidFill>
              <a:srgbClr val="EBEAE6"/>
            </a:solidFill>
            <a:ln w="104775" cap="flat" cmpd="sng">
              <a:solidFill>
                <a:srgbClr val="3A7D4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pic>
        <p:nvPicPr>
          <p:cNvPr id="289" name="Google Shape;289;p19" descr="Partial sun with solid fill">
            <a:extLst>
              <a:ext uri="{FF2B5EF4-FFF2-40B4-BE49-F238E27FC236}">
                <a16:creationId xmlns:a16="http://schemas.microsoft.com/office/drawing/2014/main" id="{968D72C7-AC53-F7C1-8AE9-A92E1F8AF357}"/>
              </a:ext>
            </a:extLst>
          </p:cNvPr>
          <p:cNvPicPr preferRelativeResize="0"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040520" y="7733587"/>
            <a:ext cx="1460091" cy="133601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19" descr="Marker with solid fill">
            <a:extLst>
              <a:ext uri="{FF2B5EF4-FFF2-40B4-BE49-F238E27FC236}">
                <a16:creationId xmlns:a16="http://schemas.microsoft.com/office/drawing/2014/main" id="{8D726D79-8C1C-4101-F52B-EDE638139C0C}"/>
              </a:ext>
            </a:extLst>
          </p:cNvPr>
          <p:cNvPicPr preferRelativeResize="0"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9036583" y="7880730"/>
            <a:ext cx="1099678" cy="1156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19" descr="Alarm clock with solid fill">
            <a:extLst>
              <a:ext uri="{FF2B5EF4-FFF2-40B4-BE49-F238E27FC236}">
                <a16:creationId xmlns:a16="http://schemas.microsoft.com/office/drawing/2014/main" id="{F786C347-4686-FDE8-51BE-C5D628EBCA5B}"/>
              </a:ext>
            </a:extLst>
          </p:cNvPr>
          <p:cNvPicPr preferRelativeResize="0"/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14535799" y="8044711"/>
            <a:ext cx="1017638" cy="932442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19">
            <a:extLst>
              <a:ext uri="{FF2B5EF4-FFF2-40B4-BE49-F238E27FC236}">
                <a16:creationId xmlns:a16="http://schemas.microsoft.com/office/drawing/2014/main" id="{BBC1FE6C-3F62-29C6-C285-8190749A689B}"/>
              </a:ext>
            </a:extLst>
          </p:cNvPr>
          <p:cNvSpPr txBox="1"/>
          <p:nvPr/>
        </p:nvSpPr>
        <p:spPr>
          <a:xfrm>
            <a:off x="2729524" y="678512"/>
            <a:ext cx="13781478" cy="1163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22003"/>
              </a:lnSpc>
            </a:pPr>
            <a:r>
              <a:rPr lang="en-US" sz="6199" b="1" i="0" u="none" strike="noStrike" cap="none" dirty="0">
                <a:solidFill>
                  <a:srgbClr val="3A7D4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Sriracha"/>
              </a:rPr>
              <a:t> </a:t>
            </a:r>
            <a:r>
              <a:rPr lang="en-US" sz="6199" b="1" dirty="0">
                <a:solidFill>
                  <a:srgbClr val="3A7D4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Sriracha"/>
              </a:rPr>
              <a:t>Recommendations</a:t>
            </a:r>
            <a:endParaRPr dirty="0"/>
          </a:p>
        </p:txBody>
      </p:sp>
      <p:grpSp>
        <p:nvGrpSpPr>
          <p:cNvPr id="293" name="Google Shape;293;p19">
            <a:extLst>
              <a:ext uri="{FF2B5EF4-FFF2-40B4-BE49-F238E27FC236}">
                <a16:creationId xmlns:a16="http://schemas.microsoft.com/office/drawing/2014/main" id="{E973B780-E6FE-8947-5FA6-A54F75E6D42A}"/>
              </a:ext>
            </a:extLst>
          </p:cNvPr>
          <p:cNvGrpSpPr/>
          <p:nvPr/>
        </p:nvGrpSpPr>
        <p:grpSpPr>
          <a:xfrm>
            <a:off x="1478504" y="7169595"/>
            <a:ext cx="5127454" cy="2205198"/>
            <a:chOff x="-724404" y="902064"/>
            <a:chExt cx="6836604" cy="2940263"/>
          </a:xfrm>
        </p:grpSpPr>
        <p:sp>
          <p:nvSpPr>
            <p:cNvPr id="294" name="Google Shape;294;p19">
              <a:extLst>
                <a:ext uri="{FF2B5EF4-FFF2-40B4-BE49-F238E27FC236}">
                  <a16:creationId xmlns:a16="http://schemas.microsoft.com/office/drawing/2014/main" id="{0C031957-191C-FB0E-2A4D-E9EA5C02B3CF}"/>
                </a:ext>
              </a:extLst>
            </p:cNvPr>
            <p:cNvSpPr txBox="1"/>
            <p:nvPr/>
          </p:nvSpPr>
          <p:spPr>
            <a:xfrm>
              <a:off x="-724404" y="3391776"/>
              <a:ext cx="6112165" cy="4505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 algn="ctr">
                <a:lnSpc>
                  <a:spcPct val="122000"/>
                </a:lnSpc>
              </a:pPr>
              <a:r>
                <a:rPr lang="en-US" sz="1800" b="1" dirty="0">
                  <a:solidFill>
                    <a:srgbClr val="3A7D4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Sriracha"/>
                </a:rPr>
                <a:t>Weather Conditions</a:t>
              </a:r>
              <a:endParaRPr sz="1800" dirty="0"/>
            </a:p>
          </p:txBody>
        </p:sp>
        <p:sp>
          <p:nvSpPr>
            <p:cNvPr id="295" name="Google Shape;295;p19">
              <a:extLst>
                <a:ext uri="{FF2B5EF4-FFF2-40B4-BE49-F238E27FC236}">
                  <a16:creationId xmlns:a16="http://schemas.microsoft.com/office/drawing/2014/main" id="{C54EDDDE-304A-DA12-0F04-F1178A1BDA5C}"/>
                </a:ext>
              </a:extLst>
            </p:cNvPr>
            <p:cNvSpPr txBox="1"/>
            <p:nvPr/>
          </p:nvSpPr>
          <p:spPr>
            <a:xfrm>
              <a:off x="0" y="902064"/>
              <a:ext cx="6112200" cy="3447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1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296" name="Google Shape;296;p19">
            <a:extLst>
              <a:ext uri="{FF2B5EF4-FFF2-40B4-BE49-F238E27FC236}">
                <a16:creationId xmlns:a16="http://schemas.microsoft.com/office/drawing/2014/main" id="{B39F659D-F553-0C53-2192-E03AD1BC493C}"/>
              </a:ext>
            </a:extLst>
          </p:cNvPr>
          <p:cNvGrpSpPr/>
          <p:nvPr/>
        </p:nvGrpSpPr>
        <p:grpSpPr>
          <a:xfrm>
            <a:off x="7294360" y="7169595"/>
            <a:ext cx="4617979" cy="2205197"/>
            <a:chOff x="-45104" y="902064"/>
            <a:chExt cx="6157304" cy="2940261"/>
          </a:xfrm>
        </p:grpSpPr>
        <p:sp>
          <p:nvSpPr>
            <p:cNvPr id="297" name="Google Shape;297;p19">
              <a:extLst>
                <a:ext uri="{FF2B5EF4-FFF2-40B4-BE49-F238E27FC236}">
                  <a16:creationId xmlns:a16="http://schemas.microsoft.com/office/drawing/2014/main" id="{B36DD334-70D5-31D6-295C-3748376C175B}"/>
                </a:ext>
              </a:extLst>
            </p:cNvPr>
            <p:cNvSpPr txBox="1"/>
            <p:nvPr/>
          </p:nvSpPr>
          <p:spPr>
            <a:xfrm>
              <a:off x="-45104" y="3391775"/>
              <a:ext cx="6112165" cy="450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 algn="ctr">
                <a:lnSpc>
                  <a:spcPct val="122000"/>
                </a:lnSpc>
              </a:pPr>
              <a:r>
                <a:rPr lang="en-US" sz="1800" b="1" dirty="0">
                  <a:solidFill>
                    <a:srgbClr val="3A7D4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Sriracha"/>
                </a:rPr>
                <a:t>Geographic Location</a:t>
              </a:r>
              <a:endParaRPr sz="1800" dirty="0"/>
            </a:p>
          </p:txBody>
        </p:sp>
        <p:sp>
          <p:nvSpPr>
            <p:cNvPr id="298" name="Google Shape;298;p19">
              <a:extLst>
                <a:ext uri="{FF2B5EF4-FFF2-40B4-BE49-F238E27FC236}">
                  <a16:creationId xmlns:a16="http://schemas.microsoft.com/office/drawing/2014/main" id="{95ADCB42-6FEF-0909-6108-2DB73BDF6C06}"/>
                </a:ext>
              </a:extLst>
            </p:cNvPr>
            <p:cNvSpPr txBox="1"/>
            <p:nvPr/>
          </p:nvSpPr>
          <p:spPr>
            <a:xfrm>
              <a:off x="0" y="902064"/>
              <a:ext cx="6112200" cy="3447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1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299" name="Google Shape;299;p19">
            <a:extLst>
              <a:ext uri="{FF2B5EF4-FFF2-40B4-BE49-F238E27FC236}">
                <a16:creationId xmlns:a16="http://schemas.microsoft.com/office/drawing/2014/main" id="{8DEBFFA0-6AE2-3A38-BD31-CCC5D985522C}"/>
              </a:ext>
            </a:extLst>
          </p:cNvPr>
          <p:cNvGrpSpPr/>
          <p:nvPr/>
        </p:nvGrpSpPr>
        <p:grpSpPr>
          <a:xfrm>
            <a:off x="12634569" y="7169595"/>
            <a:ext cx="4702112" cy="2209771"/>
            <a:chOff x="0" y="902064"/>
            <a:chExt cx="6269481" cy="2946361"/>
          </a:xfrm>
        </p:grpSpPr>
        <p:sp>
          <p:nvSpPr>
            <p:cNvPr id="300" name="Google Shape;300;p19">
              <a:extLst>
                <a:ext uri="{FF2B5EF4-FFF2-40B4-BE49-F238E27FC236}">
                  <a16:creationId xmlns:a16="http://schemas.microsoft.com/office/drawing/2014/main" id="{D185706B-3CD0-99A7-D6F3-FE3EC60B65A6}"/>
                </a:ext>
              </a:extLst>
            </p:cNvPr>
            <p:cNvSpPr txBox="1"/>
            <p:nvPr/>
          </p:nvSpPr>
          <p:spPr>
            <a:xfrm>
              <a:off x="157316" y="3022387"/>
              <a:ext cx="6112165" cy="8260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 algn="ctr">
                <a:lnSpc>
                  <a:spcPct val="122000"/>
                </a:lnSpc>
              </a:pPr>
              <a:r>
                <a:rPr lang="en-US" sz="3300" b="1" i="0" u="none" strike="noStrike" cap="none" dirty="0">
                  <a:solidFill>
                    <a:srgbClr val="3A7D4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Sriracha"/>
                </a:rPr>
                <a:t> </a:t>
              </a:r>
              <a:r>
                <a:rPr lang="en-US" sz="1800" b="1" dirty="0">
                  <a:solidFill>
                    <a:srgbClr val="3A7D4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Sriracha"/>
                </a:rPr>
                <a:t>Time</a:t>
              </a:r>
              <a:endParaRPr sz="1800" dirty="0"/>
            </a:p>
          </p:txBody>
        </p:sp>
        <p:sp>
          <p:nvSpPr>
            <p:cNvPr id="301" name="Google Shape;301;p19">
              <a:extLst>
                <a:ext uri="{FF2B5EF4-FFF2-40B4-BE49-F238E27FC236}">
                  <a16:creationId xmlns:a16="http://schemas.microsoft.com/office/drawing/2014/main" id="{2C33293F-2C08-1059-16EA-7D813B745928}"/>
                </a:ext>
              </a:extLst>
            </p:cNvPr>
            <p:cNvSpPr txBox="1"/>
            <p:nvPr/>
          </p:nvSpPr>
          <p:spPr>
            <a:xfrm>
              <a:off x="0" y="902064"/>
              <a:ext cx="6112200" cy="5663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1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00" b="1" i="0" u="none" strike="noStrike" cap="none" dirty="0">
                  <a:solidFill>
                    <a:srgbClr val="3A7D4D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 </a:t>
              </a:r>
              <a:endParaRPr dirty="0"/>
            </a:p>
          </p:txBody>
        </p:sp>
      </p:grpSp>
      <p:sp>
        <p:nvSpPr>
          <p:cNvPr id="260" name="Google Shape;407;p24">
            <a:extLst>
              <a:ext uri="{FF2B5EF4-FFF2-40B4-BE49-F238E27FC236}">
                <a16:creationId xmlns:a16="http://schemas.microsoft.com/office/drawing/2014/main" id="{C2F78396-FF6D-5800-00BE-A443C3D59E5E}"/>
              </a:ext>
            </a:extLst>
          </p:cNvPr>
          <p:cNvSpPr/>
          <p:nvPr/>
        </p:nvSpPr>
        <p:spPr>
          <a:xfrm>
            <a:off x="2021807" y="2352856"/>
            <a:ext cx="14887399" cy="5241471"/>
          </a:xfrm>
          <a:custGeom>
            <a:avLst/>
            <a:gdLst/>
            <a:ahLst/>
            <a:cxnLst/>
            <a:rect l="l" t="t" r="r" b="b"/>
            <a:pathLst>
              <a:path w="4594567" h="1380470" extrusionOk="0">
                <a:moveTo>
                  <a:pt x="0" y="0"/>
                </a:moveTo>
                <a:lnTo>
                  <a:pt x="4594567" y="0"/>
                </a:lnTo>
                <a:lnTo>
                  <a:pt x="4594567" y="1380470"/>
                </a:lnTo>
                <a:lnTo>
                  <a:pt x="0" y="138047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04775" cap="flat" cmpd="sng">
            <a:solidFill>
              <a:srgbClr val="3A7D4D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pPr lvl="1">
              <a:lnSpc>
                <a:spcPct val="140000"/>
              </a:lnSpc>
            </a:pPr>
            <a:endParaRPr lang="en-US" sz="2300" b="1" dirty="0">
              <a:solidFill>
                <a:srgbClr val="3A7D4D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lvl="1">
              <a:lnSpc>
                <a:spcPct val="140000"/>
              </a:lnSpc>
            </a:pPr>
            <a:r>
              <a:rPr lang="en-US" sz="2400" b="1" dirty="0">
                <a:solidFill>
                  <a:srgbClr val="3A7D4D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📌 Students and newcomers can use AQHI patterns to better understand daily air quality in different Canadian cities when choosing where to study, live, or travel.</a:t>
            </a:r>
          </a:p>
          <a:p>
            <a:pPr lvl="1">
              <a:lnSpc>
                <a:spcPct val="140000"/>
              </a:lnSpc>
            </a:pPr>
            <a:r>
              <a:rPr lang="en-US" sz="2400" b="1" dirty="0">
                <a:solidFill>
                  <a:srgbClr val="3A7D4D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📌 Individuals can plan outdoor activities at times of day with more stable air quality to reduce health risks.</a:t>
            </a:r>
          </a:p>
          <a:p>
            <a:pPr lvl="1">
              <a:lnSpc>
                <a:spcPct val="140000"/>
              </a:lnSpc>
            </a:pPr>
            <a:r>
              <a:rPr lang="en-US" sz="2400" b="1" dirty="0">
                <a:solidFill>
                  <a:srgbClr val="3A7D4D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📌 Communities and local organizations can use these findings to raise awareness about environmental conditions that affect daily life.</a:t>
            </a:r>
          </a:p>
          <a:p>
            <a:pPr lvl="1">
              <a:lnSpc>
                <a:spcPct val="140000"/>
              </a:lnSpc>
            </a:pPr>
            <a:r>
              <a:rPr lang="en-US" sz="2400" b="1" dirty="0">
                <a:solidFill>
                  <a:srgbClr val="3A7D4D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📌 Government and city planners may leverage these insights to support long-term strategies that protect air quality and improve urban living conditions.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0094787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DB898"/>
        </a:solidFill>
        <a:effectLst/>
      </p:bgPr>
    </p:bg>
    <p:spTree>
      <p:nvGrpSpPr>
        <p:cNvPr id="1" name="Shape 272">
          <a:extLst>
            <a:ext uri="{FF2B5EF4-FFF2-40B4-BE49-F238E27FC236}">
              <a16:creationId xmlns:a16="http://schemas.microsoft.com/office/drawing/2014/main" id="{8B5E7C45-9F6F-8C4A-B705-7B2AA7556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4" name="Google Shape;274;p19">
            <a:extLst>
              <a:ext uri="{FF2B5EF4-FFF2-40B4-BE49-F238E27FC236}">
                <a16:creationId xmlns:a16="http://schemas.microsoft.com/office/drawing/2014/main" id="{772A9A65-FB76-A0FA-3081-8EEBDB18354A}"/>
              </a:ext>
            </a:extLst>
          </p:cNvPr>
          <p:cNvGrpSpPr/>
          <p:nvPr/>
        </p:nvGrpSpPr>
        <p:grpSpPr>
          <a:xfrm>
            <a:off x="421501" y="319064"/>
            <a:ext cx="17444998" cy="9494851"/>
            <a:chOff x="0" y="-67043"/>
            <a:chExt cx="4594567" cy="2500701"/>
          </a:xfrm>
        </p:grpSpPr>
        <p:sp>
          <p:nvSpPr>
            <p:cNvPr id="275" name="Google Shape;275;p19">
              <a:extLst>
                <a:ext uri="{FF2B5EF4-FFF2-40B4-BE49-F238E27FC236}">
                  <a16:creationId xmlns:a16="http://schemas.microsoft.com/office/drawing/2014/main" id="{E7D2F36D-60AB-3300-0229-253F10DB7715}"/>
                </a:ext>
              </a:extLst>
            </p:cNvPr>
            <p:cNvSpPr/>
            <p:nvPr/>
          </p:nvSpPr>
          <p:spPr>
            <a:xfrm>
              <a:off x="0" y="-67043"/>
              <a:ext cx="4594567" cy="2483380"/>
            </a:xfrm>
            <a:custGeom>
              <a:avLst/>
              <a:gdLst/>
              <a:ahLst/>
              <a:cxnLst/>
              <a:rect l="l" t="t" r="r" b="b"/>
              <a:pathLst>
                <a:path w="4594567" h="2483380" extrusionOk="0">
                  <a:moveTo>
                    <a:pt x="4515149" y="0"/>
                  </a:moveTo>
                  <a:lnTo>
                    <a:pt x="79418" y="0"/>
                  </a:lnTo>
                  <a:cubicBezTo>
                    <a:pt x="79418" y="43699"/>
                    <a:pt x="44079" y="79418"/>
                    <a:pt x="0" y="79418"/>
                  </a:cubicBezTo>
                  <a:lnTo>
                    <a:pt x="0" y="2403962"/>
                  </a:lnTo>
                  <a:cubicBezTo>
                    <a:pt x="43699" y="2403962"/>
                    <a:pt x="79418" y="2439301"/>
                    <a:pt x="79418" y="2483380"/>
                  </a:cubicBezTo>
                  <a:lnTo>
                    <a:pt x="4515149" y="2483380"/>
                  </a:lnTo>
                  <a:cubicBezTo>
                    <a:pt x="4515149" y="2439681"/>
                    <a:pt x="4550488" y="2403962"/>
                    <a:pt x="4594567" y="2403962"/>
                  </a:cubicBezTo>
                  <a:lnTo>
                    <a:pt x="4594567" y="79418"/>
                  </a:lnTo>
                  <a:cubicBezTo>
                    <a:pt x="4550868" y="79418"/>
                    <a:pt x="4515149" y="44079"/>
                    <a:pt x="4515149" y="0"/>
                  </a:cubicBezTo>
                  <a:close/>
                </a:path>
              </a:pathLst>
            </a:custGeom>
            <a:solidFill>
              <a:srgbClr val="EBEAE6"/>
            </a:solidFill>
            <a:ln w="104775" cap="flat" cmpd="sng">
              <a:solidFill>
                <a:srgbClr val="3A7D4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6" name="Google Shape;276;p19">
              <a:extLst>
                <a:ext uri="{FF2B5EF4-FFF2-40B4-BE49-F238E27FC236}">
                  <a16:creationId xmlns:a16="http://schemas.microsoft.com/office/drawing/2014/main" id="{36A60ACE-8014-1A6A-B523-AFD7569B8952}"/>
                </a:ext>
              </a:extLst>
            </p:cNvPr>
            <p:cNvSpPr txBox="1"/>
            <p:nvPr/>
          </p:nvSpPr>
          <p:spPr>
            <a:xfrm>
              <a:off x="38100" y="-38100"/>
              <a:ext cx="736600" cy="81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6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" name="Google Shape;275;p19">
              <a:extLst>
                <a:ext uri="{FF2B5EF4-FFF2-40B4-BE49-F238E27FC236}">
                  <a16:creationId xmlns:a16="http://schemas.microsoft.com/office/drawing/2014/main" id="{C4DA8754-102D-FB2F-1FC7-5152D1ED0CFC}"/>
                </a:ext>
              </a:extLst>
            </p:cNvPr>
            <p:cNvSpPr/>
            <p:nvPr/>
          </p:nvSpPr>
          <p:spPr>
            <a:xfrm>
              <a:off x="0" y="-49722"/>
              <a:ext cx="4594567" cy="2483380"/>
            </a:xfrm>
            <a:custGeom>
              <a:avLst/>
              <a:gdLst/>
              <a:ahLst/>
              <a:cxnLst/>
              <a:rect l="l" t="t" r="r" b="b"/>
              <a:pathLst>
                <a:path w="4594567" h="2483380" extrusionOk="0">
                  <a:moveTo>
                    <a:pt x="4515149" y="0"/>
                  </a:moveTo>
                  <a:lnTo>
                    <a:pt x="79418" y="0"/>
                  </a:lnTo>
                  <a:cubicBezTo>
                    <a:pt x="79418" y="43699"/>
                    <a:pt x="44079" y="79418"/>
                    <a:pt x="0" y="79418"/>
                  </a:cubicBezTo>
                  <a:lnTo>
                    <a:pt x="0" y="2403962"/>
                  </a:lnTo>
                  <a:cubicBezTo>
                    <a:pt x="43699" y="2403962"/>
                    <a:pt x="79418" y="2439301"/>
                    <a:pt x="79418" y="2483380"/>
                  </a:cubicBezTo>
                  <a:lnTo>
                    <a:pt x="4515149" y="2483380"/>
                  </a:lnTo>
                  <a:cubicBezTo>
                    <a:pt x="4515149" y="2439681"/>
                    <a:pt x="4550488" y="2403962"/>
                    <a:pt x="4594567" y="2403962"/>
                  </a:cubicBezTo>
                  <a:lnTo>
                    <a:pt x="4594567" y="79418"/>
                  </a:lnTo>
                  <a:cubicBezTo>
                    <a:pt x="4550868" y="79418"/>
                    <a:pt x="4515149" y="44079"/>
                    <a:pt x="4515149" y="0"/>
                  </a:cubicBezTo>
                  <a:close/>
                </a:path>
              </a:pathLst>
            </a:custGeom>
            <a:solidFill>
              <a:srgbClr val="EBEAE6"/>
            </a:solidFill>
            <a:ln w="104775" cap="flat" cmpd="sng">
              <a:solidFill>
                <a:srgbClr val="3A7D4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pic>
        <p:nvPicPr>
          <p:cNvPr id="289" name="Google Shape;289;p19" descr="Partial sun with solid fill">
            <a:extLst>
              <a:ext uri="{FF2B5EF4-FFF2-40B4-BE49-F238E27FC236}">
                <a16:creationId xmlns:a16="http://schemas.microsoft.com/office/drawing/2014/main" id="{552B28E1-BC23-9CD7-0ECC-CB1205DC01A5}"/>
              </a:ext>
            </a:extLst>
          </p:cNvPr>
          <p:cNvPicPr preferRelativeResize="0"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040520" y="7733587"/>
            <a:ext cx="1460091" cy="133601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19" descr="Marker with solid fill">
            <a:extLst>
              <a:ext uri="{FF2B5EF4-FFF2-40B4-BE49-F238E27FC236}">
                <a16:creationId xmlns:a16="http://schemas.microsoft.com/office/drawing/2014/main" id="{663AD774-82D5-26AD-901D-DAD2D434974C}"/>
              </a:ext>
            </a:extLst>
          </p:cNvPr>
          <p:cNvPicPr preferRelativeResize="0"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9036583" y="7880730"/>
            <a:ext cx="1099678" cy="1156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19" descr="Alarm clock with solid fill">
            <a:extLst>
              <a:ext uri="{FF2B5EF4-FFF2-40B4-BE49-F238E27FC236}">
                <a16:creationId xmlns:a16="http://schemas.microsoft.com/office/drawing/2014/main" id="{67B8B255-17B3-FD97-71EF-C48943B4CB6B}"/>
              </a:ext>
            </a:extLst>
          </p:cNvPr>
          <p:cNvPicPr preferRelativeResize="0"/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14535799" y="8044711"/>
            <a:ext cx="1017638" cy="932442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19">
            <a:extLst>
              <a:ext uri="{FF2B5EF4-FFF2-40B4-BE49-F238E27FC236}">
                <a16:creationId xmlns:a16="http://schemas.microsoft.com/office/drawing/2014/main" id="{E554B81B-DCED-E7CE-BE13-04F991E64E1F}"/>
              </a:ext>
            </a:extLst>
          </p:cNvPr>
          <p:cNvSpPr txBox="1"/>
          <p:nvPr/>
        </p:nvSpPr>
        <p:spPr>
          <a:xfrm>
            <a:off x="2729524" y="678512"/>
            <a:ext cx="13781478" cy="1163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22003"/>
              </a:lnSpc>
            </a:pPr>
            <a:r>
              <a:rPr lang="en-US" sz="6199" b="1" i="0" u="none" strike="noStrike" cap="none" dirty="0">
                <a:solidFill>
                  <a:srgbClr val="3A7D4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Sriracha"/>
              </a:rPr>
              <a:t> </a:t>
            </a:r>
            <a:r>
              <a:rPr lang="en-US" sz="6199" b="1" dirty="0">
                <a:solidFill>
                  <a:srgbClr val="3A7D4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Sriracha"/>
              </a:rPr>
              <a:t>Limitations &amp; Future Work</a:t>
            </a:r>
            <a:endParaRPr dirty="0"/>
          </a:p>
        </p:txBody>
      </p:sp>
      <p:grpSp>
        <p:nvGrpSpPr>
          <p:cNvPr id="293" name="Google Shape;293;p19">
            <a:extLst>
              <a:ext uri="{FF2B5EF4-FFF2-40B4-BE49-F238E27FC236}">
                <a16:creationId xmlns:a16="http://schemas.microsoft.com/office/drawing/2014/main" id="{719458F2-0FFD-99C4-10C3-5D9C07EA628C}"/>
              </a:ext>
            </a:extLst>
          </p:cNvPr>
          <p:cNvGrpSpPr/>
          <p:nvPr/>
        </p:nvGrpSpPr>
        <p:grpSpPr>
          <a:xfrm>
            <a:off x="1478504" y="7169595"/>
            <a:ext cx="5127454" cy="2205198"/>
            <a:chOff x="-724404" y="902064"/>
            <a:chExt cx="6836604" cy="2940263"/>
          </a:xfrm>
        </p:grpSpPr>
        <p:sp>
          <p:nvSpPr>
            <p:cNvPr id="294" name="Google Shape;294;p19">
              <a:extLst>
                <a:ext uri="{FF2B5EF4-FFF2-40B4-BE49-F238E27FC236}">
                  <a16:creationId xmlns:a16="http://schemas.microsoft.com/office/drawing/2014/main" id="{892668F3-79E0-47E2-CD5A-8AF3946D1AA9}"/>
                </a:ext>
              </a:extLst>
            </p:cNvPr>
            <p:cNvSpPr txBox="1"/>
            <p:nvPr/>
          </p:nvSpPr>
          <p:spPr>
            <a:xfrm>
              <a:off x="-724404" y="3391776"/>
              <a:ext cx="6112165" cy="4505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 algn="ctr">
                <a:lnSpc>
                  <a:spcPct val="122000"/>
                </a:lnSpc>
              </a:pPr>
              <a:r>
                <a:rPr lang="en-US" sz="1800" b="1" dirty="0">
                  <a:solidFill>
                    <a:srgbClr val="3A7D4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Sriracha"/>
                </a:rPr>
                <a:t>Weather Conditions</a:t>
              </a:r>
              <a:endParaRPr sz="1800" dirty="0"/>
            </a:p>
          </p:txBody>
        </p:sp>
        <p:sp>
          <p:nvSpPr>
            <p:cNvPr id="295" name="Google Shape;295;p19">
              <a:extLst>
                <a:ext uri="{FF2B5EF4-FFF2-40B4-BE49-F238E27FC236}">
                  <a16:creationId xmlns:a16="http://schemas.microsoft.com/office/drawing/2014/main" id="{AEEA3D60-A0B5-0708-41C7-CAE7989179B7}"/>
                </a:ext>
              </a:extLst>
            </p:cNvPr>
            <p:cNvSpPr txBox="1"/>
            <p:nvPr/>
          </p:nvSpPr>
          <p:spPr>
            <a:xfrm>
              <a:off x="0" y="902064"/>
              <a:ext cx="6112200" cy="3447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1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296" name="Google Shape;296;p19">
            <a:extLst>
              <a:ext uri="{FF2B5EF4-FFF2-40B4-BE49-F238E27FC236}">
                <a16:creationId xmlns:a16="http://schemas.microsoft.com/office/drawing/2014/main" id="{7FAC7D51-9363-5C77-797F-E3B4234298BB}"/>
              </a:ext>
            </a:extLst>
          </p:cNvPr>
          <p:cNvGrpSpPr/>
          <p:nvPr/>
        </p:nvGrpSpPr>
        <p:grpSpPr>
          <a:xfrm>
            <a:off x="7294360" y="7169595"/>
            <a:ext cx="4617979" cy="2205197"/>
            <a:chOff x="-45104" y="902064"/>
            <a:chExt cx="6157304" cy="2940261"/>
          </a:xfrm>
        </p:grpSpPr>
        <p:sp>
          <p:nvSpPr>
            <p:cNvPr id="297" name="Google Shape;297;p19">
              <a:extLst>
                <a:ext uri="{FF2B5EF4-FFF2-40B4-BE49-F238E27FC236}">
                  <a16:creationId xmlns:a16="http://schemas.microsoft.com/office/drawing/2014/main" id="{4E10EB79-A8EB-6256-FCEA-40D5FD072C55}"/>
                </a:ext>
              </a:extLst>
            </p:cNvPr>
            <p:cNvSpPr txBox="1"/>
            <p:nvPr/>
          </p:nvSpPr>
          <p:spPr>
            <a:xfrm>
              <a:off x="-45104" y="3391775"/>
              <a:ext cx="6112165" cy="450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 algn="ctr">
                <a:lnSpc>
                  <a:spcPct val="122000"/>
                </a:lnSpc>
              </a:pPr>
              <a:r>
                <a:rPr lang="en-US" sz="1800" b="1" dirty="0">
                  <a:solidFill>
                    <a:srgbClr val="3A7D4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Sriracha"/>
                </a:rPr>
                <a:t>Geographic Location</a:t>
              </a:r>
              <a:endParaRPr sz="1800" dirty="0"/>
            </a:p>
          </p:txBody>
        </p:sp>
        <p:sp>
          <p:nvSpPr>
            <p:cNvPr id="298" name="Google Shape;298;p19">
              <a:extLst>
                <a:ext uri="{FF2B5EF4-FFF2-40B4-BE49-F238E27FC236}">
                  <a16:creationId xmlns:a16="http://schemas.microsoft.com/office/drawing/2014/main" id="{F24B84AB-FD54-0764-77C7-C600CEE5EB13}"/>
                </a:ext>
              </a:extLst>
            </p:cNvPr>
            <p:cNvSpPr txBox="1"/>
            <p:nvPr/>
          </p:nvSpPr>
          <p:spPr>
            <a:xfrm>
              <a:off x="0" y="902064"/>
              <a:ext cx="6112200" cy="3447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1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299" name="Google Shape;299;p19">
            <a:extLst>
              <a:ext uri="{FF2B5EF4-FFF2-40B4-BE49-F238E27FC236}">
                <a16:creationId xmlns:a16="http://schemas.microsoft.com/office/drawing/2014/main" id="{77BE32A3-8AD3-A6C6-F50D-1F31097EB407}"/>
              </a:ext>
            </a:extLst>
          </p:cNvPr>
          <p:cNvGrpSpPr/>
          <p:nvPr/>
        </p:nvGrpSpPr>
        <p:grpSpPr>
          <a:xfrm>
            <a:off x="12634569" y="7169595"/>
            <a:ext cx="4702112" cy="2209771"/>
            <a:chOff x="0" y="902064"/>
            <a:chExt cx="6269481" cy="2946361"/>
          </a:xfrm>
        </p:grpSpPr>
        <p:sp>
          <p:nvSpPr>
            <p:cNvPr id="300" name="Google Shape;300;p19">
              <a:extLst>
                <a:ext uri="{FF2B5EF4-FFF2-40B4-BE49-F238E27FC236}">
                  <a16:creationId xmlns:a16="http://schemas.microsoft.com/office/drawing/2014/main" id="{929F0CAA-5272-7C87-D3A9-C55AA69B66E5}"/>
                </a:ext>
              </a:extLst>
            </p:cNvPr>
            <p:cNvSpPr txBox="1"/>
            <p:nvPr/>
          </p:nvSpPr>
          <p:spPr>
            <a:xfrm>
              <a:off x="157316" y="3022387"/>
              <a:ext cx="6112165" cy="8260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 algn="ctr">
                <a:lnSpc>
                  <a:spcPct val="122000"/>
                </a:lnSpc>
              </a:pPr>
              <a:r>
                <a:rPr lang="en-US" sz="3300" b="1" i="0" u="none" strike="noStrike" cap="none" dirty="0">
                  <a:solidFill>
                    <a:srgbClr val="3A7D4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Sriracha"/>
                </a:rPr>
                <a:t> </a:t>
              </a:r>
              <a:r>
                <a:rPr lang="en-US" sz="1800" b="1" dirty="0">
                  <a:solidFill>
                    <a:srgbClr val="3A7D4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Sriracha"/>
                </a:rPr>
                <a:t>Time</a:t>
              </a:r>
              <a:endParaRPr sz="1800" dirty="0"/>
            </a:p>
          </p:txBody>
        </p:sp>
        <p:sp>
          <p:nvSpPr>
            <p:cNvPr id="301" name="Google Shape;301;p19">
              <a:extLst>
                <a:ext uri="{FF2B5EF4-FFF2-40B4-BE49-F238E27FC236}">
                  <a16:creationId xmlns:a16="http://schemas.microsoft.com/office/drawing/2014/main" id="{B3758D2F-27CF-5227-0729-CCB7C0ABA0BA}"/>
                </a:ext>
              </a:extLst>
            </p:cNvPr>
            <p:cNvSpPr txBox="1"/>
            <p:nvPr/>
          </p:nvSpPr>
          <p:spPr>
            <a:xfrm>
              <a:off x="0" y="902064"/>
              <a:ext cx="6112200" cy="5663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1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00" b="1" i="0" u="none" strike="noStrike" cap="none" dirty="0">
                  <a:solidFill>
                    <a:srgbClr val="3A7D4D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 </a:t>
              </a:r>
              <a:endParaRPr dirty="0"/>
            </a:p>
          </p:txBody>
        </p:sp>
      </p:grpSp>
      <p:sp>
        <p:nvSpPr>
          <p:cNvPr id="260" name="Google Shape;407;p24">
            <a:extLst>
              <a:ext uri="{FF2B5EF4-FFF2-40B4-BE49-F238E27FC236}">
                <a16:creationId xmlns:a16="http://schemas.microsoft.com/office/drawing/2014/main" id="{DC10C438-7550-9FFD-A959-34100252DE75}"/>
              </a:ext>
            </a:extLst>
          </p:cNvPr>
          <p:cNvSpPr/>
          <p:nvPr/>
        </p:nvSpPr>
        <p:spPr>
          <a:xfrm>
            <a:off x="2021807" y="2352856"/>
            <a:ext cx="14887399" cy="5241471"/>
          </a:xfrm>
          <a:custGeom>
            <a:avLst/>
            <a:gdLst/>
            <a:ahLst/>
            <a:cxnLst/>
            <a:rect l="l" t="t" r="r" b="b"/>
            <a:pathLst>
              <a:path w="4594567" h="1380470" extrusionOk="0">
                <a:moveTo>
                  <a:pt x="0" y="0"/>
                </a:moveTo>
                <a:lnTo>
                  <a:pt x="4594567" y="0"/>
                </a:lnTo>
                <a:lnTo>
                  <a:pt x="4594567" y="1380470"/>
                </a:lnTo>
                <a:lnTo>
                  <a:pt x="0" y="138047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04775" cap="flat" cmpd="sng">
            <a:solidFill>
              <a:srgbClr val="3A7D4D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pPr lvl="1">
              <a:lnSpc>
                <a:spcPct val="140000"/>
              </a:lnSpc>
            </a:pPr>
            <a:endParaRPr lang="en-US" sz="2300" b="1" dirty="0">
              <a:solidFill>
                <a:srgbClr val="3A7D4D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lvl="1" algn="just">
              <a:lnSpc>
                <a:spcPct val="140000"/>
              </a:lnSpc>
            </a:pPr>
            <a:r>
              <a:rPr lang="en-US" sz="2800" b="1" dirty="0">
                <a:solidFill>
                  <a:srgbClr val="3A7D4D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📌 Limited time range (7 days) may not reflect long-term seasonal trends.</a:t>
            </a:r>
          </a:p>
          <a:p>
            <a:pPr lvl="1" algn="just">
              <a:lnSpc>
                <a:spcPct val="140000"/>
              </a:lnSpc>
            </a:pPr>
            <a:r>
              <a:rPr lang="en-US" sz="2800" b="1" dirty="0">
                <a:solidFill>
                  <a:srgbClr val="3A7D4D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📌 AQHI readings sourced from selected stations; coverage differences may influence results.</a:t>
            </a:r>
          </a:p>
          <a:p>
            <a:pPr lvl="1" algn="just">
              <a:lnSpc>
                <a:spcPct val="140000"/>
              </a:lnSpc>
            </a:pPr>
            <a:r>
              <a:rPr lang="en-US" sz="2800" b="1" dirty="0">
                <a:solidFill>
                  <a:srgbClr val="3A7D4D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📌 Weather variables such as solar radiation or air pressure were not included.</a:t>
            </a:r>
          </a:p>
          <a:p>
            <a:pPr lvl="1" algn="just">
              <a:lnSpc>
                <a:spcPct val="140000"/>
              </a:lnSpc>
            </a:pPr>
            <a:r>
              <a:rPr lang="en-US" sz="2800" b="1" dirty="0">
                <a:solidFill>
                  <a:srgbClr val="3A7D4D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📌 Future work: extend the dataset to multiple months or seasons for stronger conclusions.</a:t>
            </a:r>
          </a:p>
          <a:p>
            <a:pPr lvl="1" algn="just">
              <a:lnSpc>
                <a:spcPct val="140000"/>
              </a:lnSpc>
            </a:pPr>
            <a:r>
              <a:rPr lang="en-US" sz="2800" b="1" dirty="0">
                <a:solidFill>
                  <a:srgbClr val="3A7D4D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📌 Future work: analyze additional factors such as traffic volume, wildfire smoke, or human activity patterns.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18925511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DB898"/>
        </a:solidFill>
        <a:effectLst/>
      </p:bgPr>
    </p:bg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0" name="Google Shape;510;p28"/>
          <p:cNvGrpSpPr/>
          <p:nvPr/>
        </p:nvGrpSpPr>
        <p:grpSpPr>
          <a:xfrm>
            <a:off x="371125" y="356627"/>
            <a:ext cx="17444998" cy="9573746"/>
            <a:chOff x="0" y="-192881"/>
            <a:chExt cx="23259997" cy="12764994"/>
          </a:xfrm>
        </p:grpSpPr>
        <p:grpSp>
          <p:nvGrpSpPr>
            <p:cNvPr id="511" name="Google Shape;511;p28"/>
            <p:cNvGrpSpPr/>
            <p:nvPr/>
          </p:nvGrpSpPr>
          <p:grpSpPr>
            <a:xfrm>
              <a:off x="0" y="-192881"/>
              <a:ext cx="23259997" cy="12764994"/>
              <a:chOff x="0" y="-38100"/>
              <a:chExt cx="4594567" cy="2521480"/>
            </a:xfrm>
          </p:grpSpPr>
          <p:sp>
            <p:nvSpPr>
              <p:cNvPr id="512" name="Google Shape;512;p28"/>
              <p:cNvSpPr/>
              <p:nvPr/>
            </p:nvSpPr>
            <p:spPr>
              <a:xfrm>
                <a:off x="0" y="0"/>
                <a:ext cx="4594567" cy="2483380"/>
              </a:xfrm>
              <a:custGeom>
                <a:avLst/>
                <a:gdLst/>
                <a:ahLst/>
                <a:cxnLst/>
                <a:rect l="l" t="t" r="r" b="b"/>
                <a:pathLst>
                  <a:path w="4594567" h="2483380" extrusionOk="0">
                    <a:moveTo>
                      <a:pt x="4515149" y="0"/>
                    </a:moveTo>
                    <a:lnTo>
                      <a:pt x="79418" y="0"/>
                    </a:lnTo>
                    <a:cubicBezTo>
                      <a:pt x="79418" y="43699"/>
                      <a:pt x="44079" y="79418"/>
                      <a:pt x="0" y="79418"/>
                    </a:cubicBezTo>
                    <a:lnTo>
                      <a:pt x="0" y="2403962"/>
                    </a:lnTo>
                    <a:cubicBezTo>
                      <a:pt x="43699" y="2403962"/>
                      <a:pt x="79418" y="2439301"/>
                      <a:pt x="79418" y="2483380"/>
                    </a:cubicBezTo>
                    <a:lnTo>
                      <a:pt x="4515149" y="2483380"/>
                    </a:lnTo>
                    <a:cubicBezTo>
                      <a:pt x="4515149" y="2439681"/>
                      <a:pt x="4550488" y="2403962"/>
                      <a:pt x="4594567" y="2403962"/>
                    </a:cubicBezTo>
                    <a:lnTo>
                      <a:pt x="4594567" y="79418"/>
                    </a:lnTo>
                    <a:cubicBezTo>
                      <a:pt x="4550868" y="79418"/>
                      <a:pt x="4515149" y="44079"/>
                      <a:pt x="4515149" y="0"/>
                    </a:cubicBezTo>
                    <a:close/>
                  </a:path>
                </a:pathLst>
              </a:custGeom>
              <a:solidFill>
                <a:srgbClr val="EBEAE6"/>
              </a:solidFill>
              <a:ln w="104775" cap="flat" cmpd="sng">
                <a:solidFill>
                  <a:srgbClr val="3A7D4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Google Shape;513;p28"/>
              <p:cNvSpPr txBox="1"/>
              <p:nvPr/>
            </p:nvSpPr>
            <p:spPr>
              <a:xfrm>
                <a:off x="38100" y="-38100"/>
                <a:ext cx="736600" cy="81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96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14" name="Google Shape;514;p28"/>
            <p:cNvGrpSpPr/>
            <p:nvPr/>
          </p:nvGrpSpPr>
          <p:grpSpPr>
            <a:xfrm>
              <a:off x="0" y="1969336"/>
              <a:ext cx="23259997" cy="7374390"/>
              <a:chOff x="0" y="-76200"/>
              <a:chExt cx="4594567" cy="1456670"/>
            </a:xfrm>
          </p:grpSpPr>
          <p:sp>
            <p:nvSpPr>
              <p:cNvPr id="515" name="Google Shape;515;p28"/>
              <p:cNvSpPr/>
              <p:nvPr/>
            </p:nvSpPr>
            <p:spPr>
              <a:xfrm>
                <a:off x="0" y="0"/>
                <a:ext cx="4594567" cy="1380470"/>
              </a:xfrm>
              <a:custGeom>
                <a:avLst/>
                <a:gdLst/>
                <a:ahLst/>
                <a:cxnLst/>
                <a:rect l="l" t="t" r="r" b="b"/>
                <a:pathLst>
                  <a:path w="4594567" h="1380470" extrusionOk="0">
                    <a:moveTo>
                      <a:pt x="0" y="0"/>
                    </a:moveTo>
                    <a:lnTo>
                      <a:pt x="4594567" y="0"/>
                    </a:lnTo>
                    <a:lnTo>
                      <a:pt x="4594567" y="1380470"/>
                    </a:lnTo>
                    <a:lnTo>
                      <a:pt x="0" y="138047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04775" cap="flat" cmpd="sng">
                <a:solidFill>
                  <a:srgbClr val="3A7D4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6" name="Google Shape;516;p28"/>
              <p:cNvSpPr txBox="1"/>
              <p:nvPr/>
            </p:nvSpPr>
            <p:spPr>
              <a:xfrm>
                <a:off x="0" y="-76200"/>
                <a:ext cx="812800" cy="889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96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id="517" name="Google Shape;517;p28"/>
          <p:cNvPicPr preferRelativeResize="0"/>
          <p:nvPr/>
        </p:nvPicPr>
        <p:blipFill rotWithShape="1">
          <a:blip r:embed="rId3">
            <a:alphaModFix/>
          </a:blip>
          <a:srcRect l="1028" t="54890" r="1038" b="25756"/>
          <a:stretch/>
        </p:blipFill>
        <p:spPr>
          <a:xfrm>
            <a:off x="427966" y="2318133"/>
            <a:ext cx="17344248" cy="5140427"/>
          </a:xfrm>
          <a:prstGeom prst="rect">
            <a:avLst/>
          </a:prstGeom>
          <a:noFill/>
          <a:ln>
            <a:noFill/>
          </a:ln>
        </p:spPr>
      </p:pic>
      <p:pic>
        <p:nvPicPr>
          <p:cNvPr id="518" name="Google Shape;518;p2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flipH="1">
            <a:off x="14088007" y="1230848"/>
            <a:ext cx="3305773" cy="250036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19" name="Google Shape;519;p28"/>
          <p:cNvGrpSpPr/>
          <p:nvPr/>
        </p:nvGrpSpPr>
        <p:grpSpPr>
          <a:xfrm>
            <a:off x="6357772" y="7818628"/>
            <a:ext cx="10901528" cy="918243"/>
            <a:chOff x="0" y="-76200"/>
            <a:chExt cx="14535370" cy="1224323"/>
          </a:xfrm>
        </p:grpSpPr>
        <p:sp>
          <p:nvSpPr>
            <p:cNvPr id="520" name="Google Shape;520;p28"/>
            <p:cNvSpPr txBox="1"/>
            <p:nvPr/>
          </p:nvSpPr>
          <p:spPr>
            <a:xfrm>
              <a:off x="635000" y="-76200"/>
              <a:ext cx="13900370" cy="4423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1" indent="0" algn="l" rtl="0">
                <a:lnSpc>
                  <a:spcPct val="15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1" name="Google Shape;521;p28"/>
            <p:cNvSpPr txBox="1"/>
            <p:nvPr/>
          </p:nvSpPr>
          <p:spPr>
            <a:xfrm>
              <a:off x="0" y="705781"/>
              <a:ext cx="14535370" cy="4423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248287">
                <a:lnSpc>
                  <a:spcPct val="154000"/>
                </a:lnSpc>
                <a:buClr>
                  <a:srgbClr val="3A7D4D"/>
                </a:buClr>
                <a:buSzPts val="2300"/>
              </a:pPr>
              <a:endParaRPr dirty="0"/>
            </a:p>
          </p:txBody>
        </p:sp>
      </p:grpSp>
      <p:pic>
        <p:nvPicPr>
          <p:cNvPr id="522" name="Google Shape;522;p28"/>
          <p:cNvPicPr preferRelativeResize="0"/>
          <p:nvPr/>
        </p:nvPicPr>
        <p:blipFill rotWithShape="1">
          <a:blip r:embed="rId5">
            <a:alphaModFix/>
          </a:blip>
          <a:srcRect l="20184" t="36272" r="20202" b="40438"/>
          <a:stretch/>
        </p:blipFill>
        <p:spPr>
          <a:xfrm>
            <a:off x="5486400" y="1143810"/>
            <a:ext cx="7315200" cy="1607570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28"/>
          <p:cNvSpPr txBox="1"/>
          <p:nvPr/>
        </p:nvSpPr>
        <p:spPr>
          <a:xfrm>
            <a:off x="6736150" y="1303250"/>
            <a:ext cx="4815600" cy="1163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2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99" b="1" i="0" u="none" strike="noStrike" cap="none" dirty="0">
                <a:solidFill>
                  <a:srgbClr val="3A7D4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Sriracha"/>
              </a:rPr>
              <a:t>Thank You</a:t>
            </a:r>
            <a:endParaRPr dirty="0"/>
          </a:p>
        </p:txBody>
      </p:sp>
      <p:sp>
        <p:nvSpPr>
          <p:cNvPr id="2" name="Google Shape;524;p28">
            <a:extLst>
              <a:ext uri="{FF2B5EF4-FFF2-40B4-BE49-F238E27FC236}">
                <a16:creationId xmlns:a16="http://schemas.microsoft.com/office/drawing/2014/main" id="{25AB4697-445B-10B9-BE90-E29636E732BC}"/>
              </a:ext>
            </a:extLst>
          </p:cNvPr>
          <p:cNvSpPr txBox="1"/>
          <p:nvPr/>
        </p:nvSpPr>
        <p:spPr>
          <a:xfrm>
            <a:off x="4636386" y="7695728"/>
            <a:ext cx="9015127" cy="1802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22003"/>
              </a:lnSpc>
            </a:pPr>
            <a:r>
              <a:rPr lang="en-US" sz="4800" b="1" dirty="0">
                <a:solidFill>
                  <a:srgbClr val="3A7D4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Sriracha"/>
              </a:rPr>
              <a:t> Q&amp;A  </a:t>
            </a:r>
          </a:p>
          <a:p>
            <a:pPr lvl="0" algn="ctr">
              <a:lnSpc>
                <a:spcPct val="122003"/>
              </a:lnSpc>
            </a:pPr>
            <a:r>
              <a:rPr lang="en-US" sz="4800" b="1" dirty="0">
                <a:solidFill>
                  <a:srgbClr val="3A7D4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Sriracha"/>
              </a:rPr>
              <a:t>(please feel free to ask!)</a:t>
            </a:r>
            <a:endParaRPr sz="4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DB898"/>
        </a:solidFill>
        <a:effectLst/>
      </p:bgPr>
    </p:bg>
    <p:spTree>
      <p:nvGrpSpPr>
        <p:cNvPr id="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2" name="Google Shape;832;p36"/>
          <p:cNvGrpSpPr/>
          <p:nvPr/>
        </p:nvGrpSpPr>
        <p:grpSpPr>
          <a:xfrm>
            <a:off x="421501" y="284297"/>
            <a:ext cx="17444998" cy="9573746"/>
            <a:chOff x="0" y="-38100"/>
            <a:chExt cx="4594567" cy="2521480"/>
          </a:xfrm>
        </p:grpSpPr>
        <p:sp>
          <p:nvSpPr>
            <p:cNvPr id="833" name="Google Shape;833;p36"/>
            <p:cNvSpPr/>
            <p:nvPr/>
          </p:nvSpPr>
          <p:spPr>
            <a:xfrm>
              <a:off x="0" y="0"/>
              <a:ext cx="4594567" cy="2483380"/>
            </a:xfrm>
            <a:custGeom>
              <a:avLst/>
              <a:gdLst/>
              <a:ahLst/>
              <a:cxnLst/>
              <a:rect l="l" t="t" r="r" b="b"/>
              <a:pathLst>
                <a:path w="4594567" h="2483380" extrusionOk="0">
                  <a:moveTo>
                    <a:pt x="4515149" y="0"/>
                  </a:moveTo>
                  <a:lnTo>
                    <a:pt x="79418" y="0"/>
                  </a:lnTo>
                  <a:cubicBezTo>
                    <a:pt x="79418" y="43699"/>
                    <a:pt x="44079" y="79418"/>
                    <a:pt x="0" y="79418"/>
                  </a:cubicBezTo>
                  <a:lnTo>
                    <a:pt x="0" y="2403962"/>
                  </a:lnTo>
                  <a:cubicBezTo>
                    <a:pt x="43699" y="2403962"/>
                    <a:pt x="79418" y="2439301"/>
                    <a:pt x="79418" y="2483380"/>
                  </a:cubicBezTo>
                  <a:lnTo>
                    <a:pt x="4515149" y="2483380"/>
                  </a:lnTo>
                  <a:cubicBezTo>
                    <a:pt x="4515149" y="2439681"/>
                    <a:pt x="4550488" y="2403962"/>
                    <a:pt x="4594567" y="2403962"/>
                  </a:cubicBezTo>
                  <a:lnTo>
                    <a:pt x="4594567" y="79418"/>
                  </a:lnTo>
                  <a:cubicBezTo>
                    <a:pt x="4550868" y="79418"/>
                    <a:pt x="4515149" y="44079"/>
                    <a:pt x="4515149" y="0"/>
                  </a:cubicBezTo>
                  <a:close/>
                </a:path>
              </a:pathLst>
            </a:custGeom>
            <a:solidFill>
              <a:srgbClr val="EBEAE6"/>
            </a:solidFill>
            <a:ln w="104775" cap="flat" cmpd="sng">
              <a:solidFill>
                <a:srgbClr val="3A7D4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36"/>
            <p:cNvSpPr txBox="1"/>
            <p:nvPr/>
          </p:nvSpPr>
          <p:spPr>
            <a:xfrm>
              <a:off x="38100" y="-38100"/>
              <a:ext cx="736600" cy="81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6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835" name="Google Shape;835;p36"/>
          <p:cNvPicPr preferRelativeResize="0"/>
          <p:nvPr/>
        </p:nvPicPr>
        <p:blipFill rotWithShape="1">
          <a:blip r:embed="rId3">
            <a:alphaModFix/>
          </a:blip>
          <a:srcRect t="38168" b="39301"/>
          <a:stretch/>
        </p:blipFill>
        <p:spPr>
          <a:xfrm>
            <a:off x="1772600" y="2391751"/>
            <a:ext cx="14814049" cy="1877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36" name="Google Shape;836;p36"/>
          <p:cNvCxnSpPr/>
          <p:nvPr/>
        </p:nvCxnSpPr>
        <p:spPr>
          <a:xfrm>
            <a:off x="421501" y="6044859"/>
            <a:ext cx="17444998" cy="0"/>
          </a:xfrm>
          <a:prstGeom prst="straightConnector1">
            <a:avLst/>
          </a:prstGeom>
          <a:noFill/>
          <a:ln w="104775" cap="flat" cmpd="sng">
            <a:solidFill>
              <a:srgbClr val="3A7D4D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837" name="Google Shape;837;p3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86862" y="6706823"/>
            <a:ext cx="1246453" cy="1246453"/>
          </a:xfrm>
          <a:prstGeom prst="rect">
            <a:avLst/>
          </a:prstGeom>
          <a:noFill/>
          <a:ln>
            <a:noFill/>
          </a:ln>
        </p:spPr>
      </p:pic>
      <p:pic>
        <p:nvPicPr>
          <p:cNvPr id="838" name="Google Shape;838;p3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171170" y="6687773"/>
            <a:ext cx="1352976" cy="1352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839" name="Google Shape;839;p3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92390" y="6687773"/>
            <a:ext cx="1188159" cy="1352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840" name="Google Shape;840;p36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4706894" y="6794297"/>
            <a:ext cx="1276907" cy="1139929"/>
          </a:xfrm>
          <a:prstGeom prst="rect">
            <a:avLst/>
          </a:prstGeom>
          <a:noFill/>
          <a:ln>
            <a:noFill/>
          </a:ln>
        </p:spPr>
      </p:pic>
      <p:pic>
        <p:nvPicPr>
          <p:cNvPr id="841" name="Google Shape;841;p36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404033" y="1197306"/>
            <a:ext cx="3479934" cy="869983"/>
          </a:xfrm>
          <a:prstGeom prst="rect">
            <a:avLst/>
          </a:prstGeom>
          <a:noFill/>
          <a:ln>
            <a:noFill/>
          </a:ln>
        </p:spPr>
      </p:pic>
      <p:sp>
        <p:nvSpPr>
          <p:cNvPr id="842" name="Google Shape;842;p36"/>
          <p:cNvSpPr txBox="1"/>
          <p:nvPr/>
        </p:nvSpPr>
        <p:spPr>
          <a:xfrm>
            <a:off x="754190" y="4593611"/>
            <a:ext cx="16779619" cy="998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318" b="1" i="0" u="none" strike="noStrike" cap="none" dirty="0">
                <a:solidFill>
                  <a:srgbClr val="3A7D4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Sriracha"/>
              </a:rPr>
              <a:t>Free templates for all your presentation needs</a:t>
            </a:r>
            <a:endParaRPr dirty="0"/>
          </a:p>
        </p:txBody>
      </p:sp>
      <p:sp>
        <p:nvSpPr>
          <p:cNvPr id="843" name="Google Shape;843;p36"/>
          <p:cNvSpPr txBox="1"/>
          <p:nvPr/>
        </p:nvSpPr>
        <p:spPr>
          <a:xfrm>
            <a:off x="928137" y="8468995"/>
            <a:ext cx="3839042" cy="789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 i="0" u="none" strike="noStrike" cap="none">
                <a:solidFill>
                  <a:srgbClr val="3A7D4D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For PowerPoint,</a:t>
            </a:r>
            <a:endParaRPr/>
          </a:p>
          <a:p>
            <a:pPr marL="0" marR="0" lvl="1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 i="0" u="none" strike="noStrike" cap="none">
                <a:solidFill>
                  <a:srgbClr val="3A7D4D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Google Slides, and Canva</a:t>
            </a:r>
            <a:endParaRPr/>
          </a:p>
        </p:txBody>
      </p:sp>
      <p:sp>
        <p:nvSpPr>
          <p:cNvPr id="844" name="Google Shape;844;p36"/>
          <p:cNvSpPr txBox="1"/>
          <p:nvPr/>
        </p:nvSpPr>
        <p:spPr>
          <a:xfrm>
            <a:off x="4966948" y="8468995"/>
            <a:ext cx="3839042" cy="789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 i="0" u="none" strike="noStrike" cap="none">
                <a:solidFill>
                  <a:srgbClr val="3A7D4D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100% free for personal</a:t>
            </a:r>
            <a:endParaRPr/>
          </a:p>
          <a:p>
            <a:pPr marL="0" marR="0" lvl="1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 i="0" u="none" strike="noStrike" cap="none">
                <a:solidFill>
                  <a:srgbClr val="3A7D4D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or commercial use</a:t>
            </a:r>
            <a:endParaRPr/>
          </a:p>
        </p:txBody>
      </p:sp>
      <p:sp>
        <p:nvSpPr>
          <p:cNvPr id="845" name="Google Shape;845;p36"/>
          <p:cNvSpPr txBox="1"/>
          <p:nvPr/>
        </p:nvSpPr>
        <p:spPr>
          <a:xfrm>
            <a:off x="9101010" y="8468995"/>
            <a:ext cx="3839042" cy="789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 i="0" u="none" strike="noStrike" cap="none">
                <a:solidFill>
                  <a:srgbClr val="3A7D4D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Ready to use, professional,</a:t>
            </a:r>
            <a:endParaRPr/>
          </a:p>
          <a:p>
            <a:pPr marL="0" marR="0" lvl="1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 i="0" u="none" strike="noStrike" cap="none">
                <a:solidFill>
                  <a:srgbClr val="3A7D4D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and customizable</a:t>
            </a:r>
            <a:endParaRPr/>
          </a:p>
        </p:txBody>
      </p:sp>
      <p:sp>
        <p:nvSpPr>
          <p:cNvPr id="846" name="Google Shape;846;p36"/>
          <p:cNvSpPr txBox="1"/>
          <p:nvPr/>
        </p:nvSpPr>
        <p:spPr>
          <a:xfrm>
            <a:off x="13425827" y="8468995"/>
            <a:ext cx="3839042" cy="789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 i="0" u="none" strike="noStrike" cap="none">
                <a:solidFill>
                  <a:srgbClr val="3A7D4D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Blow your audience away</a:t>
            </a:r>
            <a:endParaRPr/>
          </a:p>
          <a:p>
            <a:pPr marL="0" marR="0" lvl="1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 i="0" u="none" strike="noStrike" cap="none">
                <a:solidFill>
                  <a:srgbClr val="3A7D4D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with attractive visuals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799</TotalTime>
  <Words>2061</Words>
  <Application>Microsoft Office PowerPoint</Application>
  <PresentationFormat>Custom</PresentationFormat>
  <Paragraphs>203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8" baseType="lpstr">
      <vt:lpstr>Arial</vt:lpstr>
      <vt:lpstr>Source Sans Pro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Dinh Hieu</cp:lastModifiedBy>
  <cp:revision>38</cp:revision>
  <dcterms:modified xsi:type="dcterms:W3CDTF">2025-12-04T18:22:39Z</dcterms:modified>
</cp:coreProperties>
</file>